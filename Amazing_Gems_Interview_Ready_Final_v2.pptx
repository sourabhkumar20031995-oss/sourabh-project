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7"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GB"/>
              <a:t>Illustrative profit by gemstone type</a:t>
            </a:r>
          </a:p>
        </c:rich>
      </c:tx>
      <c:overlay val="0"/>
    </c:title>
    <c:autoTitleDeleted val="0"/>
    <c:plotArea>
      <c:layout/>
      <c:barChart>
        <c:barDir val="bar"/>
        <c:grouping val="clustered"/>
        <c:varyColors val="1"/>
        <c:ser>
          <c:idx val="0"/>
          <c:order val="0"/>
          <c:tx>
            <c:strRef>
              <c:f>Sheet1!$B$1</c:f>
              <c:strCache>
                <c:ptCount val="1"/>
                <c:pt idx="0">
                  <c:v>Profit (USD)</c:v>
                </c:pt>
              </c:strCache>
            </c:strRef>
          </c:tx>
          <c:invertIfNegative val="1"/>
          <c:cat>
            <c:strRef>
              <c:f>Sheet1!$A$2:$A$6</c:f>
              <c:strCache>
                <c:ptCount val="5"/>
                <c:pt idx="0">
                  <c:v>Sapphire</c:v>
                </c:pt>
                <c:pt idx="1">
                  <c:v>Ruby</c:v>
                </c:pt>
                <c:pt idx="2">
                  <c:v>Emerald</c:v>
                </c:pt>
                <c:pt idx="3">
                  <c:v>Amethyst</c:v>
                </c:pt>
                <c:pt idx="4">
                  <c:v>Topaz</c:v>
                </c:pt>
              </c:strCache>
            </c:strRef>
          </c:cat>
          <c:val>
            <c:numRef>
              <c:f>Sheet1!$B$2:$B$6</c:f>
              <c:numCache>
                <c:formatCode>General</c:formatCode>
                <c:ptCount val="5"/>
                <c:pt idx="0">
                  <c:v>11200</c:v>
                </c:pt>
                <c:pt idx="1">
                  <c:v>8900</c:v>
                </c:pt>
                <c:pt idx="2">
                  <c:v>7600</c:v>
                </c:pt>
                <c:pt idx="3">
                  <c:v>6100</c:v>
                </c:pt>
                <c:pt idx="4">
                  <c:v>7400</c:v>
                </c:pt>
              </c:numCache>
            </c:numRef>
          </c:val>
          <c:extLst>
            <c:ext xmlns:c16="http://schemas.microsoft.com/office/drawing/2014/chart" uri="{C3380CC4-5D6E-409C-BE32-E72D297353CC}">
              <c16:uniqueId val="{00000000-EE26-447D-8F8F-CF71355B9062}"/>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title>
          <c:tx>
            <c:rich>
              <a:bodyPr/>
              <a:lstStyle/>
              <a:p>
                <a:r>
                  <a:rPr lang="en-IN"/>
                  <a:t>USD</a:t>
                </a:r>
              </a:p>
            </c:rich>
          </c:tx>
          <c:overlay val="0"/>
        </c:title>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a:t>Illustrative revenue by city</a:t>
            </a:r>
          </a:p>
        </c:rich>
      </c:tx>
      <c:overlay val="0"/>
    </c:title>
    <c:autoTitleDeleted val="0"/>
    <c:plotArea>
      <c:layout/>
      <c:barChart>
        <c:barDir val="col"/>
        <c:grouping val="clustered"/>
        <c:varyColors val="1"/>
        <c:ser>
          <c:idx val="0"/>
          <c:order val="0"/>
          <c:tx>
            <c:strRef>
              <c:f>Sheet1!$B$1</c:f>
              <c:strCache>
                <c:ptCount val="1"/>
                <c:pt idx="0">
                  <c:v>Revenue (USD)</c:v>
                </c:pt>
              </c:strCache>
            </c:strRef>
          </c:tx>
          <c:invertIfNegative val="1"/>
          <c:cat>
            <c:strRef>
              <c:f>Sheet1!$A$2:$A$6</c:f>
              <c:strCache>
                <c:ptCount val="5"/>
                <c:pt idx="0">
                  <c:v>London</c:v>
                </c:pt>
                <c:pt idx="1">
                  <c:v>New York</c:v>
                </c:pt>
                <c:pt idx="2">
                  <c:v>Dubai</c:v>
                </c:pt>
                <c:pt idx="3">
                  <c:v>Singapore</c:v>
                </c:pt>
                <c:pt idx="4">
                  <c:v>Sydney</c:v>
                </c:pt>
              </c:strCache>
            </c:strRef>
          </c:cat>
          <c:val>
            <c:numRef>
              <c:f>Sheet1!$B$2:$B$6</c:f>
              <c:numCache>
                <c:formatCode>General</c:formatCode>
                <c:ptCount val="5"/>
                <c:pt idx="0">
                  <c:v>65000</c:v>
                </c:pt>
                <c:pt idx="1">
                  <c:v>58000</c:v>
                </c:pt>
                <c:pt idx="2">
                  <c:v>52000</c:v>
                </c:pt>
                <c:pt idx="3">
                  <c:v>43000</c:v>
                </c:pt>
                <c:pt idx="4">
                  <c:v>30600</c:v>
                </c:pt>
              </c:numCache>
            </c:numRef>
          </c:val>
          <c:extLst>
            <c:ext xmlns:c16="http://schemas.microsoft.com/office/drawing/2014/chart" uri="{C3380CC4-5D6E-409C-BE32-E72D297353CC}">
              <c16:uniqueId val="{00000000-34D6-45BB-AFA4-1C9143106BD8}"/>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title>
          <c:tx>
            <c:rich>
              <a:bodyPr/>
              <a:lstStyle/>
              <a:p>
                <a:r>
                  <a:rPr lang="en-IN"/>
                  <a:t>USD</a:t>
                </a:r>
              </a:p>
            </c:rich>
          </c:tx>
          <c:overlay val="0"/>
        </c:title>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686800" y="548640"/>
            <a:ext cx="2468880" cy="1097280"/>
          </a:xfrm>
          <a:prstGeom prst="roundRect">
            <a:avLst/>
          </a:prstGeom>
          <a:solidFill>
            <a:srgbClr val="28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418320" y="1920240"/>
            <a:ext cx="2011680" cy="1005840"/>
          </a:xfrm>
          <a:prstGeom prst="roundRect">
            <a:avLst/>
          </a:prstGeom>
          <a:solidFill>
            <a:srgbClr val="14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138160" y="3200400"/>
            <a:ext cx="3200400" cy="1097280"/>
          </a:xfrm>
          <a:prstGeom prst="round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144000" y="4663440"/>
            <a:ext cx="2194560" cy="731520"/>
          </a:xfrm>
          <a:prstGeom prst="roundRect">
            <a:avLst/>
          </a:prstGeom>
          <a:solidFill>
            <a:srgbClr val="28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0080"/>
            <a:ext cx="6858000" cy="320040"/>
          </a:xfrm>
          <a:prstGeom prst="rect">
            <a:avLst/>
          </a:prstGeom>
          <a:noFill/>
        </p:spPr>
        <p:txBody>
          <a:bodyPr wrap="square">
            <a:spAutoFit/>
          </a:bodyPr>
          <a:lstStyle/>
          <a:p>
            <a:pPr>
              <a:spcAft>
                <a:spcPts val="300"/>
              </a:spcAft>
              <a:defRPr sz="1300" b="1">
                <a:solidFill>
                  <a:srgbClr val="68DACE"/>
                </a:solidFill>
                <a:latin typeface="Aptos"/>
              </a:defRPr>
            </a:pPr>
            <a:r>
              <a:t>SQL  •  POWER QUERY  •  POWER BI</a:t>
            </a:r>
          </a:p>
        </p:txBody>
      </p:sp>
      <p:sp>
        <p:nvSpPr>
          <p:cNvPr id="8" name="TextBox 7"/>
          <p:cNvSpPr txBox="1"/>
          <p:nvPr/>
        </p:nvSpPr>
        <p:spPr>
          <a:xfrm>
            <a:off x="731520" y="1325880"/>
            <a:ext cx="7498079" cy="1115690"/>
          </a:xfrm>
          <a:prstGeom prst="rect">
            <a:avLst/>
          </a:prstGeom>
          <a:noFill/>
        </p:spPr>
        <p:txBody>
          <a:bodyPr wrap="square">
            <a:spAutoFit/>
          </a:bodyPr>
          <a:lstStyle/>
          <a:p>
            <a:pPr>
              <a:spcAft>
                <a:spcPts val="300"/>
              </a:spcAft>
              <a:defRPr sz="3200" b="1">
                <a:solidFill>
                  <a:srgbClr val="FFFFFF"/>
                </a:solidFill>
                <a:latin typeface="Aptos"/>
              </a:defRPr>
            </a:pPr>
            <a:r>
              <a:rPr lang="en-IN" dirty="0"/>
              <a:t>Amazing Gems- </a:t>
            </a:r>
            <a:r>
              <a:rPr dirty="0"/>
              <a:t>E-Commerce Business</a:t>
            </a:r>
          </a:p>
          <a:p>
            <a:pPr>
              <a:spcAft>
                <a:spcPts val="300"/>
              </a:spcAft>
              <a:defRPr sz="3200" b="1">
                <a:solidFill>
                  <a:srgbClr val="FFFFFF"/>
                </a:solidFill>
                <a:latin typeface="Aptos"/>
              </a:defRPr>
            </a:pPr>
            <a:r>
              <a:rPr dirty="0"/>
              <a:t>Intelligence &amp; Analytics</a:t>
            </a:r>
          </a:p>
        </p:txBody>
      </p:sp>
      <p:sp>
        <p:nvSpPr>
          <p:cNvPr id="9" name="TextBox 8"/>
          <p:cNvSpPr txBox="1"/>
          <p:nvPr/>
        </p:nvSpPr>
        <p:spPr>
          <a:xfrm>
            <a:off x="762000" y="2766060"/>
            <a:ext cx="6858000" cy="3223639"/>
          </a:xfrm>
          <a:prstGeom prst="rect">
            <a:avLst/>
          </a:prstGeom>
          <a:noFill/>
        </p:spPr>
        <p:txBody>
          <a:bodyPr wrap="square">
            <a:spAutoFit/>
          </a:bodyPr>
          <a:lstStyle/>
          <a:p>
            <a:pPr algn="just">
              <a:lnSpc>
                <a:spcPct val="103000"/>
              </a:lnSpc>
              <a:spcAft>
                <a:spcPts val="0"/>
              </a:spcAft>
            </a:pPr>
            <a:r>
              <a:rPr lang="en-GB">
                <a:solidFill>
                  <a:srgbClr val="FFFFFF"/>
                </a:solidFill>
                <a:latin typeface="Aptos"/>
              </a:rPr>
              <a:t>Welcome to our E-commerce Business Intelligence &amp; Performance Analytics project using a synthetic gemstone retail dataset. We’ll explore sales trends, customer behavior, payment preferences, and product profitability using PostgreSQL, Excel Power Query, and Power BI. Through SQL business questions and interactive dashboards, we’ll identify top-performing gemstones, compare revenue across cities, track order patterns, and uncover opportunities to improve inventory planning and marketing decisions. The goal is to turn raw transactional data into clear, practical insights that support smarter decisions across the e-commerce business.</a:t>
            </a:r>
          </a:p>
        </p:txBody>
      </p:sp>
      <p:sp>
        <p:nvSpPr>
          <p:cNvPr id="13" name="TextBox 12"/>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a:spAutoFit/>
          </a:bodyPr>
          <a:lstStyle/>
          <a:p>
            <a:pPr>
              <a:spcAft>
                <a:spcPts val="300"/>
              </a:spcAft>
              <a:defRPr sz="1000" b="1">
                <a:solidFill>
                  <a:srgbClr val="149691"/>
                </a:solidFill>
                <a:latin typeface="Aptos"/>
              </a:defRPr>
            </a:pPr>
            <a:r>
              <a:t>01 / PROJECT BRIEF</a:t>
            </a:r>
          </a:p>
        </p:txBody>
      </p:sp>
      <p:sp>
        <p:nvSpPr>
          <p:cNvPr id="4" name="TextBox 3"/>
          <p:cNvSpPr txBox="1"/>
          <p:nvPr/>
        </p:nvSpPr>
        <p:spPr>
          <a:xfrm>
            <a:off x="502920" y="566928"/>
            <a:ext cx="11155680" cy="502920"/>
          </a:xfrm>
          <a:prstGeom prst="rect">
            <a:avLst/>
          </a:prstGeom>
          <a:noFill/>
        </p:spPr>
        <p:txBody>
          <a:bodyPr wrap="square">
            <a:spAutoFit/>
          </a:bodyPr>
          <a:lstStyle/>
          <a:p>
            <a:pPr>
              <a:spcAft>
                <a:spcPts val="300"/>
              </a:spcAft>
              <a:defRPr sz="2700" b="1">
                <a:solidFill>
                  <a:srgbClr val="121F37"/>
                </a:solidFill>
                <a:latin typeface="Aptos"/>
              </a:defRPr>
            </a:pPr>
            <a:r>
              <a:t>Project overview</a:t>
            </a:r>
          </a:p>
        </p:txBody>
      </p:sp>
      <p:sp>
        <p:nvSpPr>
          <p:cNvPr id="5" name="TextBox 4"/>
          <p:cNvSpPr txBox="1"/>
          <p:nvPr/>
        </p:nvSpPr>
        <p:spPr>
          <a:xfrm>
            <a:off x="530352" y="1078992"/>
            <a:ext cx="10972800" cy="384048"/>
          </a:xfrm>
          <a:prstGeom prst="rect">
            <a:avLst/>
          </a:prstGeom>
          <a:noFill/>
        </p:spPr>
        <p:txBody>
          <a:bodyPr wrap="square">
            <a:spAutoFit/>
          </a:bodyPr>
          <a:lstStyle/>
          <a:p>
            <a:pPr>
              <a:spcAft>
                <a:spcPts val="300"/>
              </a:spcAft>
              <a:defRPr sz="1100" b="0">
                <a:solidFill>
                  <a:srgbClr val="647080"/>
                </a:solidFill>
                <a:latin typeface="Aptos"/>
              </a:defRPr>
            </a:pPr>
            <a:r>
              <a:t>End-to-end analysis based on the structure and 20 business questions documented in the supplied Word file.</a:t>
            </a:r>
          </a:p>
        </p:txBody>
      </p:sp>
      <p:sp>
        <p:nvSpPr>
          <p:cNvPr id="6" name="Rectangle 5"/>
          <p:cNvSpPr/>
          <p:nvPr/>
        </p:nvSpPr>
        <p:spPr>
          <a:xfrm>
            <a:off x="502920" y="1499616"/>
            <a:ext cx="11155680" cy="2286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1828800"/>
            <a:ext cx="3520440" cy="150876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94360" y="1828800"/>
            <a:ext cx="64008" cy="1508760"/>
          </a:xfrm>
          <a:prstGeom prst="rect">
            <a:avLst/>
          </a:prstGeom>
          <a:solidFill>
            <a:srgbClr val="28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965960"/>
            <a:ext cx="3200400" cy="274320"/>
          </a:xfrm>
          <a:prstGeom prst="rect">
            <a:avLst/>
          </a:prstGeom>
          <a:noFill/>
        </p:spPr>
        <p:txBody>
          <a:bodyPr wrap="square">
            <a:spAutoFit/>
          </a:bodyPr>
          <a:lstStyle/>
          <a:p>
            <a:pPr>
              <a:spcAft>
                <a:spcPts val="300"/>
              </a:spcAft>
              <a:defRPr sz="1300" b="1">
                <a:solidFill>
                  <a:srgbClr val="121F37"/>
                </a:solidFill>
                <a:latin typeface="Aptos"/>
              </a:defRPr>
            </a:pPr>
            <a:r>
              <a:t>BUSINESS GOAL</a:t>
            </a:r>
          </a:p>
        </p:txBody>
      </p:sp>
      <p:sp>
        <p:nvSpPr>
          <p:cNvPr id="10" name="TextBox 9"/>
          <p:cNvSpPr txBox="1"/>
          <p:nvPr/>
        </p:nvSpPr>
        <p:spPr>
          <a:xfrm>
            <a:off x="777240" y="2331720"/>
            <a:ext cx="3154680" cy="914399"/>
          </a:xfrm>
          <a:prstGeom prst="rect">
            <a:avLst/>
          </a:prstGeom>
          <a:noFill/>
        </p:spPr>
        <p:txBody>
          <a:bodyPr wrap="square">
            <a:spAutoFit/>
          </a:bodyPr>
          <a:lstStyle/>
          <a:p>
            <a:pPr>
              <a:spcAft>
                <a:spcPts val="300"/>
              </a:spcAft>
              <a:defRPr sz="1300" b="0">
                <a:solidFill>
                  <a:srgbClr val="232D3C"/>
                </a:solidFill>
                <a:latin typeface="Aptos"/>
              </a:defRPr>
            </a:pPr>
            <a:r>
              <a:rPr dirty="0"/>
              <a:t>Understand revenue, customer purchasing, payment mix, quantity, and profit patterns in an online gemstone store.</a:t>
            </a:r>
          </a:p>
        </p:txBody>
      </p:sp>
      <p:sp>
        <p:nvSpPr>
          <p:cNvPr id="11" name="Rounded Rectangle 10"/>
          <p:cNvSpPr/>
          <p:nvPr/>
        </p:nvSpPr>
        <p:spPr>
          <a:xfrm>
            <a:off x="4343400" y="1828800"/>
            <a:ext cx="3520440" cy="150876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43400" y="1828800"/>
            <a:ext cx="64008" cy="1508760"/>
          </a:xfrm>
          <a:prstGeom prst="rect">
            <a:avLst/>
          </a:prstGeom>
          <a:solidFill>
            <a:srgbClr val="14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26280" y="1965960"/>
            <a:ext cx="3200400" cy="274320"/>
          </a:xfrm>
          <a:prstGeom prst="rect">
            <a:avLst/>
          </a:prstGeom>
          <a:noFill/>
        </p:spPr>
        <p:txBody>
          <a:bodyPr wrap="square">
            <a:spAutoFit/>
          </a:bodyPr>
          <a:lstStyle/>
          <a:p>
            <a:pPr>
              <a:spcAft>
                <a:spcPts val="300"/>
              </a:spcAft>
              <a:defRPr sz="1300" b="1">
                <a:solidFill>
                  <a:srgbClr val="121F37"/>
                </a:solidFill>
                <a:latin typeface="Aptos"/>
              </a:defRPr>
            </a:pPr>
            <a:r>
              <a:t>TOOLS</a:t>
            </a:r>
          </a:p>
        </p:txBody>
      </p:sp>
      <p:sp>
        <p:nvSpPr>
          <p:cNvPr id="14" name="TextBox 13"/>
          <p:cNvSpPr txBox="1"/>
          <p:nvPr/>
        </p:nvSpPr>
        <p:spPr>
          <a:xfrm>
            <a:off x="4526280" y="2331720"/>
            <a:ext cx="3154680" cy="914399"/>
          </a:xfrm>
          <a:prstGeom prst="rect">
            <a:avLst/>
          </a:prstGeom>
          <a:noFill/>
        </p:spPr>
        <p:txBody>
          <a:bodyPr wrap="square">
            <a:spAutoFit/>
          </a:bodyPr>
          <a:lstStyle/>
          <a:p>
            <a:pPr>
              <a:spcAft>
                <a:spcPts val="300"/>
              </a:spcAft>
              <a:defRPr sz="1300" b="0">
                <a:solidFill>
                  <a:srgbClr val="232D3C"/>
                </a:solidFill>
                <a:latin typeface="Aptos"/>
              </a:defRPr>
            </a:pPr>
            <a:r>
              <a:rPr dirty="0"/>
              <a:t>PostgreSQL for querying; Power Query for shaping data; Power BI for interactive reporting.</a:t>
            </a:r>
          </a:p>
        </p:txBody>
      </p:sp>
      <p:sp>
        <p:nvSpPr>
          <p:cNvPr id="22" name="TextBox 21"/>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02</a:t>
            </a:r>
          </a:p>
        </p:txBody>
      </p:sp>
      <p:sp>
        <p:nvSpPr>
          <p:cNvPr id="21" name="TextBox 20">
            <a:extLst>
              <a:ext uri="{FF2B5EF4-FFF2-40B4-BE49-F238E27FC236}">
                <a16:creationId xmlns:a16="http://schemas.microsoft.com/office/drawing/2014/main" id="{6475D67F-67DD-0A5A-E40B-2D869CB0B3FC}"/>
              </a:ext>
            </a:extLst>
          </p:cNvPr>
          <p:cNvSpPr txBox="1"/>
          <p:nvPr/>
        </p:nvSpPr>
        <p:spPr>
          <a:xfrm>
            <a:off x="594360" y="3673381"/>
            <a:ext cx="8970952" cy="1754326"/>
          </a:xfrm>
          <a:prstGeom prst="rect">
            <a:avLst/>
          </a:prstGeom>
          <a:noFill/>
        </p:spPr>
        <p:txBody>
          <a:bodyPr wrap="square" rtlCol="0">
            <a:spAutoFit/>
          </a:bodyPr>
          <a:lstStyle/>
          <a:p>
            <a:r>
              <a:rPr lang="en-IN" b="1" dirty="0"/>
              <a:t>DATA CONFIDENTIALITY NOTE</a:t>
            </a:r>
            <a:endParaRPr lang="en-IN" dirty="0"/>
          </a:p>
          <a:p>
            <a:r>
              <a:rPr lang="en-IN" dirty="0"/>
              <a:t>To protect the company’s confidential information and prevent potential data security breaches, the original company data has been replaced with randomly generated, illustrative data. All figures, records, and query results are for demonstration and portfolio purposes only and do not represent the company’s actual business performance.</a:t>
            </a: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a:spAutoFit/>
          </a:bodyPr>
          <a:lstStyle/>
          <a:p>
            <a:pPr>
              <a:spcAft>
                <a:spcPts val="300"/>
              </a:spcAft>
              <a:defRPr sz="1000" b="1">
                <a:solidFill>
                  <a:srgbClr val="149691"/>
                </a:solidFill>
                <a:latin typeface="Aptos"/>
              </a:defRPr>
            </a:pPr>
            <a:r>
              <a:t>02 / DATA MODEL</a:t>
            </a:r>
          </a:p>
        </p:txBody>
      </p:sp>
      <p:sp>
        <p:nvSpPr>
          <p:cNvPr id="4" name="TextBox 3"/>
          <p:cNvSpPr txBox="1"/>
          <p:nvPr/>
        </p:nvSpPr>
        <p:spPr>
          <a:xfrm>
            <a:off x="502920" y="566928"/>
            <a:ext cx="11155680" cy="502920"/>
          </a:xfrm>
          <a:prstGeom prst="rect">
            <a:avLst/>
          </a:prstGeom>
          <a:noFill/>
        </p:spPr>
        <p:txBody>
          <a:bodyPr wrap="square">
            <a:spAutoFit/>
          </a:bodyPr>
          <a:lstStyle/>
          <a:p>
            <a:pPr>
              <a:spcAft>
                <a:spcPts val="300"/>
              </a:spcAft>
              <a:defRPr sz="2700" b="1">
                <a:solidFill>
                  <a:srgbClr val="121F37"/>
                </a:solidFill>
                <a:latin typeface="Aptos"/>
              </a:defRPr>
            </a:pPr>
            <a:r>
              <a:t>Data model &amp; field dictionary</a:t>
            </a:r>
          </a:p>
        </p:txBody>
      </p:sp>
      <p:sp>
        <p:nvSpPr>
          <p:cNvPr id="5" name="TextBox 4"/>
          <p:cNvSpPr txBox="1"/>
          <p:nvPr/>
        </p:nvSpPr>
        <p:spPr>
          <a:xfrm>
            <a:off x="530352" y="1078992"/>
            <a:ext cx="10972800" cy="384048"/>
          </a:xfrm>
          <a:prstGeom prst="rect">
            <a:avLst/>
          </a:prstGeom>
          <a:noFill/>
        </p:spPr>
        <p:txBody>
          <a:bodyPr wrap="square">
            <a:spAutoFit/>
          </a:bodyPr>
          <a:lstStyle/>
          <a:p>
            <a:pPr>
              <a:spcAft>
                <a:spcPts val="300"/>
              </a:spcAft>
              <a:defRPr sz="1100" b="0">
                <a:solidFill>
                  <a:srgbClr val="647080"/>
                </a:solidFill>
                <a:latin typeface="Aptos"/>
              </a:defRPr>
            </a:pPr>
            <a:r>
              <a:t>Reconstructed from the Orders and Details table descriptions in the source document.</a:t>
            </a:r>
          </a:p>
        </p:txBody>
      </p:sp>
      <p:sp>
        <p:nvSpPr>
          <p:cNvPr id="6" name="Rectangle 5"/>
          <p:cNvSpPr/>
          <p:nvPr/>
        </p:nvSpPr>
        <p:spPr>
          <a:xfrm>
            <a:off x="502920" y="1499616"/>
            <a:ext cx="11155680" cy="2286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1828800"/>
            <a:ext cx="5303520" cy="329184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828800"/>
            <a:ext cx="64008" cy="3291840"/>
          </a:xfrm>
          <a:prstGeom prst="rect">
            <a:avLst/>
          </a:prstGeom>
          <a:solidFill>
            <a:srgbClr val="28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59" y="1965960"/>
            <a:ext cx="4983480" cy="274320"/>
          </a:xfrm>
          <a:prstGeom prst="rect">
            <a:avLst/>
          </a:prstGeom>
          <a:noFill/>
        </p:spPr>
        <p:txBody>
          <a:bodyPr wrap="square">
            <a:spAutoFit/>
          </a:bodyPr>
          <a:lstStyle/>
          <a:p>
            <a:pPr>
              <a:spcAft>
                <a:spcPts val="300"/>
              </a:spcAft>
              <a:defRPr sz="1300" b="1">
                <a:solidFill>
                  <a:srgbClr val="121F37"/>
                </a:solidFill>
                <a:latin typeface="Aptos"/>
              </a:defRPr>
            </a:pPr>
            <a:r>
              <a:t>ORDERS TABLE</a:t>
            </a:r>
          </a:p>
        </p:txBody>
      </p:sp>
      <p:sp>
        <p:nvSpPr>
          <p:cNvPr id="10" name="TextBox 9"/>
          <p:cNvSpPr txBox="1"/>
          <p:nvPr/>
        </p:nvSpPr>
        <p:spPr>
          <a:xfrm>
            <a:off x="822959" y="2331720"/>
            <a:ext cx="4937759" cy="3354765"/>
          </a:xfrm>
          <a:prstGeom prst="rect">
            <a:avLst/>
          </a:prstGeom>
          <a:noFill/>
        </p:spPr>
        <p:txBody>
          <a:bodyPr wrap="square">
            <a:spAutoFit/>
          </a:bodyPr>
          <a:lstStyle/>
          <a:p>
            <a:pPr>
              <a:spcAft>
                <a:spcPts val="300"/>
              </a:spcAft>
              <a:defRPr sz="1400" b="0">
                <a:solidFill>
                  <a:srgbClr val="232D3C"/>
                </a:solidFill>
                <a:latin typeface="Aptos"/>
              </a:defRPr>
            </a:pPr>
            <a:r>
              <a:rPr dirty="0" err="1"/>
              <a:t>order_id</a:t>
            </a:r>
            <a:r>
              <a:rPr dirty="0"/>
              <a:t> — unique order key
</a:t>
            </a:r>
            <a:r>
              <a:rPr dirty="0" err="1"/>
              <a:t>order_date</a:t>
            </a:r>
            <a:r>
              <a:rPr dirty="0"/>
              <a:t> — order date
</a:t>
            </a:r>
            <a:r>
              <a:rPr dirty="0" err="1"/>
              <a:t>customer_id</a:t>
            </a:r>
            <a:r>
              <a:rPr dirty="0"/>
              <a:t> — replaced by anonymous IDs
state — replaced with fictional/international region labels
city </a:t>
            </a:r>
            <a:r>
              <a:rPr lang="en-IN" dirty="0"/>
              <a:t>– cities </a:t>
            </a:r>
            <a:r>
              <a:rPr dirty="0"/>
              <a:t>
Join key: </a:t>
            </a:r>
            <a:r>
              <a:rPr dirty="0" err="1"/>
              <a:t>orders.order_id</a:t>
            </a:r>
            <a:endParaRPr dirty="0"/>
          </a:p>
          <a:p>
            <a:pPr>
              <a:spcAft>
                <a:spcPts val="300"/>
              </a:spcAft>
              <a:defRPr sz="1400" b="0">
                <a:solidFill>
                  <a:srgbClr val="232D3C"/>
                </a:solidFill>
                <a:latin typeface="Aptos"/>
              </a:defRPr>
            </a:pPr>
            <a:endParaRPr dirty="0"/>
          </a:p>
          <a:p>
            <a:pPr>
              <a:spcAft>
                <a:spcPts val="300"/>
              </a:spcAft>
              <a:defRPr sz="1400" b="0">
                <a:solidFill>
                  <a:srgbClr val="232D3C"/>
                </a:solidFill>
                <a:latin typeface="Aptos"/>
              </a:defRPr>
            </a:pPr>
            <a:endParaRPr dirty="0"/>
          </a:p>
          <a:p>
            <a:pPr>
              <a:spcAft>
                <a:spcPts val="300"/>
              </a:spcAft>
              <a:defRPr sz="1400" b="0">
                <a:solidFill>
                  <a:srgbClr val="232D3C"/>
                </a:solidFill>
                <a:latin typeface="Aptos"/>
              </a:defRPr>
            </a:pPr>
            <a:endParaRPr dirty="0"/>
          </a:p>
          <a:p>
            <a:pPr>
              <a:spcAft>
                <a:spcPts val="300"/>
              </a:spcAft>
              <a:defRPr sz="1400" b="0">
                <a:solidFill>
                  <a:srgbClr val="232D3C"/>
                </a:solidFill>
                <a:latin typeface="Aptos"/>
              </a:defRPr>
            </a:pPr>
            <a:endParaRPr dirty="0"/>
          </a:p>
          <a:p>
            <a:pPr>
              <a:spcAft>
                <a:spcPts val="300"/>
              </a:spcAft>
              <a:defRPr sz="1400" b="0">
                <a:solidFill>
                  <a:srgbClr val="232D3C"/>
                </a:solidFill>
                <a:latin typeface="Aptos"/>
              </a:defRPr>
            </a:pPr>
            <a:endParaRPr dirty="0"/>
          </a:p>
          <a:p>
            <a:pPr>
              <a:spcAft>
                <a:spcPts val="300"/>
              </a:spcAft>
              <a:defRPr sz="1400" b="0">
                <a:solidFill>
                  <a:srgbClr val="232D3C"/>
                </a:solidFill>
                <a:latin typeface="Aptos"/>
              </a:defRPr>
            </a:pPr>
            <a:endParaRPr dirty="0"/>
          </a:p>
        </p:txBody>
      </p:sp>
      <p:sp>
        <p:nvSpPr>
          <p:cNvPr id="11" name="Rounded Rectangle 10"/>
          <p:cNvSpPr/>
          <p:nvPr/>
        </p:nvSpPr>
        <p:spPr>
          <a:xfrm>
            <a:off x="6217920" y="1828800"/>
            <a:ext cx="5303520" cy="329184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17920" y="1828800"/>
            <a:ext cx="64008" cy="3291840"/>
          </a:xfrm>
          <a:prstGeom prst="rect">
            <a:avLst/>
          </a:prstGeom>
          <a:solidFill>
            <a:srgbClr val="14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1965960"/>
            <a:ext cx="4983480" cy="274320"/>
          </a:xfrm>
          <a:prstGeom prst="rect">
            <a:avLst/>
          </a:prstGeom>
          <a:noFill/>
        </p:spPr>
        <p:txBody>
          <a:bodyPr wrap="square">
            <a:spAutoFit/>
          </a:bodyPr>
          <a:lstStyle/>
          <a:p>
            <a:pPr>
              <a:spcAft>
                <a:spcPts val="300"/>
              </a:spcAft>
              <a:defRPr sz="1300" b="1">
                <a:solidFill>
                  <a:srgbClr val="121F37"/>
                </a:solidFill>
                <a:latin typeface="Aptos"/>
              </a:defRPr>
            </a:pPr>
            <a:r>
              <a:t>DETAILS TABLE</a:t>
            </a:r>
          </a:p>
        </p:txBody>
      </p:sp>
      <p:sp>
        <p:nvSpPr>
          <p:cNvPr id="14" name="TextBox 13"/>
          <p:cNvSpPr txBox="1"/>
          <p:nvPr/>
        </p:nvSpPr>
        <p:spPr>
          <a:xfrm>
            <a:off x="6400800" y="2331720"/>
            <a:ext cx="4937759" cy="2697480"/>
          </a:xfrm>
          <a:prstGeom prst="rect">
            <a:avLst/>
          </a:prstGeom>
          <a:noFill/>
        </p:spPr>
        <p:txBody>
          <a:bodyPr wrap="square">
            <a:spAutoFit/>
          </a:bodyPr>
          <a:lstStyle/>
          <a:p>
            <a:pPr>
              <a:spcAft>
                <a:spcPts val="300"/>
              </a:spcAft>
              <a:defRPr sz="1400" b="0">
                <a:solidFill>
                  <a:srgbClr val="232D3C"/>
                </a:solidFill>
                <a:latin typeface="Aptos"/>
              </a:defRPr>
            </a:pPr>
            <a:r>
              <a:t>order_id — order reference</a:t>
            </a:r>
          </a:p>
          <a:p>
            <a:pPr>
              <a:spcAft>
                <a:spcPts val="300"/>
              </a:spcAft>
              <a:defRPr sz="1400" b="0">
                <a:solidFill>
                  <a:srgbClr val="232D3C"/>
                </a:solidFill>
                <a:latin typeface="Aptos"/>
              </a:defRPr>
            </a:pPr>
            <a:r>
              <a:t>amount — sales amount, displayed as USD</a:t>
            </a:r>
          </a:p>
          <a:p>
            <a:pPr>
              <a:spcAft>
                <a:spcPts val="300"/>
              </a:spcAft>
              <a:defRPr sz="1400" b="0">
                <a:solidFill>
                  <a:srgbClr val="232D3C"/>
                </a:solidFill>
                <a:latin typeface="Aptos"/>
              </a:defRPr>
            </a:pPr>
            <a:r>
              <a:t>profit — profit amount, displayed as USD</a:t>
            </a:r>
          </a:p>
          <a:p>
            <a:pPr>
              <a:spcAft>
                <a:spcPts val="300"/>
              </a:spcAft>
              <a:defRPr sz="1400" b="0">
                <a:solidFill>
                  <a:srgbClr val="232D3C"/>
                </a:solidFill>
                <a:latin typeface="Aptos"/>
              </a:defRPr>
            </a:pPr>
            <a:r>
              <a:t>quantity — item quantity</a:t>
            </a:r>
          </a:p>
          <a:p>
            <a:pPr>
              <a:spcAft>
                <a:spcPts val="300"/>
              </a:spcAft>
              <a:defRPr sz="1400" b="0">
                <a:solidFill>
                  <a:srgbClr val="232D3C"/>
                </a:solidFill>
                <a:latin typeface="Aptos"/>
              </a:defRPr>
            </a:pPr>
            <a:r>
              <a:t>category — Gemstone</a:t>
            </a:r>
          </a:p>
          <a:p>
            <a:pPr>
              <a:spcAft>
                <a:spcPts val="300"/>
              </a:spcAft>
              <a:defRPr sz="1400" b="0">
                <a:solidFill>
                  <a:srgbClr val="232D3C"/>
                </a:solidFill>
                <a:latin typeface="Aptos"/>
              </a:defRPr>
            </a:pPr>
            <a:r>
              <a:t>sub_category — Sapphire, Ruby, Emerald, Amethyst, Topaz</a:t>
            </a:r>
          </a:p>
          <a:p>
            <a:pPr>
              <a:spcAft>
                <a:spcPts val="300"/>
              </a:spcAft>
              <a:defRPr sz="1400" b="0">
                <a:solidFill>
                  <a:srgbClr val="232D3C"/>
                </a:solidFill>
                <a:latin typeface="Aptos"/>
              </a:defRPr>
            </a:pPr>
            <a:r>
              <a:t>paymentmode — standardized payment method</a:t>
            </a:r>
          </a:p>
        </p:txBody>
      </p:sp>
      <p:sp>
        <p:nvSpPr>
          <p:cNvPr id="15" name="TextBox 14"/>
          <p:cNvSpPr txBox="1"/>
          <p:nvPr/>
        </p:nvSpPr>
        <p:spPr>
          <a:xfrm>
            <a:off x="731520" y="5486400"/>
            <a:ext cx="10698480" cy="502920"/>
          </a:xfrm>
          <a:prstGeom prst="rect">
            <a:avLst/>
          </a:prstGeom>
          <a:noFill/>
        </p:spPr>
        <p:txBody>
          <a:bodyPr wrap="square">
            <a:spAutoFit/>
          </a:bodyPr>
          <a:lstStyle/>
          <a:p>
            <a:pPr>
              <a:spcAft>
                <a:spcPts val="300"/>
              </a:spcAft>
              <a:defRPr sz="1200" b="0">
                <a:solidFill>
                  <a:srgbClr val="647080"/>
                </a:solidFill>
                <a:latin typeface="Aptos"/>
              </a:defRPr>
            </a:pPr>
            <a:r>
              <a:rPr dirty="0"/>
              <a:t>Relationship: Orders (one/order header) → Details (order line / detail records), joined on </a:t>
            </a:r>
            <a:r>
              <a:rPr dirty="0" err="1"/>
              <a:t>order_id</a:t>
            </a:r>
            <a:r>
              <a:rPr dirty="0"/>
              <a:t>. Validate cardinality against your actual model.</a:t>
            </a:r>
          </a:p>
        </p:txBody>
      </p:sp>
      <p:sp>
        <p:nvSpPr>
          <p:cNvPr id="17" name="TextBox 16"/>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a:spAutoFit/>
          </a:bodyPr>
          <a:lstStyle/>
          <a:p>
            <a:pPr>
              <a:spcAft>
                <a:spcPts val="300"/>
              </a:spcAft>
              <a:defRPr sz="1000" b="1">
                <a:solidFill>
                  <a:srgbClr val="149691"/>
                </a:solidFill>
                <a:latin typeface="Aptos"/>
              </a:defRPr>
            </a:pPr>
            <a:r>
              <a:t>03 / WORKFLOW</a:t>
            </a:r>
          </a:p>
        </p:txBody>
      </p:sp>
      <p:sp>
        <p:nvSpPr>
          <p:cNvPr id="4" name="TextBox 3"/>
          <p:cNvSpPr txBox="1"/>
          <p:nvPr/>
        </p:nvSpPr>
        <p:spPr>
          <a:xfrm>
            <a:off x="502920" y="566928"/>
            <a:ext cx="11155680" cy="502920"/>
          </a:xfrm>
          <a:prstGeom prst="rect">
            <a:avLst/>
          </a:prstGeom>
          <a:noFill/>
        </p:spPr>
        <p:txBody>
          <a:bodyPr wrap="square">
            <a:spAutoFit/>
          </a:bodyPr>
          <a:lstStyle/>
          <a:p>
            <a:pPr>
              <a:spcAft>
                <a:spcPts val="300"/>
              </a:spcAft>
              <a:defRPr sz="2700" b="1">
                <a:solidFill>
                  <a:srgbClr val="121F37"/>
                </a:solidFill>
                <a:latin typeface="Aptos"/>
              </a:defRPr>
            </a:pPr>
            <a:r>
              <a:t>Analysis workflow</a:t>
            </a:r>
          </a:p>
        </p:txBody>
      </p:sp>
      <p:sp>
        <p:nvSpPr>
          <p:cNvPr id="5" name="TextBox 4"/>
          <p:cNvSpPr txBox="1"/>
          <p:nvPr/>
        </p:nvSpPr>
        <p:spPr>
          <a:xfrm>
            <a:off x="530352" y="1078992"/>
            <a:ext cx="10972800" cy="384048"/>
          </a:xfrm>
          <a:prstGeom prst="rect">
            <a:avLst/>
          </a:prstGeom>
          <a:noFill/>
        </p:spPr>
        <p:txBody>
          <a:bodyPr wrap="square">
            <a:spAutoFit/>
          </a:bodyPr>
          <a:lstStyle/>
          <a:p>
            <a:pPr>
              <a:spcAft>
                <a:spcPts val="300"/>
              </a:spcAft>
              <a:defRPr sz="1100" b="0">
                <a:solidFill>
                  <a:srgbClr val="647080"/>
                </a:solidFill>
                <a:latin typeface="Aptos"/>
              </a:defRPr>
            </a:pPr>
            <a:r>
              <a:t>A reproducible sequence from raw records to decision-ready reporting.</a:t>
            </a:r>
          </a:p>
        </p:txBody>
      </p:sp>
      <p:sp>
        <p:nvSpPr>
          <p:cNvPr id="6" name="Rectangle 5"/>
          <p:cNvSpPr/>
          <p:nvPr/>
        </p:nvSpPr>
        <p:spPr>
          <a:xfrm>
            <a:off x="502920" y="1499616"/>
            <a:ext cx="11155680" cy="2286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2148840"/>
            <a:ext cx="2121408" cy="242316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94360" y="2148840"/>
            <a:ext cx="64008" cy="2423160"/>
          </a:xfrm>
          <a:prstGeom prst="rect">
            <a:avLst/>
          </a:prstGeom>
          <a:solidFill>
            <a:srgbClr val="28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286000"/>
            <a:ext cx="1801367" cy="274320"/>
          </a:xfrm>
          <a:prstGeom prst="rect">
            <a:avLst/>
          </a:prstGeom>
          <a:noFill/>
        </p:spPr>
        <p:txBody>
          <a:bodyPr wrap="square">
            <a:spAutoFit/>
          </a:bodyPr>
          <a:lstStyle/>
          <a:p>
            <a:pPr>
              <a:spcAft>
                <a:spcPts val="300"/>
              </a:spcAft>
              <a:defRPr sz="1300" b="1">
                <a:solidFill>
                  <a:srgbClr val="121F37"/>
                </a:solidFill>
                <a:latin typeface="Aptos"/>
              </a:defRPr>
            </a:pPr>
            <a:r>
              <a:t>01  Inspect</a:t>
            </a:r>
          </a:p>
        </p:txBody>
      </p:sp>
      <p:sp>
        <p:nvSpPr>
          <p:cNvPr id="10" name="TextBox 9"/>
          <p:cNvSpPr txBox="1"/>
          <p:nvPr/>
        </p:nvSpPr>
        <p:spPr>
          <a:xfrm>
            <a:off x="777240" y="2651760"/>
            <a:ext cx="1755648" cy="1828800"/>
          </a:xfrm>
          <a:prstGeom prst="rect">
            <a:avLst/>
          </a:prstGeom>
          <a:noFill/>
        </p:spPr>
        <p:txBody>
          <a:bodyPr wrap="square">
            <a:spAutoFit/>
          </a:bodyPr>
          <a:lstStyle/>
          <a:p>
            <a:pPr>
              <a:spcAft>
                <a:spcPts val="300"/>
              </a:spcAft>
              <a:defRPr sz="1200" b="0">
                <a:solidFill>
                  <a:srgbClr val="232D3C"/>
                </a:solidFill>
                <a:latin typeface="Aptos"/>
              </a:defRPr>
            </a:pPr>
            <a:r>
              <a:t>Review table grain, keys, data types, nulls, duplicate IDs and business definitions.</a:t>
            </a:r>
          </a:p>
        </p:txBody>
      </p:sp>
      <p:sp>
        <p:nvSpPr>
          <p:cNvPr id="11" name="Rounded Rectangle 10"/>
          <p:cNvSpPr/>
          <p:nvPr/>
        </p:nvSpPr>
        <p:spPr>
          <a:xfrm>
            <a:off x="2907791" y="2148840"/>
            <a:ext cx="2121408" cy="242316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907791" y="2148840"/>
            <a:ext cx="64008" cy="2423160"/>
          </a:xfrm>
          <a:prstGeom prst="rect">
            <a:avLst/>
          </a:prstGeom>
          <a:solidFill>
            <a:srgbClr val="14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090672" y="2286000"/>
            <a:ext cx="1801367" cy="274320"/>
          </a:xfrm>
          <a:prstGeom prst="rect">
            <a:avLst/>
          </a:prstGeom>
          <a:noFill/>
        </p:spPr>
        <p:txBody>
          <a:bodyPr wrap="square">
            <a:spAutoFit/>
          </a:bodyPr>
          <a:lstStyle/>
          <a:p>
            <a:pPr>
              <a:spcAft>
                <a:spcPts val="300"/>
              </a:spcAft>
              <a:defRPr sz="1300" b="1">
                <a:solidFill>
                  <a:srgbClr val="121F37"/>
                </a:solidFill>
                <a:latin typeface="Aptos"/>
              </a:defRPr>
            </a:pPr>
            <a:r>
              <a:t>02  Query</a:t>
            </a:r>
          </a:p>
        </p:txBody>
      </p:sp>
      <p:sp>
        <p:nvSpPr>
          <p:cNvPr id="14" name="TextBox 13"/>
          <p:cNvSpPr txBox="1"/>
          <p:nvPr/>
        </p:nvSpPr>
        <p:spPr>
          <a:xfrm>
            <a:off x="3090672" y="2651760"/>
            <a:ext cx="1755648" cy="1828800"/>
          </a:xfrm>
          <a:prstGeom prst="rect">
            <a:avLst/>
          </a:prstGeom>
          <a:noFill/>
        </p:spPr>
        <p:txBody>
          <a:bodyPr wrap="square">
            <a:spAutoFit/>
          </a:bodyPr>
          <a:lstStyle/>
          <a:p>
            <a:pPr>
              <a:spcAft>
                <a:spcPts val="300"/>
              </a:spcAft>
              <a:defRPr sz="1200" b="0">
                <a:solidFill>
                  <a:srgbClr val="232D3C"/>
                </a:solidFill>
                <a:latin typeface="Aptos"/>
              </a:defRPr>
            </a:pPr>
            <a:r>
              <a:t>Use joins, aggregates, subqueries, CTEs, CASE logic and window functions in PostgreSQL.</a:t>
            </a:r>
          </a:p>
        </p:txBody>
      </p:sp>
      <p:sp>
        <p:nvSpPr>
          <p:cNvPr id="15" name="Rounded Rectangle 14"/>
          <p:cNvSpPr/>
          <p:nvPr/>
        </p:nvSpPr>
        <p:spPr>
          <a:xfrm>
            <a:off x="5221224" y="2148840"/>
            <a:ext cx="2121408" cy="242316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221224" y="2148840"/>
            <a:ext cx="64008" cy="242316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04104" y="2286000"/>
            <a:ext cx="1801367" cy="274320"/>
          </a:xfrm>
          <a:prstGeom prst="rect">
            <a:avLst/>
          </a:prstGeom>
          <a:noFill/>
        </p:spPr>
        <p:txBody>
          <a:bodyPr wrap="square">
            <a:spAutoFit/>
          </a:bodyPr>
          <a:lstStyle/>
          <a:p>
            <a:pPr>
              <a:spcAft>
                <a:spcPts val="300"/>
              </a:spcAft>
              <a:defRPr sz="1300" b="1">
                <a:solidFill>
                  <a:srgbClr val="121F37"/>
                </a:solidFill>
                <a:latin typeface="Aptos"/>
              </a:defRPr>
            </a:pPr>
            <a:r>
              <a:t>03  Prepare</a:t>
            </a:r>
          </a:p>
        </p:txBody>
      </p:sp>
      <p:sp>
        <p:nvSpPr>
          <p:cNvPr id="18" name="TextBox 17"/>
          <p:cNvSpPr txBox="1"/>
          <p:nvPr/>
        </p:nvSpPr>
        <p:spPr>
          <a:xfrm>
            <a:off x="5404104" y="2651760"/>
            <a:ext cx="1755648" cy="1828800"/>
          </a:xfrm>
          <a:prstGeom prst="rect">
            <a:avLst/>
          </a:prstGeom>
          <a:noFill/>
        </p:spPr>
        <p:txBody>
          <a:bodyPr wrap="square">
            <a:spAutoFit/>
          </a:bodyPr>
          <a:lstStyle/>
          <a:p>
            <a:pPr>
              <a:spcAft>
                <a:spcPts val="300"/>
              </a:spcAft>
              <a:defRPr sz="1200" b="0">
                <a:solidFill>
                  <a:srgbClr val="232D3C"/>
                </a:solidFill>
                <a:latin typeface="Aptos"/>
              </a:defRPr>
            </a:pPr>
            <a:r>
              <a:t>Clean types, standardize location/payment labels, remove identifiers, and validate amounts in Power Query.</a:t>
            </a:r>
          </a:p>
        </p:txBody>
      </p:sp>
      <p:sp>
        <p:nvSpPr>
          <p:cNvPr id="19" name="Rounded Rectangle 18"/>
          <p:cNvSpPr/>
          <p:nvPr/>
        </p:nvSpPr>
        <p:spPr>
          <a:xfrm>
            <a:off x="7534656" y="2148840"/>
            <a:ext cx="2121408" cy="242316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534656" y="2148840"/>
            <a:ext cx="64008" cy="2423160"/>
          </a:xfrm>
          <a:prstGeom prst="rect">
            <a:avLst/>
          </a:prstGeom>
          <a:solidFill>
            <a:srgbClr val="28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17536" y="2286000"/>
            <a:ext cx="1801367" cy="274320"/>
          </a:xfrm>
          <a:prstGeom prst="rect">
            <a:avLst/>
          </a:prstGeom>
          <a:noFill/>
        </p:spPr>
        <p:txBody>
          <a:bodyPr wrap="square">
            <a:spAutoFit/>
          </a:bodyPr>
          <a:lstStyle/>
          <a:p>
            <a:pPr>
              <a:spcAft>
                <a:spcPts val="300"/>
              </a:spcAft>
              <a:defRPr sz="1300" b="1">
                <a:solidFill>
                  <a:srgbClr val="121F37"/>
                </a:solidFill>
                <a:latin typeface="Aptos"/>
              </a:defRPr>
            </a:pPr>
            <a:r>
              <a:t>04  Model</a:t>
            </a:r>
          </a:p>
        </p:txBody>
      </p:sp>
      <p:sp>
        <p:nvSpPr>
          <p:cNvPr id="22" name="TextBox 21"/>
          <p:cNvSpPr txBox="1"/>
          <p:nvPr/>
        </p:nvSpPr>
        <p:spPr>
          <a:xfrm>
            <a:off x="7717536" y="2651760"/>
            <a:ext cx="1755648" cy="1828800"/>
          </a:xfrm>
          <a:prstGeom prst="rect">
            <a:avLst/>
          </a:prstGeom>
          <a:noFill/>
        </p:spPr>
        <p:txBody>
          <a:bodyPr wrap="square">
            <a:spAutoFit/>
          </a:bodyPr>
          <a:lstStyle/>
          <a:p>
            <a:pPr>
              <a:spcAft>
                <a:spcPts val="300"/>
              </a:spcAft>
              <a:defRPr sz="1200" b="0">
                <a:solidFill>
                  <a:srgbClr val="232D3C"/>
                </a:solidFill>
                <a:latin typeface="Aptos"/>
              </a:defRPr>
            </a:pPr>
            <a:r>
              <a:t>Create a star-schema-friendly relationship and explicit measures in Power BI.</a:t>
            </a:r>
          </a:p>
        </p:txBody>
      </p:sp>
      <p:sp>
        <p:nvSpPr>
          <p:cNvPr id="23" name="Rounded Rectangle 22"/>
          <p:cNvSpPr/>
          <p:nvPr/>
        </p:nvSpPr>
        <p:spPr>
          <a:xfrm>
            <a:off x="9848088" y="2148840"/>
            <a:ext cx="2121408" cy="242316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848088" y="2148840"/>
            <a:ext cx="64008" cy="2423160"/>
          </a:xfrm>
          <a:prstGeom prst="rect">
            <a:avLst/>
          </a:prstGeom>
          <a:solidFill>
            <a:srgbClr val="14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030967" y="2286000"/>
            <a:ext cx="1801367" cy="274320"/>
          </a:xfrm>
          <a:prstGeom prst="rect">
            <a:avLst/>
          </a:prstGeom>
          <a:noFill/>
        </p:spPr>
        <p:txBody>
          <a:bodyPr wrap="square">
            <a:spAutoFit/>
          </a:bodyPr>
          <a:lstStyle/>
          <a:p>
            <a:pPr>
              <a:spcAft>
                <a:spcPts val="300"/>
              </a:spcAft>
              <a:defRPr sz="1300" b="1">
                <a:solidFill>
                  <a:srgbClr val="121F37"/>
                </a:solidFill>
                <a:latin typeface="Aptos"/>
              </a:defRPr>
            </a:pPr>
            <a:r>
              <a:t>05  Communicate</a:t>
            </a:r>
          </a:p>
        </p:txBody>
      </p:sp>
      <p:sp>
        <p:nvSpPr>
          <p:cNvPr id="26" name="TextBox 25"/>
          <p:cNvSpPr txBox="1"/>
          <p:nvPr/>
        </p:nvSpPr>
        <p:spPr>
          <a:xfrm>
            <a:off x="10030967" y="2651760"/>
            <a:ext cx="1755648" cy="1828800"/>
          </a:xfrm>
          <a:prstGeom prst="rect">
            <a:avLst/>
          </a:prstGeom>
          <a:noFill/>
        </p:spPr>
        <p:txBody>
          <a:bodyPr wrap="square">
            <a:spAutoFit/>
          </a:bodyPr>
          <a:lstStyle/>
          <a:p>
            <a:pPr>
              <a:spcAft>
                <a:spcPts val="300"/>
              </a:spcAft>
              <a:defRPr sz="1200" b="0">
                <a:solidFill>
                  <a:srgbClr val="232D3C"/>
                </a:solidFill>
                <a:latin typeface="Aptos"/>
              </a:defRPr>
            </a:pPr>
            <a:r>
              <a:t>Show revenue, profit, margin, customer ranking, order quantity and payment mix with filters.</a:t>
            </a:r>
          </a:p>
        </p:txBody>
      </p:sp>
      <p:sp>
        <p:nvSpPr>
          <p:cNvPr id="27" name="TextBox 26"/>
          <p:cNvSpPr txBox="1"/>
          <p:nvPr/>
        </p:nvSpPr>
        <p:spPr>
          <a:xfrm>
            <a:off x="731520" y="5166360"/>
            <a:ext cx="10515600" cy="548640"/>
          </a:xfrm>
          <a:prstGeom prst="rect">
            <a:avLst/>
          </a:prstGeom>
          <a:noFill/>
        </p:spPr>
        <p:txBody>
          <a:bodyPr wrap="square">
            <a:spAutoFit/>
          </a:bodyPr>
          <a:lstStyle/>
          <a:p>
            <a:pPr>
              <a:spcAft>
                <a:spcPts val="300"/>
              </a:spcAft>
              <a:defRPr sz="1300" b="1">
                <a:solidFill>
                  <a:srgbClr val="AD4141"/>
                </a:solidFill>
                <a:latin typeface="Aptos"/>
              </a:defRPr>
            </a:pPr>
            <a:r>
              <a:t>Data protection: use synthetic or approved anonymized data in any public deck; do not publish company-specific performance without permission.</a:t>
            </a:r>
          </a:p>
        </p:txBody>
      </p:sp>
      <p:sp>
        <p:nvSpPr>
          <p:cNvPr id="29" name="TextBox 28"/>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a:spAutoFit/>
          </a:bodyPr>
          <a:lstStyle/>
          <a:p>
            <a:pPr>
              <a:spcAft>
                <a:spcPts val="300"/>
              </a:spcAft>
              <a:defRPr sz="1000" b="1">
                <a:solidFill>
                  <a:srgbClr val="149691"/>
                </a:solidFill>
                <a:latin typeface="Aptos"/>
              </a:defRPr>
            </a:pPr>
            <a:r>
              <a:t>01 / SQL BUSINESS QUESTION</a:t>
            </a:r>
          </a:p>
        </p:txBody>
      </p:sp>
      <p:sp>
        <p:nvSpPr>
          <p:cNvPr id="4" name="TextBox 3"/>
          <p:cNvSpPr txBox="1"/>
          <p:nvPr/>
        </p:nvSpPr>
        <p:spPr>
          <a:xfrm>
            <a:off x="502920" y="566928"/>
            <a:ext cx="11155680" cy="502920"/>
          </a:xfrm>
          <a:prstGeom prst="rect">
            <a:avLst/>
          </a:prstGeom>
          <a:noFill/>
        </p:spPr>
        <p:txBody>
          <a:bodyPr wrap="square">
            <a:spAutoFit/>
          </a:bodyPr>
          <a:lstStyle/>
          <a:p>
            <a:pPr>
              <a:spcAft>
                <a:spcPts val="300"/>
              </a:spcAft>
              <a:defRPr sz="2700" b="1">
                <a:solidFill>
                  <a:srgbClr val="121F37"/>
                </a:solidFill>
                <a:latin typeface="Aptos"/>
              </a:defRPr>
            </a:pPr>
            <a:r>
              <a:t>Q01. Orders from a selected international city</a:t>
            </a:r>
          </a:p>
        </p:txBody>
      </p:sp>
      <p:sp>
        <p:nvSpPr>
          <p:cNvPr id="5" name="TextBox 4"/>
          <p:cNvSpPr txBox="1"/>
          <p:nvPr/>
        </p:nvSpPr>
        <p:spPr>
          <a:xfrm>
            <a:off x="530352" y="1078992"/>
            <a:ext cx="10972800" cy="384048"/>
          </a:xfrm>
          <a:prstGeom prst="rect">
            <a:avLst/>
          </a:prstGeom>
          <a:noFill/>
        </p:spPr>
        <p:txBody>
          <a:bodyPr wrap="square">
            <a:spAutoFit/>
          </a:bodyPr>
          <a:lstStyle/>
          <a:p>
            <a:pPr>
              <a:spcAft>
                <a:spcPts val="300"/>
              </a:spcAft>
              <a:defRPr sz="1100" b="0">
                <a:solidFill>
                  <a:srgbClr val="647080"/>
                </a:solidFill>
                <a:latin typeface="Aptos"/>
              </a:defRPr>
            </a:pPr>
            <a:r>
              <a:t>PostgreSQL • adapted from the query/question structure in the supplied Word document</a:t>
            </a:r>
          </a:p>
        </p:txBody>
      </p:sp>
      <p:sp>
        <p:nvSpPr>
          <p:cNvPr id="6" name="Rectangle 5"/>
          <p:cNvSpPr/>
          <p:nvPr/>
        </p:nvSpPr>
        <p:spPr>
          <a:xfrm>
            <a:off x="502920" y="1499616"/>
            <a:ext cx="11155680" cy="2286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1783080"/>
            <a:ext cx="6903720" cy="4251960"/>
          </a:xfrm>
          <a:prstGeom prst="roundRect">
            <a:avLst/>
          </a:prstGeom>
          <a:solidFill>
            <a:srgbClr val="121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20240"/>
            <a:ext cx="6537959" cy="923330"/>
          </a:xfrm>
          <a:prstGeom prst="rect">
            <a:avLst/>
          </a:prstGeom>
          <a:noFill/>
        </p:spPr>
        <p:txBody>
          <a:bodyPr wrap="square">
            <a:spAutoFit/>
          </a:bodyPr>
          <a:lstStyle/>
          <a:p>
            <a:r>
              <a:rPr lang="en-IN" dirty="0">
                <a:solidFill>
                  <a:schemeClr val="bg1"/>
                </a:solidFill>
              </a:rPr>
              <a:t>SELECT </a:t>
            </a:r>
            <a:r>
              <a:rPr lang="en-IN" dirty="0" err="1">
                <a:solidFill>
                  <a:schemeClr val="bg1"/>
                </a:solidFill>
              </a:rPr>
              <a:t>order_id</a:t>
            </a:r>
            <a:r>
              <a:rPr lang="en-IN" dirty="0">
                <a:solidFill>
                  <a:schemeClr val="bg1"/>
                </a:solidFill>
              </a:rPr>
              <a:t>, </a:t>
            </a:r>
            <a:r>
              <a:rPr lang="en-IN" dirty="0" err="1">
                <a:solidFill>
                  <a:schemeClr val="bg1"/>
                </a:solidFill>
              </a:rPr>
              <a:t>order_date</a:t>
            </a:r>
            <a:r>
              <a:rPr lang="en-IN" dirty="0">
                <a:solidFill>
                  <a:schemeClr val="bg1"/>
                </a:solidFill>
              </a:rPr>
              <a:t>, city</a:t>
            </a:r>
          </a:p>
          <a:p>
            <a:r>
              <a:rPr lang="en-IN" dirty="0">
                <a:solidFill>
                  <a:schemeClr val="bg1"/>
                </a:solidFill>
              </a:rPr>
              <a:t>FROM </a:t>
            </a:r>
            <a:r>
              <a:rPr lang="en-IN" dirty="0" err="1">
                <a:solidFill>
                  <a:schemeClr val="bg1"/>
                </a:solidFill>
              </a:rPr>
              <a:t>ag_orders</a:t>
            </a:r>
            <a:endParaRPr lang="en-IN" dirty="0">
              <a:solidFill>
                <a:schemeClr val="bg1"/>
              </a:solidFill>
            </a:endParaRPr>
          </a:p>
          <a:p>
            <a:r>
              <a:rPr lang="en-IN" dirty="0">
                <a:solidFill>
                  <a:schemeClr val="bg1"/>
                </a:solidFill>
              </a:rPr>
              <a:t>WHERE city = 'London';</a:t>
            </a:r>
          </a:p>
        </p:txBody>
      </p:sp>
      <p:sp>
        <p:nvSpPr>
          <p:cNvPr id="18" name="TextBox 17"/>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05</a:t>
            </a:r>
          </a:p>
        </p:txBody>
      </p:sp>
      <p:sp>
        <p:nvSpPr>
          <p:cNvPr id="19" name="Rounded Rectangle 18"/>
          <p:cNvSpPr/>
          <p:nvPr/>
        </p:nvSpPr>
        <p:spPr>
          <a:xfrm>
            <a:off x="7818120" y="1847088"/>
            <a:ext cx="3794760" cy="4069080"/>
          </a:xfrm>
          <a:prstGeom prst="roundRect">
            <a:avLst/>
          </a:prstGeom>
          <a:solidFill>
            <a:srgbClr val="EFF5F7"/>
          </a:solidFill>
          <a:ln>
            <a:solidFill>
              <a:srgbClr val="D2DCE1"/>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defRPr sz="1600" b="1">
                <a:solidFill>
                  <a:srgbClr val="1B2B41"/>
                </a:solidFill>
              </a:defRPr>
            </a:pPr>
            <a:r>
              <a:rPr dirty="0"/>
              <a:t>QUERY RESULTS · SYNTHETIC DATA</a:t>
            </a:r>
            <a:endParaRPr lang="en-IN" dirty="0"/>
          </a:p>
          <a:p>
            <a:pPr algn="ctr">
              <a:defRPr sz="1600" b="1">
                <a:solidFill>
                  <a:srgbClr val="1B2B41"/>
                </a:solidFill>
              </a:defRPr>
            </a:pPr>
            <a:endParaRPr lang="en-IN" dirty="0"/>
          </a:p>
          <a:p>
            <a:pPr algn="ctr">
              <a:defRPr sz="1600" b="1">
                <a:solidFill>
                  <a:srgbClr val="1B2B41"/>
                </a:solidFill>
              </a:defRPr>
            </a:pPr>
            <a:endParaRPr lang="en-IN" dirty="0"/>
          </a:p>
          <a:p>
            <a:pPr algn="ctr">
              <a:defRPr sz="1600" b="1">
                <a:solidFill>
                  <a:srgbClr val="1B2B41"/>
                </a:solidFill>
              </a:defRPr>
            </a:pPr>
            <a:endParaRPr dirty="0"/>
          </a:p>
          <a:p>
            <a:pPr>
              <a:spcAft>
                <a:spcPts val="400"/>
              </a:spcAft>
              <a:defRPr sz="1100">
                <a:solidFill>
                  <a:srgbClr val="2D3748"/>
                </a:solidFill>
              </a:defRPr>
            </a:pPr>
            <a:r>
              <a:rPr dirty="0"/>
              <a:t>Q01 · City filter</a:t>
            </a:r>
          </a:p>
          <a:p>
            <a:pPr>
              <a:spcAft>
                <a:spcPts val="400"/>
              </a:spcAft>
              <a:defRPr sz="1100">
                <a:solidFill>
                  <a:srgbClr val="2D3748"/>
                </a:solidFill>
              </a:defRPr>
            </a:pPr>
            <a:r>
              <a:rPr dirty="0"/>
              <a:t>Orders in London: 892</a:t>
            </a:r>
          </a:p>
          <a:p>
            <a:pPr>
              <a:spcAft>
                <a:spcPts val="400"/>
              </a:spcAft>
              <a:defRPr sz="1100">
                <a:solidFill>
                  <a:srgbClr val="2D3748"/>
                </a:solidFill>
              </a:defRPr>
            </a:pPr>
            <a:r>
              <a:rPr dirty="0"/>
              <a:t>Revenue in London: $65,000</a:t>
            </a:r>
          </a:p>
          <a:p>
            <a:pPr>
              <a:spcAft>
                <a:spcPts val="400"/>
              </a:spcAft>
              <a:defRPr sz="1100">
                <a:solidFill>
                  <a:srgbClr val="2D3748"/>
                </a:solidFill>
              </a:defRPr>
            </a:pPr>
            <a:r>
              <a:rPr dirty="0"/>
              <a:t>Output: matching order records; customer IDs remain anonymous.</a:t>
            </a:r>
          </a:p>
        </p:txBody>
      </p:sp>
      <p:sp>
        <p:nvSpPr>
          <p:cNvPr id="20" name="TextBox 19"/>
          <p:cNvSpPr txBox="1"/>
          <p:nvPr/>
        </p:nvSpPr>
        <p:spPr>
          <a:xfrm>
            <a:off x="7973568" y="6080760"/>
            <a:ext cx="3474720" cy="201168"/>
          </a:xfrm>
          <a:prstGeom prst="rect">
            <a:avLst/>
          </a:prstGeom>
          <a:noFill/>
        </p:spPr>
        <p:txBody>
          <a:bodyPr wrap="square" lIns="54864" tIns="36576" rIns="54864" bIns="36576">
            <a:spAutoFit/>
          </a:bodyPr>
          <a:lstStyle/>
          <a:p>
            <a:pPr>
              <a:defRPr sz="800" b="0">
                <a:solidFill>
                  <a:srgbClr val="5A6678"/>
                </a:solidFill>
                <a:latin typeface="Aptos"/>
              </a:defRPr>
            </a:pPr>
            <a:r>
              <a:t>Calculated from companion Excel workbook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a:spAutoFit/>
          </a:bodyPr>
          <a:lstStyle/>
          <a:p>
            <a:pPr>
              <a:spcAft>
                <a:spcPts val="300"/>
              </a:spcAft>
              <a:defRPr sz="1000" b="1">
                <a:solidFill>
                  <a:srgbClr val="149691"/>
                </a:solidFill>
                <a:latin typeface="Aptos"/>
              </a:defRPr>
            </a:pPr>
            <a:r>
              <a:t>02 / SQL BUSINESS QUESTION</a:t>
            </a:r>
          </a:p>
        </p:txBody>
      </p:sp>
      <p:sp>
        <p:nvSpPr>
          <p:cNvPr id="4" name="TextBox 3"/>
          <p:cNvSpPr txBox="1"/>
          <p:nvPr/>
        </p:nvSpPr>
        <p:spPr>
          <a:xfrm>
            <a:off x="502920" y="566928"/>
            <a:ext cx="11155680" cy="502920"/>
          </a:xfrm>
          <a:prstGeom prst="rect">
            <a:avLst/>
          </a:prstGeom>
          <a:noFill/>
        </p:spPr>
        <p:txBody>
          <a:bodyPr wrap="square">
            <a:spAutoFit/>
          </a:bodyPr>
          <a:lstStyle/>
          <a:p>
            <a:pPr>
              <a:spcAft>
                <a:spcPts val="300"/>
              </a:spcAft>
              <a:defRPr sz="2700" b="1">
                <a:solidFill>
                  <a:srgbClr val="121F37"/>
                </a:solidFill>
                <a:latin typeface="Aptos"/>
              </a:defRPr>
            </a:pPr>
            <a:r>
              <a:t>Q02. Customers ordering across multiple regions</a:t>
            </a:r>
          </a:p>
        </p:txBody>
      </p:sp>
      <p:sp>
        <p:nvSpPr>
          <p:cNvPr id="5" name="TextBox 4"/>
          <p:cNvSpPr txBox="1"/>
          <p:nvPr/>
        </p:nvSpPr>
        <p:spPr>
          <a:xfrm>
            <a:off x="530352" y="1078992"/>
            <a:ext cx="10972800" cy="384048"/>
          </a:xfrm>
          <a:prstGeom prst="rect">
            <a:avLst/>
          </a:prstGeom>
          <a:noFill/>
        </p:spPr>
        <p:txBody>
          <a:bodyPr wrap="square">
            <a:spAutoFit/>
          </a:bodyPr>
          <a:lstStyle/>
          <a:p>
            <a:pPr>
              <a:spcAft>
                <a:spcPts val="300"/>
              </a:spcAft>
              <a:defRPr sz="1100" b="0">
                <a:solidFill>
                  <a:srgbClr val="647080"/>
                </a:solidFill>
                <a:latin typeface="Aptos"/>
              </a:defRPr>
            </a:pPr>
            <a:r>
              <a:t>PostgreSQL • adapted from the query/question structure in the supplied Word document</a:t>
            </a:r>
          </a:p>
        </p:txBody>
      </p:sp>
      <p:sp>
        <p:nvSpPr>
          <p:cNvPr id="6" name="Rectangle 5"/>
          <p:cNvSpPr/>
          <p:nvPr/>
        </p:nvSpPr>
        <p:spPr>
          <a:xfrm>
            <a:off x="502920" y="1499616"/>
            <a:ext cx="11155680" cy="2286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1783080"/>
            <a:ext cx="6903720" cy="4251960"/>
          </a:xfrm>
          <a:prstGeom prst="roundRect">
            <a:avLst/>
          </a:prstGeom>
          <a:solidFill>
            <a:srgbClr val="121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20240"/>
            <a:ext cx="6537959" cy="1200329"/>
          </a:xfrm>
          <a:prstGeom prst="rect">
            <a:avLst/>
          </a:prstGeom>
          <a:noFill/>
        </p:spPr>
        <p:txBody>
          <a:bodyPr wrap="square">
            <a:spAutoFit/>
          </a:bodyPr>
          <a:lstStyle/>
          <a:p>
            <a:r>
              <a:rPr lang="en-IN" dirty="0">
                <a:solidFill>
                  <a:schemeClr val="bg1"/>
                </a:solidFill>
              </a:rPr>
              <a:t>SELECT </a:t>
            </a:r>
            <a:r>
              <a:rPr lang="en-IN" dirty="0" err="1">
                <a:solidFill>
                  <a:schemeClr val="bg1"/>
                </a:solidFill>
              </a:rPr>
              <a:t>customer_id</a:t>
            </a:r>
            <a:endParaRPr lang="en-IN" dirty="0">
              <a:solidFill>
                <a:schemeClr val="bg1"/>
              </a:solidFill>
            </a:endParaRPr>
          </a:p>
          <a:p>
            <a:r>
              <a:rPr lang="en-IN" dirty="0">
                <a:solidFill>
                  <a:schemeClr val="bg1"/>
                </a:solidFill>
              </a:rPr>
              <a:t>FROM </a:t>
            </a:r>
            <a:r>
              <a:rPr lang="en-IN" dirty="0" err="1">
                <a:solidFill>
                  <a:schemeClr val="bg1"/>
                </a:solidFill>
              </a:rPr>
              <a:t>ag_orders</a:t>
            </a:r>
            <a:endParaRPr lang="en-IN" dirty="0">
              <a:solidFill>
                <a:schemeClr val="bg1"/>
              </a:solidFill>
            </a:endParaRPr>
          </a:p>
          <a:p>
            <a:r>
              <a:rPr lang="en-IN" dirty="0">
                <a:solidFill>
                  <a:schemeClr val="bg1"/>
                </a:solidFill>
              </a:rPr>
              <a:t>GROUP BY </a:t>
            </a:r>
            <a:r>
              <a:rPr lang="en-IN" dirty="0" err="1">
                <a:solidFill>
                  <a:schemeClr val="bg1"/>
                </a:solidFill>
              </a:rPr>
              <a:t>customer_id</a:t>
            </a:r>
            <a:endParaRPr lang="en-IN" dirty="0">
              <a:solidFill>
                <a:schemeClr val="bg1"/>
              </a:solidFill>
            </a:endParaRPr>
          </a:p>
          <a:p>
            <a:r>
              <a:rPr lang="en-IN" dirty="0">
                <a:solidFill>
                  <a:schemeClr val="bg1"/>
                </a:solidFill>
              </a:rPr>
              <a:t>HAVING COUNT(DISTINCT state) &gt; 1;</a:t>
            </a:r>
          </a:p>
        </p:txBody>
      </p:sp>
      <p:sp>
        <p:nvSpPr>
          <p:cNvPr id="18" name="TextBox 17"/>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06</a:t>
            </a:r>
          </a:p>
        </p:txBody>
      </p:sp>
      <p:sp>
        <p:nvSpPr>
          <p:cNvPr id="19" name="Rounded Rectangle 18"/>
          <p:cNvSpPr/>
          <p:nvPr/>
        </p:nvSpPr>
        <p:spPr>
          <a:xfrm>
            <a:off x="7818120" y="1847088"/>
            <a:ext cx="3794760" cy="4069080"/>
          </a:xfrm>
          <a:prstGeom prst="roundRect">
            <a:avLst/>
          </a:prstGeom>
          <a:solidFill>
            <a:srgbClr val="EFF5F7"/>
          </a:solidFill>
          <a:ln>
            <a:solidFill>
              <a:srgbClr val="D2DCE1"/>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defRPr sz="1600" b="1">
                <a:solidFill>
                  <a:srgbClr val="1B2B41"/>
                </a:solidFill>
              </a:defRPr>
            </a:pPr>
            <a:r>
              <a:rPr dirty="0"/>
              <a:t>QUERY RESULTS · SYNTHETIC DATA</a:t>
            </a:r>
            <a:endParaRPr lang="en-IN" dirty="0"/>
          </a:p>
          <a:p>
            <a:pPr algn="ctr">
              <a:defRPr sz="1600" b="1">
                <a:solidFill>
                  <a:srgbClr val="1B2B41"/>
                </a:solidFill>
              </a:defRPr>
            </a:pPr>
            <a:endParaRPr lang="en-IN" dirty="0"/>
          </a:p>
          <a:p>
            <a:pPr algn="ctr">
              <a:defRPr sz="1600" b="1">
                <a:solidFill>
                  <a:srgbClr val="1B2B41"/>
                </a:solidFill>
              </a:defRPr>
            </a:pPr>
            <a:endParaRPr dirty="0"/>
          </a:p>
          <a:p>
            <a:pPr>
              <a:spcAft>
                <a:spcPts val="400"/>
              </a:spcAft>
              <a:defRPr sz="1100">
                <a:solidFill>
                  <a:srgbClr val="2D3748"/>
                </a:solidFill>
              </a:defRPr>
            </a:pPr>
            <a:r>
              <a:rPr dirty="0"/>
              <a:t>Q02 · Multi-region customers</a:t>
            </a:r>
          </a:p>
          <a:p>
            <a:pPr>
              <a:spcAft>
                <a:spcPts val="400"/>
              </a:spcAft>
              <a:defRPr sz="1100">
                <a:solidFill>
                  <a:srgbClr val="2D3748"/>
                </a:solidFill>
              </a:defRPr>
            </a:pPr>
            <a:r>
              <a:rPr dirty="0"/>
              <a:t>Customers with orders in multiple regions: 888</a:t>
            </a:r>
          </a:p>
          <a:p>
            <a:pPr>
              <a:spcAft>
                <a:spcPts val="400"/>
              </a:spcAft>
              <a:defRPr sz="1100">
                <a:solidFill>
                  <a:srgbClr val="2D3748"/>
                </a:solidFill>
              </a:defRPr>
            </a:pPr>
            <a:r>
              <a:rPr dirty="0"/>
              <a:t>Output lists anonymous customer IDs only.</a:t>
            </a:r>
          </a:p>
          <a:p>
            <a:pPr>
              <a:spcAft>
                <a:spcPts val="400"/>
              </a:spcAft>
              <a:defRPr sz="1100">
                <a:solidFill>
                  <a:srgbClr val="2D3748"/>
                </a:solidFill>
              </a:defRPr>
            </a:pPr>
            <a:r>
              <a:rPr dirty="0"/>
              <a:t>Uses COUNT(DISTINCT state) &gt; 1.</a:t>
            </a:r>
          </a:p>
        </p:txBody>
      </p:sp>
      <p:sp>
        <p:nvSpPr>
          <p:cNvPr id="20" name="TextBox 19"/>
          <p:cNvSpPr txBox="1"/>
          <p:nvPr/>
        </p:nvSpPr>
        <p:spPr>
          <a:xfrm>
            <a:off x="7973568" y="6080760"/>
            <a:ext cx="3474720" cy="201168"/>
          </a:xfrm>
          <a:prstGeom prst="rect">
            <a:avLst/>
          </a:prstGeom>
          <a:noFill/>
        </p:spPr>
        <p:txBody>
          <a:bodyPr wrap="square" lIns="54864" tIns="36576" rIns="54864" bIns="36576">
            <a:spAutoFit/>
          </a:bodyPr>
          <a:lstStyle/>
          <a:p>
            <a:pPr>
              <a:defRPr sz="800" b="0">
                <a:solidFill>
                  <a:srgbClr val="5A6678"/>
                </a:solidFill>
                <a:latin typeface="Aptos"/>
              </a:defRPr>
            </a:pPr>
            <a:r>
              <a:t>Calculated from companion Excel workbook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a:spAutoFit/>
          </a:bodyPr>
          <a:lstStyle/>
          <a:p>
            <a:pPr>
              <a:spcAft>
                <a:spcPts val="300"/>
              </a:spcAft>
              <a:defRPr sz="1000" b="1">
                <a:solidFill>
                  <a:srgbClr val="149691"/>
                </a:solidFill>
                <a:latin typeface="Aptos"/>
              </a:defRPr>
            </a:pPr>
            <a:r>
              <a:t>03 / SQL BUSINESS QUESTION</a:t>
            </a:r>
          </a:p>
        </p:txBody>
      </p:sp>
      <p:sp>
        <p:nvSpPr>
          <p:cNvPr id="4" name="TextBox 3"/>
          <p:cNvSpPr txBox="1"/>
          <p:nvPr/>
        </p:nvSpPr>
        <p:spPr>
          <a:xfrm>
            <a:off x="502920" y="566928"/>
            <a:ext cx="11155680" cy="502920"/>
          </a:xfrm>
          <a:prstGeom prst="rect">
            <a:avLst/>
          </a:prstGeom>
          <a:noFill/>
        </p:spPr>
        <p:txBody>
          <a:bodyPr wrap="square">
            <a:spAutoFit/>
          </a:bodyPr>
          <a:lstStyle/>
          <a:p>
            <a:pPr>
              <a:spcAft>
                <a:spcPts val="300"/>
              </a:spcAft>
              <a:defRPr sz="2700" b="1">
                <a:solidFill>
                  <a:srgbClr val="121F37"/>
                </a:solidFill>
                <a:latin typeface="Aptos"/>
              </a:defRPr>
            </a:pPr>
            <a:r>
              <a:t>Q03. Revenue by region and city</a:t>
            </a:r>
          </a:p>
        </p:txBody>
      </p:sp>
      <p:sp>
        <p:nvSpPr>
          <p:cNvPr id="5" name="TextBox 4"/>
          <p:cNvSpPr txBox="1"/>
          <p:nvPr/>
        </p:nvSpPr>
        <p:spPr>
          <a:xfrm>
            <a:off x="530352" y="1078992"/>
            <a:ext cx="10972800" cy="384048"/>
          </a:xfrm>
          <a:prstGeom prst="rect">
            <a:avLst/>
          </a:prstGeom>
          <a:noFill/>
        </p:spPr>
        <p:txBody>
          <a:bodyPr wrap="square">
            <a:spAutoFit/>
          </a:bodyPr>
          <a:lstStyle/>
          <a:p>
            <a:pPr>
              <a:spcAft>
                <a:spcPts val="300"/>
              </a:spcAft>
              <a:defRPr sz="1100" b="0">
                <a:solidFill>
                  <a:srgbClr val="647080"/>
                </a:solidFill>
                <a:latin typeface="Aptos"/>
              </a:defRPr>
            </a:pPr>
            <a:r>
              <a:t>PostgreSQL • adapted from the query/question structure in the supplied Word document</a:t>
            </a:r>
          </a:p>
        </p:txBody>
      </p:sp>
      <p:sp>
        <p:nvSpPr>
          <p:cNvPr id="6" name="Rectangle 5"/>
          <p:cNvSpPr/>
          <p:nvPr/>
        </p:nvSpPr>
        <p:spPr>
          <a:xfrm>
            <a:off x="502920" y="1499616"/>
            <a:ext cx="11155680" cy="2286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1783080"/>
            <a:ext cx="6903720" cy="4251960"/>
          </a:xfrm>
          <a:prstGeom prst="roundRect">
            <a:avLst/>
          </a:prstGeom>
          <a:solidFill>
            <a:srgbClr val="121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20240"/>
            <a:ext cx="6537959" cy="2308324"/>
          </a:xfrm>
          <a:prstGeom prst="rect">
            <a:avLst/>
          </a:prstGeom>
          <a:noFill/>
        </p:spPr>
        <p:txBody>
          <a:bodyPr wrap="square">
            <a:spAutoFit/>
          </a:bodyPr>
          <a:lstStyle/>
          <a:p>
            <a:pPr>
              <a:defRPr sz="1200">
                <a:solidFill>
                  <a:srgbClr val="E4EFF9"/>
                </a:solidFill>
                <a:latin typeface="Consolas"/>
              </a:defRPr>
            </a:pPr>
            <a:r>
              <a:rPr lang="en-GB" dirty="0"/>
              <a:t>SELECT</a:t>
            </a:r>
          </a:p>
          <a:p>
            <a:pPr>
              <a:defRPr sz="1200">
                <a:solidFill>
                  <a:srgbClr val="E4EFF9"/>
                </a:solidFill>
                <a:latin typeface="Consolas"/>
              </a:defRPr>
            </a:pPr>
            <a:r>
              <a:rPr lang="en-GB" dirty="0"/>
              <a:t>    </a:t>
            </a:r>
            <a:r>
              <a:rPr lang="en-GB" dirty="0" err="1"/>
              <a:t>o.state</a:t>
            </a:r>
            <a:r>
              <a:rPr lang="en-GB" dirty="0"/>
              <a:t>,</a:t>
            </a:r>
          </a:p>
          <a:p>
            <a:pPr>
              <a:defRPr sz="1200">
                <a:solidFill>
                  <a:srgbClr val="E4EFF9"/>
                </a:solidFill>
                <a:latin typeface="Consolas"/>
              </a:defRPr>
            </a:pPr>
            <a:r>
              <a:rPr lang="en-GB" dirty="0"/>
              <a:t>    </a:t>
            </a:r>
            <a:r>
              <a:rPr lang="en-GB" dirty="0" err="1"/>
              <a:t>o.city</a:t>
            </a:r>
            <a:r>
              <a:rPr lang="en-GB" dirty="0"/>
              <a:t>,</a:t>
            </a:r>
          </a:p>
          <a:p>
            <a:pPr>
              <a:defRPr sz="1200">
                <a:solidFill>
                  <a:srgbClr val="E4EFF9"/>
                </a:solidFill>
                <a:latin typeface="Consolas"/>
              </a:defRPr>
            </a:pPr>
            <a:r>
              <a:rPr lang="en-GB" dirty="0"/>
              <a:t>    SUM(</a:t>
            </a:r>
            <a:r>
              <a:rPr lang="en-GB" dirty="0" err="1"/>
              <a:t>d.amount</a:t>
            </a:r>
            <a:r>
              <a:rPr lang="en-GB" dirty="0"/>
              <a:t>) AS </a:t>
            </a:r>
            <a:r>
              <a:rPr lang="en-GB" dirty="0" err="1"/>
              <a:t>total_revenue</a:t>
            </a:r>
            <a:endParaRPr lang="en-GB" dirty="0"/>
          </a:p>
          <a:p>
            <a:pPr>
              <a:defRPr sz="1200">
                <a:solidFill>
                  <a:srgbClr val="E4EFF9"/>
                </a:solidFill>
                <a:latin typeface="Consolas"/>
              </a:defRPr>
            </a:pPr>
            <a:r>
              <a:rPr lang="en-GB" dirty="0"/>
              <a:t>FROM </a:t>
            </a:r>
            <a:r>
              <a:rPr lang="en-GB" dirty="0" err="1"/>
              <a:t>ag_orders</a:t>
            </a:r>
            <a:r>
              <a:rPr lang="en-GB" dirty="0"/>
              <a:t> o</a:t>
            </a:r>
          </a:p>
          <a:p>
            <a:pPr>
              <a:defRPr sz="1200">
                <a:solidFill>
                  <a:srgbClr val="E4EFF9"/>
                </a:solidFill>
                <a:latin typeface="Consolas"/>
              </a:defRPr>
            </a:pPr>
            <a:r>
              <a:rPr lang="en-GB" dirty="0"/>
              <a:t>JOIN </a:t>
            </a:r>
            <a:r>
              <a:rPr lang="en-GB" dirty="0" err="1"/>
              <a:t>ag_details</a:t>
            </a:r>
            <a:r>
              <a:rPr lang="en-GB" dirty="0"/>
              <a:t> d</a:t>
            </a:r>
          </a:p>
          <a:p>
            <a:pPr>
              <a:defRPr sz="1200">
                <a:solidFill>
                  <a:srgbClr val="E4EFF9"/>
                </a:solidFill>
                <a:latin typeface="Consolas"/>
              </a:defRPr>
            </a:pPr>
            <a:r>
              <a:rPr lang="en-GB" dirty="0"/>
              <a:t>    ON </a:t>
            </a:r>
            <a:r>
              <a:rPr lang="en-GB" dirty="0" err="1"/>
              <a:t>o.order_id</a:t>
            </a:r>
            <a:r>
              <a:rPr lang="en-GB" dirty="0"/>
              <a:t> = </a:t>
            </a:r>
            <a:r>
              <a:rPr lang="en-GB" dirty="0" err="1"/>
              <a:t>d.order_id</a:t>
            </a:r>
            <a:endParaRPr lang="en-GB" dirty="0"/>
          </a:p>
          <a:p>
            <a:pPr>
              <a:defRPr sz="1200">
                <a:solidFill>
                  <a:srgbClr val="E4EFF9"/>
                </a:solidFill>
                <a:latin typeface="Consolas"/>
              </a:defRPr>
            </a:pPr>
            <a:r>
              <a:rPr lang="en-GB" dirty="0"/>
              <a:t>GROUP BY</a:t>
            </a:r>
          </a:p>
          <a:p>
            <a:pPr>
              <a:defRPr sz="1200">
                <a:solidFill>
                  <a:srgbClr val="E4EFF9"/>
                </a:solidFill>
                <a:latin typeface="Consolas"/>
              </a:defRPr>
            </a:pPr>
            <a:r>
              <a:rPr lang="en-GB" dirty="0"/>
              <a:t>    </a:t>
            </a:r>
            <a:r>
              <a:rPr lang="en-GB" dirty="0" err="1"/>
              <a:t>o.state</a:t>
            </a:r>
            <a:r>
              <a:rPr lang="en-GB" dirty="0"/>
              <a:t>,</a:t>
            </a:r>
          </a:p>
          <a:p>
            <a:pPr>
              <a:defRPr sz="1200">
                <a:solidFill>
                  <a:srgbClr val="E4EFF9"/>
                </a:solidFill>
                <a:latin typeface="Consolas"/>
              </a:defRPr>
            </a:pPr>
            <a:r>
              <a:rPr lang="en-GB" dirty="0"/>
              <a:t>    </a:t>
            </a:r>
            <a:r>
              <a:rPr lang="en-GB" dirty="0" err="1"/>
              <a:t>o.city</a:t>
            </a:r>
            <a:endParaRPr lang="en-GB" dirty="0"/>
          </a:p>
          <a:p>
            <a:pPr>
              <a:defRPr sz="1200">
                <a:solidFill>
                  <a:srgbClr val="E4EFF9"/>
                </a:solidFill>
                <a:latin typeface="Consolas"/>
              </a:defRPr>
            </a:pPr>
            <a:r>
              <a:rPr lang="en-GB" dirty="0"/>
              <a:t>ORDER BY</a:t>
            </a:r>
          </a:p>
          <a:p>
            <a:pPr>
              <a:defRPr sz="1200">
                <a:solidFill>
                  <a:srgbClr val="E4EFF9"/>
                </a:solidFill>
                <a:latin typeface="Consolas"/>
              </a:defRPr>
            </a:pPr>
            <a:r>
              <a:rPr lang="en-GB" dirty="0"/>
              <a:t>    </a:t>
            </a:r>
            <a:r>
              <a:rPr lang="en-GB" dirty="0" err="1"/>
              <a:t>total_revenue</a:t>
            </a:r>
            <a:r>
              <a:rPr lang="en-GB" dirty="0"/>
              <a:t> DESC;</a:t>
            </a:r>
            <a:endParaRPr dirty="0"/>
          </a:p>
        </p:txBody>
      </p:sp>
      <p:sp>
        <p:nvSpPr>
          <p:cNvPr id="18" name="TextBox 17"/>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07</a:t>
            </a:r>
          </a:p>
        </p:txBody>
      </p:sp>
      <p:sp>
        <p:nvSpPr>
          <p:cNvPr id="19" name="Rounded Rectangle 18"/>
          <p:cNvSpPr/>
          <p:nvPr/>
        </p:nvSpPr>
        <p:spPr>
          <a:xfrm>
            <a:off x="7818120" y="1847088"/>
            <a:ext cx="3794760" cy="4069080"/>
          </a:xfrm>
          <a:prstGeom prst="roundRect">
            <a:avLst/>
          </a:prstGeom>
          <a:solidFill>
            <a:srgbClr val="EFF5F7"/>
          </a:solidFill>
          <a:ln>
            <a:solidFill>
              <a:srgbClr val="D2DCE1"/>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defRPr sz="1600" b="1">
                <a:solidFill>
                  <a:srgbClr val="1B2B41"/>
                </a:solidFill>
              </a:defRPr>
            </a:pPr>
            <a:r>
              <a:rPr dirty="0"/>
              <a:t>QUERY RESULTS · SYNTHETIC DATA</a:t>
            </a:r>
            <a:endParaRPr lang="en-IN" dirty="0"/>
          </a:p>
          <a:p>
            <a:pPr algn="ctr">
              <a:defRPr sz="1600" b="1">
                <a:solidFill>
                  <a:srgbClr val="1B2B41"/>
                </a:solidFill>
              </a:defRPr>
            </a:pPr>
            <a:endParaRPr lang="en-IN" dirty="0"/>
          </a:p>
          <a:p>
            <a:pPr algn="ctr">
              <a:defRPr sz="1600" b="1">
                <a:solidFill>
                  <a:srgbClr val="1B2B41"/>
                </a:solidFill>
              </a:defRPr>
            </a:pPr>
            <a:endParaRPr dirty="0"/>
          </a:p>
          <a:p>
            <a:pPr>
              <a:spcAft>
                <a:spcPts val="400"/>
              </a:spcAft>
              <a:defRPr sz="1100">
                <a:solidFill>
                  <a:srgbClr val="2D3748"/>
                </a:solidFill>
              </a:defRPr>
            </a:pPr>
            <a:r>
              <a:rPr dirty="0"/>
              <a:t>Q03 · Revenue by city</a:t>
            </a:r>
          </a:p>
          <a:p>
            <a:pPr>
              <a:spcAft>
                <a:spcPts val="400"/>
              </a:spcAft>
              <a:defRPr sz="1100">
                <a:solidFill>
                  <a:srgbClr val="2D3748"/>
                </a:solidFill>
              </a:defRPr>
            </a:pPr>
            <a:r>
              <a:rPr dirty="0"/>
              <a:t>London: $65,000</a:t>
            </a:r>
          </a:p>
          <a:p>
            <a:pPr>
              <a:spcAft>
                <a:spcPts val="400"/>
              </a:spcAft>
              <a:defRPr sz="1100">
                <a:solidFill>
                  <a:srgbClr val="2D3748"/>
                </a:solidFill>
              </a:defRPr>
            </a:pPr>
            <a:r>
              <a:rPr dirty="0"/>
              <a:t>New York: $58,000</a:t>
            </a:r>
          </a:p>
          <a:p>
            <a:pPr>
              <a:spcAft>
                <a:spcPts val="400"/>
              </a:spcAft>
              <a:defRPr sz="1100">
                <a:solidFill>
                  <a:srgbClr val="2D3748"/>
                </a:solidFill>
              </a:defRPr>
            </a:pPr>
            <a:r>
              <a:rPr dirty="0"/>
              <a:t>Dubai: $52,000</a:t>
            </a:r>
          </a:p>
          <a:p>
            <a:pPr>
              <a:spcAft>
                <a:spcPts val="400"/>
              </a:spcAft>
              <a:defRPr sz="1100">
                <a:solidFill>
                  <a:srgbClr val="2D3748"/>
                </a:solidFill>
              </a:defRPr>
            </a:pPr>
            <a:r>
              <a:rPr dirty="0"/>
              <a:t>Singapore: $43,000</a:t>
            </a:r>
          </a:p>
          <a:p>
            <a:pPr>
              <a:spcAft>
                <a:spcPts val="400"/>
              </a:spcAft>
              <a:defRPr sz="1100">
                <a:solidFill>
                  <a:srgbClr val="2D3748"/>
                </a:solidFill>
              </a:defRPr>
            </a:pPr>
            <a:r>
              <a:rPr dirty="0"/>
              <a:t>Sydney: $30,600</a:t>
            </a:r>
          </a:p>
          <a:p>
            <a:pPr>
              <a:spcAft>
                <a:spcPts val="400"/>
              </a:spcAft>
              <a:defRPr sz="1100">
                <a:solidFill>
                  <a:srgbClr val="2D3748"/>
                </a:solidFill>
              </a:defRPr>
            </a:pPr>
            <a:r>
              <a:rPr dirty="0"/>
              <a:t>Total revenue: $248,600</a:t>
            </a:r>
          </a:p>
        </p:txBody>
      </p:sp>
      <p:sp>
        <p:nvSpPr>
          <p:cNvPr id="20" name="TextBox 19"/>
          <p:cNvSpPr txBox="1"/>
          <p:nvPr/>
        </p:nvSpPr>
        <p:spPr>
          <a:xfrm>
            <a:off x="7973568" y="6080760"/>
            <a:ext cx="3474720" cy="201168"/>
          </a:xfrm>
          <a:prstGeom prst="rect">
            <a:avLst/>
          </a:prstGeom>
          <a:noFill/>
        </p:spPr>
        <p:txBody>
          <a:bodyPr wrap="square" lIns="54864" tIns="36576" rIns="54864" bIns="36576">
            <a:spAutoFit/>
          </a:bodyPr>
          <a:lstStyle/>
          <a:p>
            <a:pPr>
              <a:defRPr sz="800" b="0">
                <a:solidFill>
                  <a:srgbClr val="5A6678"/>
                </a:solidFill>
                <a:latin typeface="Aptos"/>
              </a:defRPr>
            </a:pPr>
            <a:r>
              <a:t>Calculated from companion Excel workbook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a:spAutoFit/>
          </a:bodyPr>
          <a:lstStyle/>
          <a:p>
            <a:pPr>
              <a:spcAft>
                <a:spcPts val="300"/>
              </a:spcAft>
              <a:defRPr sz="1000" b="1">
                <a:solidFill>
                  <a:srgbClr val="149691"/>
                </a:solidFill>
                <a:latin typeface="Aptos"/>
              </a:defRPr>
            </a:pPr>
            <a:r>
              <a:t>04 / SQL BUSINESS QUESTION</a:t>
            </a:r>
          </a:p>
        </p:txBody>
      </p:sp>
      <p:sp>
        <p:nvSpPr>
          <p:cNvPr id="4" name="TextBox 3"/>
          <p:cNvSpPr txBox="1"/>
          <p:nvPr/>
        </p:nvSpPr>
        <p:spPr>
          <a:xfrm>
            <a:off x="502920" y="566928"/>
            <a:ext cx="11155680" cy="502920"/>
          </a:xfrm>
          <a:prstGeom prst="rect">
            <a:avLst/>
          </a:prstGeom>
          <a:noFill/>
        </p:spPr>
        <p:txBody>
          <a:bodyPr wrap="square">
            <a:spAutoFit/>
          </a:bodyPr>
          <a:lstStyle/>
          <a:p>
            <a:pPr>
              <a:spcAft>
                <a:spcPts val="300"/>
              </a:spcAft>
              <a:defRPr sz="2700" b="1">
                <a:solidFill>
                  <a:srgbClr val="121F37"/>
                </a:solidFill>
                <a:latin typeface="Aptos"/>
              </a:defRPr>
            </a:pPr>
            <a:r>
              <a:rPr dirty="0"/>
              <a:t>Q04. Customer with the most orders</a:t>
            </a:r>
          </a:p>
        </p:txBody>
      </p:sp>
      <p:sp>
        <p:nvSpPr>
          <p:cNvPr id="5" name="TextBox 4"/>
          <p:cNvSpPr txBox="1"/>
          <p:nvPr/>
        </p:nvSpPr>
        <p:spPr>
          <a:xfrm>
            <a:off x="530352" y="1078992"/>
            <a:ext cx="10972800" cy="384048"/>
          </a:xfrm>
          <a:prstGeom prst="rect">
            <a:avLst/>
          </a:prstGeom>
          <a:noFill/>
        </p:spPr>
        <p:txBody>
          <a:bodyPr wrap="square">
            <a:spAutoFit/>
          </a:bodyPr>
          <a:lstStyle/>
          <a:p>
            <a:pPr>
              <a:spcAft>
                <a:spcPts val="300"/>
              </a:spcAft>
              <a:defRPr sz="1100" b="0">
                <a:solidFill>
                  <a:srgbClr val="647080"/>
                </a:solidFill>
                <a:latin typeface="Aptos"/>
              </a:defRPr>
            </a:pPr>
            <a:r>
              <a:t>PostgreSQL • adapted from the query/question structure in the supplied Word document</a:t>
            </a:r>
          </a:p>
        </p:txBody>
      </p:sp>
      <p:sp>
        <p:nvSpPr>
          <p:cNvPr id="6" name="Rectangle 5"/>
          <p:cNvSpPr/>
          <p:nvPr/>
        </p:nvSpPr>
        <p:spPr>
          <a:xfrm>
            <a:off x="502920" y="1499616"/>
            <a:ext cx="11155680" cy="2286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1783080"/>
            <a:ext cx="6903720" cy="4251960"/>
          </a:xfrm>
          <a:prstGeom prst="roundRect">
            <a:avLst/>
          </a:prstGeom>
          <a:solidFill>
            <a:srgbClr val="121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20240"/>
            <a:ext cx="6537959" cy="1384995"/>
          </a:xfrm>
          <a:prstGeom prst="rect">
            <a:avLst/>
          </a:prstGeom>
          <a:noFill/>
        </p:spPr>
        <p:txBody>
          <a:bodyPr wrap="square">
            <a:spAutoFit/>
          </a:bodyPr>
          <a:lstStyle/>
          <a:p>
            <a:pPr>
              <a:defRPr sz="1200">
                <a:solidFill>
                  <a:srgbClr val="E4EFF9"/>
                </a:solidFill>
                <a:latin typeface="Consolas"/>
              </a:defRPr>
            </a:pPr>
            <a:r>
              <a:rPr lang="en-GB" dirty="0"/>
              <a:t>SELECT</a:t>
            </a:r>
          </a:p>
          <a:p>
            <a:pPr>
              <a:defRPr sz="1200">
                <a:solidFill>
                  <a:srgbClr val="E4EFF9"/>
                </a:solidFill>
                <a:latin typeface="Consolas"/>
              </a:defRPr>
            </a:pPr>
            <a:r>
              <a:rPr lang="en-GB" dirty="0"/>
              <a:t>    </a:t>
            </a:r>
            <a:r>
              <a:rPr lang="en-GB" dirty="0" err="1"/>
              <a:t>customer_id</a:t>
            </a:r>
            <a:r>
              <a:rPr lang="en-GB" dirty="0"/>
              <a:t>,</a:t>
            </a:r>
          </a:p>
          <a:p>
            <a:pPr>
              <a:defRPr sz="1200">
                <a:solidFill>
                  <a:srgbClr val="E4EFF9"/>
                </a:solidFill>
                <a:latin typeface="Consolas"/>
              </a:defRPr>
            </a:pPr>
            <a:r>
              <a:rPr lang="en-GB" dirty="0"/>
              <a:t>    COUNT(</a:t>
            </a:r>
            <a:r>
              <a:rPr lang="en-GB" dirty="0" err="1"/>
              <a:t>order_id</a:t>
            </a:r>
            <a:r>
              <a:rPr lang="en-GB" dirty="0"/>
              <a:t>) AS </a:t>
            </a:r>
            <a:r>
              <a:rPr lang="en-GB" dirty="0" err="1"/>
              <a:t>total_orders</a:t>
            </a:r>
            <a:endParaRPr lang="en-GB" dirty="0"/>
          </a:p>
          <a:p>
            <a:pPr>
              <a:defRPr sz="1200">
                <a:solidFill>
                  <a:srgbClr val="E4EFF9"/>
                </a:solidFill>
                <a:latin typeface="Consolas"/>
              </a:defRPr>
            </a:pPr>
            <a:r>
              <a:rPr lang="en-GB" dirty="0"/>
              <a:t>FROM </a:t>
            </a:r>
            <a:r>
              <a:rPr lang="en-GB" dirty="0" err="1"/>
              <a:t>ag_orders</a:t>
            </a:r>
            <a:endParaRPr lang="en-GB" dirty="0"/>
          </a:p>
          <a:p>
            <a:pPr>
              <a:defRPr sz="1200">
                <a:solidFill>
                  <a:srgbClr val="E4EFF9"/>
                </a:solidFill>
                <a:latin typeface="Consolas"/>
              </a:defRPr>
            </a:pPr>
            <a:r>
              <a:rPr lang="en-GB" dirty="0"/>
              <a:t>GROUP BY </a:t>
            </a:r>
            <a:r>
              <a:rPr lang="en-GB" dirty="0" err="1"/>
              <a:t>customer_id</a:t>
            </a:r>
            <a:endParaRPr lang="en-GB" dirty="0"/>
          </a:p>
          <a:p>
            <a:pPr>
              <a:defRPr sz="1200">
                <a:solidFill>
                  <a:srgbClr val="E4EFF9"/>
                </a:solidFill>
                <a:latin typeface="Consolas"/>
              </a:defRPr>
            </a:pPr>
            <a:r>
              <a:rPr lang="en-GB" dirty="0"/>
              <a:t>ORDER BY </a:t>
            </a:r>
            <a:r>
              <a:rPr lang="en-GB" dirty="0" err="1"/>
              <a:t>total_orders</a:t>
            </a:r>
            <a:r>
              <a:rPr lang="en-GB" dirty="0"/>
              <a:t> DESC</a:t>
            </a:r>
          </a:p>
          <a:p>
            <a:pPr>
              <a:defRPr sz="1200">
                <a:solidFill>
                  <a:srgbClr val="E4EFF9"/>
                </a:solidFill>
                <a:latin typeface="Consolas"/>
              </a:defRPr>
            </a:pPr>
            <a:r>
              <a:rPr lang="en-GB" dirty="0"/>
              <a:t>LIMIT 1;</a:t>
            </a:r>
            <a:endParaRPr dirty="0"/>
          </a:p>
        </p:txBody>
      </p:sp>
      <p:sp>
        <p:nvSpPr>
          <p:cNvPr id="18" name="TextBox 17"/>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08</a:t>
            </a:r>
          </a:p>
        </p:txBody>
      </p:sp>
      <p:sp>
        <p:nvSpPr>
          <p:cNvPr id="19" name="Rounded Rectangle 18"/>
          <p:cNvSpPr/>
          <p:nvPr/>
        </p:nvSpPr>
        <p:spPr>
          <a:xfrm>
            <a:off x="7818120" y="1847088"/>
            <a:ext cx="3794760" cy="4069080"/>
          </a:xfrm>
          <a:prstGeom prst="roundRect">
            <a:avLst/>
          </a:prstGeom>
          <a:solidFill>
            <a:srgbClr val="EFF5F7"/>
          </a:solidFill>
          <a:ln>
            <a:solidFill>
              <a:srgbClr val="D2DCE1"/>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defRPr sz="1600" b="1">
                <a:solidFill>
                  <a:srgbClr val="1B2B41"/>
                </a:solidFill>
              </a:defRPr>
            </a:pPr>
            <a:r>
              <a:rPr dirty="0"/>
              <a:t>QUERY RESULTS · SYNTHETIC DATA</a:t>
            </a:r>
            <a:endParaRPr lang="en-IN" dirty="0"/>
          </a:p>
          <a:p>
            <a:pPr algn="ctr">
              <a:defRPr sz="1600" b="1">
                <a:solidFill>
                  <a:srgbClr val="1B2B41"/>
                </a:solidFill>
              </a:defRPr>
            </a:pPr>
            <a:endParaRPr lang="en-IN" dirty="0"/>
          </a:p>
          <a:p>
            <a:pPr algn="ctr">
              <a:defRPr sz="1600" b="1">
                <a:solidFill>
                  <a:srgbClr val="1B2B41"/>
                </a:solidFill>
              </a:defRPr>
            </a:pPr>
            <a:endParaRPr dirty="0"/>
          </a:p>
          <a:p>
            <a:pPr>
              <a:spcAft>
                <a:spcPts val="400"/>
              </a:spcAft>
              <a:defRPr sz="1100">
                <a:solidFill>
                  <a:srgbClr val="2D3748"/>
                </a:solidFill>
              </a:defRPr>
            </a:pPr>
            <a:r>
              <a:rPr dirty="0"/>
              <a:t>Q04 · Most orders</a:t>
            </a:r>
          </a:p>
          <a:p>
            <a:pPr>
              <a:spcAft>
                <a:spcPts val="400"/>
              </a:spcAft>
              <a:defRPr sz="1100">
                <a:solidFill>
                  <a:srgbClr val="2D3748"/>
                </a:solidFill>
              </a:defRPr>
            </a:pPr>
            <a:r>
              <a:rPr dirty="0"/>
              <a:t>Top customer: CUST0013</a:t>
            </a:r>
          </a:p>
          <a:p>
            <a:pPr>
              <a:spcAft>
                <a:spcPts val="400"/>
              </a:spcAft>
              <a:defRPr sz="1100">
                <a:solidFill>
                  <a:srgbClr val="2D3748"/>
                </a:solidFill>
              </a:defRPr>
            </a:pPr>
            <a:r>
              <a:rPr dirty="0"/>
              <a:t>Distinct orders: 9</a:t>
            </a:r>
          </a:p>
          <a:p>
            <a:pPr>
              <a:spcAft>
                <a:spcPts val="400"/>
              </a:spcAft>
              <a:defRPr sz="1100">
                <a:solidFill>
                  <a:srgbClr val="2D3748"/>
                </a:solidFill>
              </a:defRPr>
            </a:pPr>
            <a:r>
              <a:rPr dirty="0"/>
              <a:t>Second-highest count: 8</a:t>
            </a:r>
          </a:p>
        </p:txBody>
      </p:sp>
      <p:sp>
        <p:nvSpPr>
          <p:cNvPr id="20" name="TextBox 19"/>
          <p:cNvSpPr txBox="1"/>
          <p:nvPr/>
        </p:nvSpPr>
        <p:spPr>
          <a:xfrm>
            <a:off x="7973568" y="6080760"/>
            <a:ext cx="3474720" cy="201168"/>
          </a:xfrm>
          <a:prstGeom prst="rect">
            <a:avLst/>
          </a:prstGeom>
          <a:noFill/>
        </p:spPr>
        <p:txBody>
          <a:bodyPr wrap="square" lIns="54864" tIns="36576" rIns="54864" bIns="36576">
            <a:spAutoFit/>
          </a:bodyPr>
          <a:lstStyle/>
          <a:p>
            <a:pPr>
              <a:defRPr sz="800" b="0">
                <a:solidFill>
                  <a:srgbClr val="5A6678"/>
                </a:solidFill>
                <a:latin typeface="Aptos"/>
              </a:defRPr>
            </a:pPr>
            <a:r>
              <a:t>Calculated from companion Excel workbook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a:spAutoFit/>
          </a:bodyPr>
          <a:lstStyle/>
          <a:p>
            <a:pPr>
              <a:spcAft>
                <a:spcPts val="300"/>
              </a:spcAft>
              <a:defRPr sz="1000" b="1">
                <a:solidFill>
                  <a:srgbClr val="149691"/>
                </a:solidFill>
                <a:latin typeface="Aptos"/>
              </a:defRPr>
            </a:pPr>
            <a:r>
              <a:t>05 / SQL BUSINESS QUESTION</a:t>
            </a:r>
          </a:p>
        </p:txBody>
      </p:sp>
      <p:sp>
        <p:nvSpPr>
          <p:cNvPr id="4" name="TextBox 3"/>
          <p:cNvSpPr txBox="1"/>
          <p:nvPr/>
        </p:nvSpPr>
        <p:spPr>
          <a:xfrm>
            <a:off x="502920" y="566928"/>
            <a:ext cx="11155680" cy="502920"/>
          </a:xfrm>
          <a:prstGeom prst="rect">
            <a:avLst/>
          </a:prstGeom>
          <a:noFill/>
        </p:spPr>
        <p:txBody>
          <a:bodyPr wrap="square">
            <a:spAutoFit/>
          </a:bodyPr>
          <a:lstStyle/>
          <a:p>
            <a:r>
              <a:t>Q05. Average detail amount by payment mode</a:t>
            </a:r>
          </a:p>
        </p:txBody>
      </p:sp>
      <p:sp>
        <p:nvSpPr>
          <p:cNvPr id="5" name="TextBox 4"/>
          <p:cNvSpPr txBox="1"/>
          <p:nvPr/>
        </p:nvSpPr>
        <p:spPr>
          <a:xfrm>
            <a:off x="530352" y="1078992"/>
            <a:ext cx="10972800" cy="384048"/>
          </a:xfrm>
          <a:prstGeom prst="rect">
            <a:avLst/>
          </a:prstGeom>
          <a:noFill/>
        </p:spPr>
        <p:txBody>
          <a:bodyPr wrap="square">
            <a:spAutoFit/>
          </a:bodyPr>
          <a:lstStyle/>
          <a:p>
            <a:pPr>
              <a:spcAft>
                <a:spcPts val="300"/>
              </a:spcAft>
              <a:defRPr sz="1100" b="0">
                <a:solidFill>
                  <a:srgbClr val="647080"/>
                </a:solidFill>
                <a:latin typeface="Aptos"/>
              </a:defRPr>
            </a:pPr>
            <a:r>
              <a:t>PostgreSQL • adapted from the query/question structure in the supplied Word document</a:t>
            </a:r>
          </a:p>
        </p:txBody>
      </p:sp>
      <p:sp>
        <p:nvSpPr>
          <p:cNvPr id="6" name="Rectangle 5"/>
          <p:cNvSpPr/>
          <p:nvPr/>
        </p:nvSpPr>
        <p:spPr>
          <a:xfrm>
            <a:off x="502920" y="1499616"/>
            <a:ext cx="11155680" cy="2286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1783080"/>
            <a:ext cx="6903720" cy="4251960"/>
          </a:xfrm>
          <a:prstGeom prst="roundRect">
            <a:avLst/>
          </a:prstGeom>
          <a:solidFill>
            <a:srgbClr val="121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20240"/>
            <a:ext cx="6537959" cy="1200329"/>
          </a:xfrm>
          <a:prstGeom prst="rect">
            <a:avLst/>
          </a:prstGeom>
          <a:noFill/>
        </p:spPr>
        <p:txBody>
          <a:bodyPr wrap="square">
            <a:spAutoFit/>
          </a:bodyPr>
          <a:lstStyle/>
          <a:p>
            <a:pPr>
              <a:defRPr sz="1200">
                <a:solidFill>
                  <a:srgbClr val="E4EFF9"/>
                </a:solidFill>
                <a:latin typeface="Consolas"/>
              </a:defRPr>
            </a:pPr>
            <a:r>
              <a:rPr lang="en-GB" dirty="0"/>
              <a:t>SELECT</a:t>
            </a:r>
          </a:p>
          <a:p>
            <a:pPr>
              <a:defRPr sz="1200">
                <a:solidFill>
                  <a:srgbClr val="E4EFF9"/>
                </a:solidFill>
                <a:latin typeface="Consolas"/>
              </a:defRPr>
            </a:pPr>
            <a:r>
              <a:rPr lang="en-GB" dirty="0"/>
              <a:t>    </a:t>
            </a:r>
            <a:r>
              <a:rPr lang="en-GB" dirty="0" err="1"/>
              <a:t>paymentmode</a:t>
            </a:r>
            <a:r>
              <a:rPr lang="en-GB" dirty="0"/>
              <a:t>,</a:t>
            </a:r>
          </a:p>
          <a:p>
            <a:pPr>
              <a:defRPr sz="1200">
                <a:solidFill>
                  <a:srgbClr val="E4EFF9"/>
                </a:solidFill>
                <a:latin typeface="Consolas"/>
              </a:defRPr>
            </a:pPr>
            <a:r>
              <a:rPr lang="en-GB" dirty="0"/>
              <a:t>    AVG(amount) AS </a:t>
            </a:r>
            <a:r>
              <a:rPr lang="en-GB" dirty="0" err="1"/>
              <a:t>avg_order_amount</a:t>
            </a:r>
            <a:endParaRPr lang="en-GB" dirty="0"/>
          </a:p>
          <a:p>
            <a:pPr>
              <a:defRPr sz="1200">
                <a:solidFill>
                  <a:srgbClr val="E4EFF9"/>
                </a:solidFill>
                <a:latin typeface="Consolas"/>
              </a:defRPr>
            </a:pPr>
            <a:r>
              <a:rPr lang="en-GB" dirty="0"/>
              <a:t>FROM </a:t>
            </a:r>
            <a:r>
              <a:rPr lang="en-GB" dirty="0" err="1"/>
              <a:t>ag_details</a:t>
            </a:r>
            <a:endParaRPr lang="en-GB" dirty="0"/>
          </a:p>
          <a:p>
            <a:pPr>
              <a:defRPr sz="1200">
                <a:solidFill>
                  <a:srgbClr val="E4EFF9"/>
                </a:solidFill>
                <a:latin typeface="Consolas"/>
              </a:defRPr>
            </a:pPr>
            <a:r>
              <a:rPr lang="en-GB" dirty="0"/>
              <a:t>GROUP BY </a:t>
            </a:r>
            <a:r>
              <a:rPr lang="en-GB" dirty="0" err="1"/>
              <a:t>paymentmode</a:t>
            </a:r>
            <a:endParaRPr lang="en-GB" dirty="0"/>
          </a:p>
          <a:p>
            <a:pPr>
              <a:defRPr sz="1200">
                <a:solidFill>
                  <a:srgbClr val="E4EFF9"/>
                </a:solidFill>
                <a:latin typeface="Consolas"/>
              </a:defRPr>
            </a:pPr>
            <a:r>
              <a:rPr lang="en-GB" dirty="0"/>
              <a:t>ORDER BY </a:t>
            </a:r>
            <a:r>
              <a:rPr lang="en-GB" dirty="0" err="1"/>
              <a:t>avg_order_amount</a:t>
            </a:r>
            <a:r>
              <a:rPr lang="en-GB" dirty="0"/>
              <a:t> DESC;</a:t>
            </a:r>
            <a:endParaRPr dirty="0"/>
          </a:p>
        </p:txBody>
      </p:sp>
      <p:sp>
        <p:nvSpPr>
          <p:cNvPr id="18" name="TextBox 17"/>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09</a:t>
            </a:r>
          </a:p>
        </p:txBody>
      </p:sp>
      <p:sp>
        <p:nvSpPr>
          <p:cNvPr id="19" name="Rounded Rectangle 18"/>
          <p:cNvSpPr/>
          <p:nvPr/>
        </p:nvSpPr>
        <p:spPr>
          <a:xfrm>
            <a:off x="7818120" y="1847088"/>
            <a:ext cx="3794760" cy="4069080"/>
          </a:xfrm>
          <a:prstGeom prst="roundRect">
            <a:avLst/>
          </a:prstGeom>
          <a:solidFill>
            <a:srgbClr val="EFF5F7"/>
          </a:solidFill>
          <a:ln>
            <a:solidFill>
              <a:srgbClr val="D2DCE1"/>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r>
              <a:rPr dirty="0">
                <a:solidFill>
                  <a:schemeClr val="tx1"/>
                </a:solidFill>
              </a:rPr>
              <a:t>QUERY RESULTS · SYNTHETIC DATA</a:t>
            </a:r>
          </a:p>
          <a:p>
            <a:r>
              <a:rPr dirty="0">
                <a:solidFill>
                  <a:schemeClr val="tx1"/>
                </a:solidFill>
              </a:rPr>
              <a:t>Q05 · Average detail amount by payment</a:t>
            </a:r>
          </a:p>
          <a:p>
            <a:r>
              <a:rPr dirty="0">
                <a:solidFill>
                  <a:schemeClr val="tx1"/>
                </a:solidFill>
              </a:rPr>
              <a:t>Digital Wallet: $</a:t>
            </a:r>
            <a:r>
              <a:rPr sz="1100" dirty="0">
                <a:solidFill>
                  <a:schemeClr val="tx1"/>
                </a:solidFill>
              </a:rPr>
              <a:t>72</a:t>
            </a:r>
            <a:r>
              <a:rPr dirty="0">
                <a:solidFill>
                  <a:schemeClr val="tx1"/>
                </a:solidFill>
              </a:rPr>
              <a:t> average</a:t>
            </a:r>
          </a:p>
          <a:p>
            <a:r>
              <a:rPr dirty="0">
                <a:solidFill>
                  <a:schemeClr val="tx1"/>
                </a:solidFill>
              </a:rPr>
              <a:t>PayPal: $72 average</a:t>
            </a:r>
          </a:p>
          <a:p>
            <a:r>
              <a:rPr dirty="0">
                <a:solidFill>
                  <a:schemeClr val="tx1"/>
                </a:solidFill>
              </a:rPr>
              <a:t>Bank Transfer: $72 average</a:t>
            </a:r>
          </a:p>
          <a:p>
            <a:r>
              <a:rPr dirty="0">
                <a:solidFill>
                  <a:schemeClr val="tx1"/>
                </a:solidFill>
              </a:rPr>
              <a:t>Credit Card: $71 average</a:t>
            </a:r>
          </a:p>
        </p:txBody>
      </p:sp>
      <p:sp>
        <p:nvSpPr>
          <p:cNvPr id="20" name="TextBox 19"/>
          <p:cNvSpPr txBox="1"/>
          <p:nvPr/>
        </p:nvSpPr>
        <p:spPr>
          <a:xfrm>
            <a:off x="7973568" y="6080760"/>
            <a:ext cx="3474720" cy="201168"/>
          </a:xfrm>
          <a:prstGeom prst="rect">
            <a:avLst/>
          </a:prstGeom>
          <a:noFill/>
        </p:spPr>
        <p:txBody>
          <a:bodyPr wrap="square" lIns="54864" tIns="36576" rIns="54864" bIns="36576">
            <a:spAutoFit/>
          </a:bodyPr>
          <a:lstStyle/>
          <a:p>
            <a:pPr>
              <a:defRPr sz="800" b="0">
                <a:solidFill>
                  <a:srgbClr val="5A6678"/>
                </a:solidFill>
                <a:latin typeface="Aptos"/>
              </a:defRPr>
            </a:pPr>
            <a:r>
              <a:t>Calculated from companion Excel workbook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a:spAutoFit/>
          </a:bodyPr>
          <a:lstStyle/>
          <a:p>
            <a:pPr>
              <a:spcAft>
                <a:spcPts val="300"/>
              </a:spcAft>
              <a:defRPr sz="1000" b="1">
                <a:solidFill>
                  <a:srgbClr val="149691"/>
                </a:solidFill>
                <a:latin typeface="Aptos"/>
              </a:defRPr>
            </a:pPr>
            <a:r>
              <a:t>06 / SQL BUSINESS QUESTION</a:t>
            </a:r>
          </a:p>
        </p:txBody>
      </p:sp>
      <p:sp>
        <p:nvSpPr>
          <p:cNvPr id="4" name="TextBox 3"/>
          <p:cNvSpPr txBox="1"/>
          <p:nvPr/>
        </p:nvSpPr>
        <p:spPr>
          <a:xfrm>
            <a:off x="502920" y="566928"/>
            <a:ext cx="11155680" cy="502920"/>
          </a:xfrm>
          <a:prstGeom prst="rect">
            <a:avLst/>
          </a:prstGeom>
          <a:noFill/>
        </p:spPr>
        <p:txBody>
          <a:bodyPr wrap="square">
            <a:spAutoFit/>
          </a:bodyPr>
          <a:lstStyle/>
          <a:p>
            <a:pPr>
              <a:spcAft>
                <a:spcPts val="300"/>
              </a:spcAft>
              <a:defRPr sz="2700" b="1">
                <a:solidFill>
                  <a:srgbClr val="121F37"/>
                </a:solidFill>
                <a:latin typeface="Aptos"/>
              </a:defRPr>
            </a:pPr>
            <a:r>
              <a:t>Q06. Orders above average quantity</a:t>
            </a:r>
          </a:p>
        </p:txBody>
      </p:sp>
      <p:sp>
        <p:nvSpPr>
          <p:cNvPr id="5" name="TextBox 4"/>
          <p:cNvSpPr txBox="1"/>
          <p:nvPr/>
        </p:nvSpPr>
        <p:spPr>
          <a:xfrm>
            <a:off x="530352" y="1078992"/>
            <a:ext cx="10972800" cy="384048"/>
          </a:xfrm>
          <a:prstGeom prst="rect">
            <a:avLst/>
          </a:prstGeom>
          <a:noFill/>
        </p:spPr>
        <p:txBody>
          <a:bodyPr wrap="square">
            <a:spAutoFit/>
          </a:bodyPr>
          <a:lstStyle/>
          <a:p>
            <a:pPr>
              <a:spcAft>
                <a:spcPts val="300"/>
              </a:spcAft>
              <a:defRPr sz="1100" b="0">
                <a:solidFill>
                  <a:srgbClr val="647080"/>
                </a:solidFill>
                <a:latin typeface="Aptos"/>
              </a:defRPr>
            </a:pPr>
            <a:r>
              <a:t>PostgreSQL • adapted from the query/question structure in the supplied Word document</a:t>
            </a:r>
          </a:p>
        </p:txBody>
      </p:sp>
      <p:sp>
        <p:nvSpPr>
          <p:cNvPr id="6" name="Rectangle 5"/>
          <p:cNvSpPr/>
          <p:nvPr/>
        </p:nvSpPr>
        <p:spPr>
          <a:xfrm>
            <a:off x="502920" y="1499616"/>
            <a:ext cx="11155680" cy="2286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1783080"/>
            <a:ext cx="6903720" cy="4251960"/>
          </a:xfrm>
          <a:prstGeom prst="roundRect">
            <a:avLst/>
          </a:prstGeom>
          <a:solidFill>
            <a:srgbClr val="121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20240"/>
            <a:ext cx="6537959" cy="1200329"/>
          </a:xfrm>
          <a:prstGeom prst="rect">
            <a:avLst/>
          </a:prstGeom>
          <a:noFill/>
        </p:spPr>
        <p:txBody>
          <a:bodyPr wrap="square">
            <a:spAutoFit/>
          </a:bodyPr>
          <a:lstStyle/>
          <a:p>
            <a:pPr>
              <a:defRPr sz="1200">
                <a:solidFill>
                  <a:srgbClr val="E4EFF9"/>
                </a:solidFill>
                <a:latin typeface="Consolas"/>
              </a:defRPr>
            </a:pPr>
            <a:r>
              <a:rPr lang="en-GB" dirty="0"/>
              <a:t>SELECT *</a:t>
            </a:r>
          </a:p>
          <a:p>
            <a:pPr>
              <a:defRPr sz="1200">
                <a:solidFill>
                  <a:srgbClr val="E4EFF9"/>
                </a:solidFill>
                <a:latin typeface="Consolas"/>
              </a:defRPr>
            </a:pPr>
            <a:r>
              <a:rPr lang="en-GB" dirty="0"/>
              <a:t>FROM </a:t>
            </a:r>
            <a:r>
              <a:rPr lang="en-GB" dirty="0" err="1"/>
              <a:t>ag_details</a:t>
            </a:r>
            <a:endParaRPr lang="en-GB" dirty="0"/>
          </a:p>
          <a:p>
            <a:pPr>
              <a:defRPr sz="1200">
                <a:solidFill>
                  <a:srgbClr val="E4EFF9"/>
                </a:solidFill>
                <a:latin typeface="Consolas"/>
              </a:defRPr>
            </a:pPr>
            <a:r>
              <a:rPr lang="en-GB" dirty="0"/>
              <a:t>WHERE quantity &gt; (</a:t>
            </a:r>
          </a:p>
          <a:p>
            <a:pPr>
              <a:defRPr sz="1200">
                <a:solidFill>
                  <a:srgbClr val="E4EFF9"/>
                </a:solidFill>
                <a:latin typeface="Consolas"/>
              </a:defRPr>
            </a:pPr>
            <a:r>
              <a:rPr lang="en-GB" dirty="0"/>
              <a:t>    SELECT AVG(quantity)</a:t>
            </a:r>
          </a:p>
          <a:p>
            <a:pPr>
              <a:defRPr sz="1200">
                <a:solidFill>
                  <a:srgbClr val="E4EFF9"/>
                </a:solidFill>
                <a:latin typeface="Consolas"/>
              </a:defRPr>
            </a:pPr>
            <a:r>
              <a:rPr lang="en-GB" dirty="0"/>
              <a:t>    FROM </a:t>
            </a:r>
            <a:r>
              <a:rPr lang="en-GB" dirty="0" err="1"/>
              <a:t>ag_details</a:t>
            </a:r>
            <a:endParaRPr lang="en-GB" dirty="0"/>
          </a:p>
          <a:p>
            <a:pPr>
              <a:defRPr sz="1200">
                <a:solidFill>
                  <a:srgbClr val="E4EFF9"/>
                </a:solidFill>
                <a:latin typeface="Consolas"/>
              </a:defRPr>
            </a:pPr>
            <a:r>
              <a:rPr lang="en-GB" dirty="0"/>
              <a:t>);</a:t>
            </a:r>
            <a:endParaRPr dirty="0"/>
          </a:p>
        </p:txBody>
      </p:sp>
      <p:sp>
        <p:nvSpPr>
          <p:cNvPr id="18" name="TextBox 17"/>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10</a:t>
            </a:r>
          </a:p>
        </p:txBody>
      </p:sp>
      <p:sp>
        <p:nvSpPr>
          <p:cNvPr id="19" name="Rounded Rectangle 18"/>
          <p:cNvSpPr/>
          <p:nvPr/>
        </p:nvSpPr>
        <p:spPr>
          <a:xfrm>
            <a:off x="7818120" y="1847088"/>
            <a:ext cx="3794760" cy="4069080"/>
          </a:xfrm>
          <a:prstGeom prst="roundRect">
            <a:avLst/>
          </a:prstGeom>
          <a:solidFill>
            <a:srgbClr val="EFF5F7"/>
          </a:solidFill>
          <a:ln>
            <a:solidFill>
              <a:srgbClr val="D2DCE1"/>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defRPr sz="1600" b="1">
                <a:solidFill>
                  <a:srgbClr val="1B2B41"/>
                </a:solidFill>
              </a:defRPr>
            </a:pPr>
            <a:r>
              <a:rPr dirty="0"/>
              <a:t>QUERY RESULTS · SYNTHETIC DATA</a:t>
            </a:r>
            <a:endParaRPr lang="en-IN" dirty="0"/>
          </a:p>
          <a:p>
            <a:pPr algn="ctr">
              <a:defRPr sz="1600" b="1">
                <a:solidFill>
                  <a:srgbClr val="1B2B41"/>
                </a:solidFill>
              </a:defRPr>
            </a:pPr>
            <a:endParaRPr lang="en-IN" dirty="0"/>
          </a:p>
          <a:p>
            <a:pPr algn="ctr">
              <a:defRPr sz="1600" b="1">
                <a:solidFill>
                  <a:srgbClr val="1B2B41"/>
                </a:solidFill>
              </a:defRPr>
            </a:pPr>
            <a:endParaRPr dirty="0"/>
          </a:p>
          <a:p>
            <a:pPr>
              <a:spcAft>
                <a:spcPts val="400"/>
              </a:spcAft>
              <a:defRPr sz="1100">
                <a:solidFill>
                  <a:srgbClr val="2D3748"/>
                </a:solidFill>
              </a:defRPr>
            </a:pPr>
            <a:r>
              <a:rPr dirty="0"/>
              <a:t>Q06 · Quantity above average</a:t>
            </a:r>
          </a:p>
          <a:p>
            <a:pPr>
              <a:spcAft>
                <a:spcPts val="400"/>
              </a:spcAft>
              <a:defRPr sz="1100">
                <a:solidFill>
                  <a:srgbClr val="2D3748"/>
                </a:solidFill>
              </a:defRPr>
            </a:pPr>
            <a:r>
              <a:rPr dirty="0"/>
              <a:t>Average quantity per detail row: 2.05</a:t>
            </a:r>
          </a:p>
          <a:p>
            <a:pPr>
              <a:spcAft>
                <a:spcPts val="400"/>
              </a:spcAft>
              <a:defRPr sz="1100">
                <a:solidFill>
                  <a:srgbClr val="2D3748"/>
                </a:solidFill>
              </a:defRPr>
            </a:pPr>
            <a:r>
              <a:rPr dirty="0"/>
              <a:t>Rows above average quantity: 1,001</a:t>
            </a:r>
          </a:p>
          <a:p>
            <a:pPr>
              <a:spcAft>
                <a:spcPts val="400"/>
              </a:spcAft>
              <a:defRPr sz="1100">
                <a:solidFill>
                  <a:srgbClr val="2D3748"/>
                </a:solidFill>
              </a:defRPr>
            </a:pPr>
            <a:r>
              <a:rPr dirty="0"/>
              <a:t>Maximum quantity in returned rows: 6</a:t>
            </a:r>
          </a:p>
        </p:txBody>
      </p:sp>
      <p:sp>
        <p:nvSpPr>
          <p:cNvPr id="20" name="TextBox 19"/>
          <p:cNvSpPr txBox="1"/>
          <p:nvPr/>
        </p:nvSpPr>
        <p:spPr>
          <a:xfrm>
            <a:off x="7973568" y="6080760"/>
            <a:ext cx="3474720" cy="201168"/>
          </a:xfrm>
          <a:prstGeom prst="rect">
            <a:avLst/>
          </a:prstGeom>
          <a:noFill/>
        </p:spPr>
        <p:txBody>
          <a:bodyPr wrap="square" lIns="54864" tIns="36576" rIns="54864" bIns="36576">
            <a:spAutoFit/>
          </a:bodyPr>
          <a:lstStyle/>
          <a:p>
            <a:pPr>
              <a:defRPr sz="800" b="0">
                <a:solidFill>
                  <a:srgbClr val="5A6678"/>
                </a:solidFill>
                <a:latin typeface="Aptos"/>
              </a:defRPr>
            </a:pPr>
            <a:r>
              <a:t>Calculated from companion Excel workbook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a:spAutoFit/>
          </a:bodyPr>
          <a:lstStyle/>
          <a:p>
            <a:pPr>
              <a:spcAft>
                <a:spcPts val="300"/>
              </a:spcAft>
              <a:defRPr sz="1000" b="1">
                <a:solidFill>
                  <a:srgbClr val="149691"/>
                </a:solidFill>
                <a:latin typeface="Aptos"/>
              </a:defRPr>
            </a:pPr>
            <a:r>
              <a:t>07 / SQL BUSINESS QUESTION</a:t>
            </a:r>
          </a:p>
        </p:txBody>
      </p:sp>
      <p:sp>
        <p:nvSpPr>
          <p:cNvPr id="4" name="TextBox 3"/>
          <p:cNvSpPr txBox="1"/>
          <p:nvPr/>
        </p:nvSpPr>
        <p:spPr>
          <a:xfrm>
            <a:off x="530352" y="557784"/>
            <a:ext cx="11155680" cy="502920"/>
          </a:xfrm>
          <a:prstGeom prst="rect">
            <a:avLst/>
          </a:prstGeom>
          <a:noFill/>
        </p:spPr>
        <p:txBody>
          <a:bodyPr wrap="square">
            <a:spAutoFit/>
          </a:bodyPr>
          <a:lstStyle/>
          <a:p>
            <a:pPr>
              <a:spcAft>
                <a:spcPts val="300"/>
              </a:spcAft>
              <a:defRPr sz="2700" b="1">
                <a:solidFill>
                  <a:srgbClr val="121F37"/>
                </a:solidFill>
                <a:latin typeface="Aptos"/>
              </a:defRPr>
            </a:pPr>
            <a:r>
              <a:rPr dirty="0"/>
              <a:t>Q07. Top 3 customers by revenue</a:t>
            </a:r>
          </a:p>
        </p:txBody>
      </p:sp>
      <p:sp>
        <p:nvSpPr>
          <p:cNvPr id="5" name="TextBox 4"/>
          <p:cNvSpPr txBox="1"/>
          <p:nvPr/>
        </p:nvSpPr>
        <p:spPr>
          <a:xfrm>
            <a:off x="530352" y="1078992"/>
            <a:ext cx="10972800" cy="384048"/>
          </a:xfrm>
          <a:prstGeom prst="rect">
            <a:avLst/>
          </a:prstGeom>
          <a:noFill/>
        </p:spPr>
        <p:txBody>
          <a:bodyPr wrap="square">
            <a:spAutoFit/>
          </a:bodyPr>
          <a:lstStyle/>
          <a:p>
            <a:pPr>
              <a:spcAft>
                <a:spcPts val="300"/>
              </a:spcAft>
              <a:defRPr sz="1100" b="0">
                <a:solidFill>
                  <a:srgbClr val="647080"/>
                </a:solidFill>
                <a:latin typeface="Aptos"/>
              </a:defRPr>
            </a:pPr>
            <a:r>
              <a:t>PostgreSQL • adapted from the query/question structure in the supplied Word document</a:t>
            </a:r>
          </a:p>
        </p:txBody>
      </p:sp>
      <p:sp>
        <p:nvSpPr>
          <p:cNvPr id="6" name="Rectangle 5"/>
          <p:cNvSpPr/>
          <p:nvPr/>
        </p:nvSpPr>
        <p:spPr>
          <a:xfrm>
            <a:off x="502920" y="1499616"/>
            <a:ext cx="11155680" cy="2286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1783080"/>
            <a:ext cx="6903720" cy="4251960"/>
          </a:xfrm>
          <a:prstGeom prst="roundRect">
            <a:avLst/>
          </a:prstGeom>
          <a:solidFill>
            <a:srgbClr val="121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20240"/>
            <a:ext cx="6537959" cy="1754326"/>
          </a:xfrm>
          <a:prstGeom prst="rect">
            <a:avLst/>
          </a:prstGeom>
          <a:noFill/>
        </p:spPr>
        <p:txBody>
          <a:bodyPr wrap="square">
            <a:spAutoFit/>
          </a:bodyPr>
          <a:lstStyle/>
          <a:p>
            <a:pPr>
              <a:defRPr sz="1200">
                <a:solidFill>
                  <a:srgbClr val="E4EFF9"/>
                </a:solidFill>
                <a:latin typeface="Consolas"/>
              </a:defRPr>
            </a:pPr>
            <a:r>
              <a:rPr lang="en-IN" dirty="0"/>
              <a:t>SELECT</a:t>
            </a:r>
          </a:p>
          <a:p>
            <a:pPr>
              <a:defRPr sz="1200">
                <a:solidFill>
                  <a:srgbClr val="E4EFF9"/>
                </a:solidFill>
                <a:latin typeface="Consolas"/>
              </a:defRPr>
            </a:pPr>
            <a:r>
              <a:rPr lang="en-IN" dirty="0"/>
              <a:t>    </a:t>
            </a:r>
            <a:r>
              <a:rPr lang="en-IN" dirty="0" err="1"/>
              <a:t>o.customer_id</a:t>
            </a:r>
            <a:r>
              <a:rPr lang="en-IN" dirty="0"/>
              <a:t>,</a:t>
            </a:r>
          </a:p>
          <a:p>
            <a:pPr>
              <a:defRPr sz="1200">
                <a:solidFill>
                  <a:srgbClr val="E4EFF9"/>
                </a:solidFill>
                <a:latin typeface="Consolas"/>
              </a:defRPr>
            </a:pPr>
            <a:r>
              <a:rPr lang="en-IN" dirty="0"/>
              <a:t>    SUM(</a:t>
            </a:r>
            <a:r>
              <a:rPr lang="en-IN" dirty="0" err="1"/>
              <a:t>d.amount</a:t>
            </a:r>
            <a:r>
              <a:rPr lang="en-IN" dirty="0"/>
              <a:t>) AS </a:t>
            </a:r>
            <a:r>
              <a:rPr lang="en-IN" dirty="0" err="1"/>
              <a:t>total_revenue_usd</a:t>
            </a:r>
            <a:endParaRPr lang="en-IN" dirty="0"/>
          </a:p>
          <a:p>
            <a:pPr>
              <a:defRPr sz="1200">
                <a:solidFill>
                  <a:srgbClr val="E4EFF9"/>
                </a:solidFill>
                <a:latin typeface="Consolas"/>
              </a:defRPr>
            </a:pPr>
            <a:r>
              <a:rPr lang="en-IN" dirty="0"/>
              <a:t>FROM </a:t>
            </a:r>
            <a:r>
              <a:rPr lang="en-IN" dirty="0" err="1"/>
              <a:t>ag_orders</a:t>
            </a:r>
            <a:r>
              <a:rPr lang="en-IN" dirty="0"/>
              <a:t> o</a:t>
            </a:r>
          </a:p>
          <a:p>
            <a:pPr>
              <a:defRPr sz="1200">
                <a:solidFill>
                  <a:srgbClr val="E4EFF9"/>
                </a:solidFill>
                <a:latin typeface="Consolas"/>
              </a:defRPr>
            </a:pPr>
            <a:r>
              <a:rPr lang="en-IN" dirty="0"/>
              <a:t>JOIN </a:t>
            </a:r>
            <a:r>
              <a:rPr lang="en-IN" dirty="0" err="1"/>
              <a:t>ag_details</a:t>
            </a:r>
            <a:r>
              <a:rPr lang="en-IN" dirty="0"/>
              <a:t> d</a:t>
            </a:r>
          </a:p>
          <a:p>
            <a:pPr>
              <a:defRPr sz="1200">
                <a:solidFill>
                  <a:srgbClr val="E4EFF9"/>
                </a:solidFill>
                <a:latin typeface="Consolas"/>
              </a:defRPr>
            </a:pPr>
            <a:r>
              <a:rPr lang="en-IN" dirty="0"/>
              <a:t>    ON </a:t>
            </a:r>
            <a:r>
              <a:rPr lang="en-IN" dirty="0" err="1"/>
              <a:t>o.order_id</a:t>
            </a:r>
            <a:r>
              <a:rPr lang="en-IN" dirty="0"/>
              <a:t> = </a:t>
            </a:r>
            <a:r>
              <a:rPr lang="en-IN" dirty="0" err="1"/>
              <a:t>d.order_id</a:t>
            </a:r>
            <a:endParaRPr lang="en-IN" dirty="0"/>
          </a:p>
          <a:p>
            <a:pPr>
              <a:defRPr sz="1200">
                <a:solidFill>
                  <a:srgbClr val="E4EFF9"/>
                </a:solidFill>
                <a:latin typeface="Consolas"/>
              </a:defRPr>
            </a:pPr>
            <a:r>
              <a:rPr lang="en-IN" dirty="0"/>
              <a:t>GROUP BY </a:t>
            </a:r>
            <a:r>
              <a:rPr lang="en-IN" dirty="0" err="1"/>
              <a:t>o.customer_id</a:t>
            </a:r>
            <a:endParaRPr lang="en-IN" dirty="0"/>
          </a:p>
          <a:p>
            <a:pPr>
              <a:defRPr sz="1200">
                <a:solidFill>
                  <a:srgbClr val="E4EFF9"/>
                </a:solidFill>
                <a:latin typeface="Consolas"/>
              </a:defRPr>
            </a:pPr>
            <a:r>
              <a:rPr lang="en-IN" dirty="0"/>
              <a:t>ORDER BY </a:t>
            </a:r>
            <a:r>
              <a:rPr lang="en-IN" dirty="0" err="1"/>
              <a:t>total_revenue_usd</a:t>
            </a:r>
            <a:r>
              <a:rPr lang="en-IN" dirty="0"/>
              <a:t> DESC</a:t>
            </a:r>
          </a:p>
          <a:p>
            <a:pPr>
              <a:defRPr sz="1200">
                <a:solidFill>
                  <a:srgbClr val="E4EFF9"/>
                </a:solidFill>
                <a:latin typeface="Consolas"/>
              </a:defRPr>
            </a:pPr>
            <a:r>
              <a:rPr lang="en-IN" dirty="0"/>
              <a:t>LIMIT 3;</a:t>
            </a:r>
            <a:endParaRPr dirty="0"/>
          </a:p>
        </p:txBody>
      </p:sp>
      <p:sp>
        <p:nvSpPr>
          <p:cNvPr id="18" name="TextBox 17"/>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11</a:t>
            </a:r>
          </a:p>
        </p:txBody>
      </p:sp>
      <p:sp>
        <p:nvSpPr>
          <p:cNvPr id="19" name="Rounded Rectangle 18"/>
          <p:cNvSpPr/>
          <p:nvPr/>
        </p:nvSpPr>
        <p:spPr>
          <a:xfrm>
            <a:off x="7818120" y="1847088"/>
            <a:ext cx="3794760" cy="4069080"/>
          </a:xfrm>
          <a:prstGeom prst="roundRect">
            <a:avLst/>
          </a:prstGeom>
          <a:solidFill>
            <a:srgbClr val="EFF5F7"/>
          </a:solidFill>
          <a:ln>
            <a:solidFill>
              <a:srgbClr val="D2DCE1"/>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defRPr sz="1600" b="1">
                <a:solidFill>
                  <a:srgbClr val="1B2B41"/>
                </a:solidFill>
              </a:defRPr>
            </a:pPr>
            <a:r>
              <a:rPr dirty="0"/>
              <a:t>QUERY RESULTS · SYNTHETIC DATA</a:t>
            </a:r>
            <a:endParaRPr lang="en-IN" dirty="0"/>
          </a:p>
          <a:p>
            <a:pPr algn="ctr">
              <a:defRPr sz="1600" b="1">
                <a:solidFill>
                  <a:srgbClr val="1B2B41"/>
                </a:solidFill>
              </a:defRPr>
            </a:pPr>
            <a:endParaRPr dirty="0"/>
          </a:p>
          <a:p>
            <a:pPr>
              <a:spcAft>
                <a:spcPts val="400"/>
              </a:spcAft>
              <a:defRPr sz="1100">
                <a:solidFill>
                  <a:srgbClr val="2D3748"/>
                </a:solidFill>
              </a:defRPr>
            </a:pPr>
            <a:r>
              <a:rPr dirty="0"/>
              <a:t>Q07 · Top 3 customers by revenue</a:t>
            </a:r>
          </a:p>
          <a:p>
            <a:pPr>
              <a:spcAft>
                <a:spcPts val="400"/>
              </a:spcAft>
              <a:defRPr sz="1100">
                <a:solidFill>
                  <a:srgbClr val="2D3748"/>
                </a:solidFill>
              </a:defRPr>
            </a:pPr>
            <a:r>
              <a:rPr dirty="0"/>
              <a:t>CUST0003: $614</a:t>
            </a:r>
          </a:p>
          <a:p>
            <a:pPr>
              <a:spcAft>
                <a:spcPts val="400"/>
              </a:spcAft>
              <a:defRPr sz="1100">
                <a:solidFill>
                  <a:srgbClr val="2D3748"/>
                </a:solidFill>
              </a:defRPr>
            </a:pPr>
            <a:r>
              <a:rPr dirty="0"/>
              <a:t>CUST1923: $612</a:t>
            </a:r>
          </a:p>
          <a:p>
            <a:pPr>
              <a:spcAft>
                <a:spcPts val="400"/>
              </a:spcAft>
              <a:defRPr sz="1100">
                <a:solidFill>
                  <a:srgbClr val="2D3748"/>
                </a:solidFill>
              </a:defRPr>
            </a:pPr>
            <a:r>
              <a:rPr dirty="0"/>
              <a:t>CUST0468: $505</a:t>
            </a:r>
          </a:p>
        </p:txBody>
      </p:sp>
      <p:sp>
        <p:nvSpPr>
          <p:cNvPr id="20" name="TextBox 19"/>
          <p:cNvSpPr txBox="1"/>
          <p:nvPr/>
        </p:nvSpPr>
        <p:spPr>
          <a:xfrm>
            <a:off x="7973568" y="6080760"/>
            <a:ext cx="3474720" cy="201168"/>
          </a:xfrm>
          <a:prstGeom prst="rect">
            <a:avLst/>
          </a:prstGeom>
          <a:noFill/>
        </p:spPr>
        <p:txBody>
          <a:bodyPr wrap="square" lIns="54864" tIns="36576" rIns="54864" bIns="36576">
            <a:spAutoFit/>
          </a:bodyPr>
          <a:lstStyle/>
          <a:p>
            <a:pPr>
              <a:defRPr sz="800" b="0">
                <a:solidFill>
                  <a:srgbClr val="5A6678"/>
                </a:solidFill>
                <a:latin typeface="Aptos"/>
              </a:defRPr>
            </a:pPr>
            <a:r>
              <a:t>Calculated from companion Excel workbook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a:spAutoFit/>
          </a:bodyPr>
          <a:lstStyle/>
          <a:p>
            <a:pPr>
              <a:spcAft>
                <a:spcPts val="300"/>
              </a:spcAft>
              <a:defRPr sz="1000" b="1">
                <a:solidFill>
                  <a:srgbClr val="149691"/>
                </a:solidFill>
                <a:latin typeface="Aptos"/>
              </a:defRPr>
            </a:pPr>
            <a:r>
              <a:t>08 / SQL BUSINESS QUESTION</a:t>
            </a:r>
          </a:p>
        </p:txBody>
      </p:sp>
      <p:sp>
        <p:nvSpPr>
          <p:cNvPr id="4" name="TextBox 3"/>
          <p:cNvSpPr txBox="1"/>
          <p:nvPr/>
        </p:nvSpPr>
        <p:spPr>
          <a:xfrm>
            <a:off x="502920" y="566928"/>
            <a:ext cx="11155680" cy="502920"/>
          </a:xfrm>
          <a:prstGeom prst="rect">
            <a:avLst/>
          </a:prstGeom>
          <a:noFill/>
        </p:spPr>
        <p:txBody>
          <a:bodyPr wrap="square">
            <a:spAutoFit/>
          </a:bodyPr>
          <a:lstStyle/>
          <a:p>
            <a:pPr>
              <a:spcAft>
                <a:spcPts val="300"/>
              </a:spcAft>
              <a:defRPr sz="2700" b="1">
                <a:solidFill>
                  <a:srgbClr val="121F37"/>
                </a:solidFill>
                <a:latin typeface="Aptos"/>
              </a:defRPr>
            </a:pPr>
            <a:r>
              <a:t>Q08. Orders above a 50% profit margin</a:t>
            </a:r>
          </a:p>
        </p:txBody>
      </p:sp>
      <p:sp>
        <p:nvSpPr>
          <p:cNvPr id="5" name="TextBox 4"/>
          <p:cNvSpPr txBox="1"/>
          <p:nvPr/>
        </p:nvSpPr>
        <p:spPr>
          <a:xfrm>
            <a:off x="530352" y="1078992"/>
            <a:ext cx="10972800" cy="384048"/>
          </a:xfrm>
          <a:prstGeom prst="rect">
            <a:avLst/>
          </a:prstGeom>
          <a:noFill/>
        </p:spPr>
        <p:txBody>
          <a:bodyPr wrap="square">
            <a:spAutoFit/>
          </a:bodyPr>
          <a:lstStyle/>
          <a:p>
            <a:pPr>
              <a:spcAft>
                <a:spcPts val="300"/>
              </a:spcAft>
              <a:defRPr sz="1100" b="0">
                <a:solidFill>
                  <a:srgbClr val="647080"/>
                </a:solidFill>
                <a:latin typeface="Aptos"/>
              </a:defRPr>
            </a:pPr>
            <a:r>
              <a:t>PostgreSQL • adapted from the query/question structure in the supplied Word document</a:t>
            </a:r>
          </a:p>
        </p:txBody>
      </p:sp>
      <p:sp>
        <p:nvSpPr>
          <p:cNvPr id="6" name="Rectangle 5"/>
          <p:cNvSpPr/>
          <p:nvPr/>
        </p:nvSpPr>
        <p:spPr>
          <a:xfrm>
            <a:off x="502920" y="1499616"/>
            <a:ext cx="11155680" cy="2286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1783080"/>
            <a:ext cx="6903720" cy="4251960"/>
          </a:xfrm>
          <a:prstGeom prst="roundRect">
            <a:avLst/>
          </a:prstGeom>
          <a:solidFill>
            <a:srgbClr val="121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20240"/>
            <a:ext cx="6537959" cy="830997"/>
          </a:xfrm>
          <a:prstGeom prst="rect">
            <a:avLst/>
          </a:prstGeom>
          <a:noFill/>
        </p:spPr>
        <p:txBody>
          <a:bodyPr wrap="square">
            <a:spAutoFit/>
          </a:bodyPr>
          <a:lstStyle/>
          <a:p>
            <a:pPr>
              <a:defRPr sz="1200">
                <a:solidFill>
                  <a:srgbClr val="E4EFF9"/>
                </a:solidFill>
                <a:latin typeface="Consolas"/>
              </a:defRPr>
            </a:pPr>
            <a:r>
              <a:rPr lang="en-GB" dirty="0"/>
              <a:t>SELECT *</a:t>
            </a:r>
          </a:p>
          <a:p>
            <a:pPr>
              <a:defRPr sz="1200">
                <a:solidFill>
                  <a:srgbClr val="E4EFF9"/>
                </a:solidFill>
                <a:latin typeface="Consolas"/>
              </a:defRPr>
            </a:pPr>
            <a:r>
              <a:rPr lang="en-GB" dirty="0"/>
              <a:t>FROM </a:t>
            </a:r>
            <a:r>
              <a:rPr lang="en-GB" dirty="0" err="1"/>
              <a:t>ag_details</a:t>
            </a:r>
            <a:endParaRPr lang="en-GB" dirty="0"/>
          </a:p>
          <a:p>
            <a:pPr>
              <a:defRPr sz="1200">
                <a:solidFill>
                  <a:srgbClr val="E4EFF9"/>
                </a:solidFill>
                <a:latin typeface="Consolas"/>
              </a:defRPr>
            </a:pPr>
            <a:r>
              <a:rPr lang="en-GB" dirty="0"/>
              <a:t>WHERE amount &lt;&gt; 0</a:t>
            </a:r>
          </a:p>
          <a:p>
            <a:pPr>
              <a:defRPr sz="1200">
                <a:solidFill>
                  <a:srgbClr val="E4EFF9"/>
                </a:solidFill>
                <a:latin typeface="Consolas"/>
              </a:defRPr>
            </a:pPr>
            <a:r>
              <a:rPr lang="en-GB" dirty="0"/>
              <a:t>  AND (profit * 1.0 / amount) &gt; 0.50;</a:t>
            </a:r>
            <a:endParaRPr dirty="0"/>
          </a:p>
        </p:txBody>
      </p:sp>
      <p:sp>
        <p:nvSpPr>
          <p:cNvPr id="17" name="Rounded Rectangle 16"/>
          <p:cNvSpPr/>
          <p:nvPr/>
        </p:nvSpPr>
        <p:spPr>
          <a:xfrm>
            <a:off x="7818120" y="5303520"/>
            <a:ext cx="3703320" cy="658368"/>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818120" y="5303520"/>
            <a:ext cx="64008" cy="658368"/>
          </a:xfrm>
          <a:prstGeom prst="rect">
            <a:avLst/>
          </a:prstGeom>
          <a:solidFill>
            <a:srgbClr val="AD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01000" y="5440680"/>
            <a:ext cx="3383279" cy="274320"/>
          </a:xfrm>
          <a:prstGeom prst="rect">
            <a:avLst/>
          </a:prstGeom>
          <a:noFill/>
        </p:spPr>
        <p:txBody>
          <a:bodyPr wrap="square">
            <a:spAutoFit/>
          </a:bodyPr>
          <a:lstStyle/>
          <a:p>
            <a:pPr>
              <a:spcAft>
                <a:spcPts val="300"/>
              </a:spcAft>
              <a:defRPr sz="1300" b="1">
                <a:solidFill>
                  <a:srgbClr val="121F37"/>
                </a:solidFill>
                <a:latin typeface="Aptos"/>
              </a:defRPr>
            </a:pPr>
            <a:r>
              <a:t>SOURCE NOTE</a:t>
            </a:r>
          </a:p>
        </p:txBody>
      </p:sp>
      <p:sp>
        <p:nvSpPr>
          <p:cNvPr id="20" name="TextBox 19"/>
          <p:cNvSpPr txBox="1"/>
          <p:nvPr/>
        </p:nvSpPr>
        <p:spPr>
          <a:xfrm>
            <a:off x="8001000" y="6080760"/>
            <a:ext cx="3337560" cy="64007"/>
          </a:xfrm>
          <a:prstGeom prst="rect">
            <a:avLst/>
          </a:prstGeom>
          <a:noFill/>
        </p:spPr>
        <p:txBody>
          <a:bodyPr wrap="square">
            <a:spAutoFit/>
          </a:bodyPr>
          <a:lstStyle/>
          <a:p>
            <a:pPr>
              <a:spcAft>
                <a:spcPts val="300"/>
              </a:spcAft>
              <a:defRPr sz="900" b="0">
                <a:solidFill>
                  <a:srgbClr val="232D3C"/>
                </a:solidFill>
                <a:latin typeface="Aptos"/>
              </a:defRPr>
            </a:pPr>
            <a:r>
              <a:t>Written brief says &gt;50%; screenshot SQL shows &gt;0.53.</a:t>
            </a:r>
          </a:p>
        </p:txBody>
      </p:sp>
      <p:sp>
        <p:nvSpPr>
          <p:cNvPr id="22" name="TextBox 21"/>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12</a:t>
            </a:r>
          </a:p>
        </p:txBody>
      </p:sp>
      <p:sp>
        <p:nvSpPr>
          <p:cNvPr id="23" name="Rounded Rectangle 22"/>
          <p:cNvSpPr/>
          <p:nvPr/>
        </p:nvSpPr>
        <p:spPr>
          <a:xfrm>
            <a:off x="7818120" y="1847088"/>
            <a:ext cx="3794760" cy="4370832"/>
          </a:xfrm>
          <a:prstGeom prst="roundRect">
            <a:avLst/>
          </a:prstGeom>
          <a:solidFill>
            <a:srgbClr val="EFF5F7"/>
          </a:solidFill>
          <a:ln>
            <a:solidFill>
              <a:srgbClr val="D2DCE1"/>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defRPr sz="1600" b="1">
                <a:solidFill>
                  <a:srgbClr val="1B2B41"/>
                </a:solidFill>
              </a:defRPr>
            </a:pPr>
            <a:r>
              <a:rPr dirty="0"/>
              <a:t>QUERY RESULTS · SYNTHETIC DATA</a:t>
            </a:r>
            <a:endParaRPr lang="en-IN" dirty="0"/>
          </a:p>
          <a:p>
            <a:pPr algn="ctr">
              <a:defRPr sz="1600" b="1">
                <a:solidFill>
                  <a:srgbClr val="1B2B41"/>
                </a:solidFill>
              </a:defRPr>
            </a:pPr>
            <a:endParaRPr lang="en-IN" dirty="0"/>
          </a:p>
          <a:p>
            <a:pPr algn="ctr">
              <a:defRPr sz="1600" b="1">
                <a:solidFill>
                  <a:srgbClr val="1B2B41"/>
                </a:solidFill>
              </a:defRPr>
            </a:pPr>
            <a:endParaRPr dirty="0"/>
          </a:p>
          <a:p>
            <a:pPr>
              <a:spcAft>
                <a:spcPts val="400"/>
              </a:spcAft>
              <a:defRPr sz="1100">
                <a:solidFill>
                  <a:srgbClr val="2D3748"/>
                </a:solidFill>
              </a:defRPr>
            </a:pPr>
            <a:r>
              <a:rPr dirty="0"/>
              <a:t>Q08 · Margin above 50%</a:t>
            </a:r>
          </a:p>
          <a:p>
            <a:pPr>
              <a:spcAft>
                <a:spcPts val="400"/>
              </a:spcAft>
              <a:defRPr sz="1100">
                <a:solidFill>
                  <a:srgbClr val="2D3748"/>
                </a:solidFill>
              </a:defRPr>
            </a:pPr>
            <a:r>
              <a:rPr dirty="0"/>
              <a:t>Rows above 50% margin: 25</a:t>
            </a:r>
          </a:p>
          <a:p>
            <a:pPr>
              <a:spcAft>
                <a:spcPts val="400"/>
              </a:spcAft>
              <a:defRPr sz="1100">
                <a:solidFill>
                  <a:srgbClr val="2D3748"/>
                </a:solidFill>
              </a:defRPr>
            </a:pPr>
            <a:r>
              <a:rPr dirty="0"/>
              <a:t>Revenue represented: $2,145</a:t>
            </a:r>
          </a:p>
          <a:p>
            <a:pPr>
              <a:spcAft>
                <a:spcPts val="400"/>
              </a:spcAft>
              <a:defRPr sz="1100">
                <a:solidFill>
                  <a:srgbClr val="2D3748"/>
                </a:solidFill>
              </a:defRPr>
            </a:pPr>
            <a:r>
              <a:rPr dirty="0"/>
              <a:t>Profit represented: $1,276</a:t>
            </a:r>
          </a:p>
        </p:txBody>
      </p:sp>
      <p:sp>
        <p:nvSpPr>
          <p:cNvPr id="24" name="TextBox 23"/>
          <p:cNvSpPr txBox="1"/>
          <p:nvPr/>
        </p:nvSpPr>
        <p:spPr>
          <a:xfrm>
            <a:off x="7973568" y="5989320"/>
            <a:ext cx="3474720" cy="201168"/>
          </a:xfrm>
          <a:prstGeom prst="rect">
            <a:avLst/>
          </a:prstGeom>
          <a:noFill/>
        </p:spPr>
        <p:txBody>
          <a:bodyPr wrap="square" lIns="54864" tIns="36576" rIns="54864" bIns="36576">
            <a:spAutoFit/>
          </a:bodyPr>
          <a:lstStyle/>
          <a:p>
            <a:pPr>
              <a:defRPr sz="800" b="0">
                <a:solidFill>
                  <a:srgbClr val="5A6678"/>
                </a:solidFill>
                <a:latin typeface="Aptos"/>
              </a:defRPr>
            </a:pPr>
            <a:r>
              <a:t>Calculated from companion Excel workbook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a:spAutoFit/>
          </a:bodyPr>
          <a:lstStyle/>
          <a:p>
            <a:pPr>
              <a:spcAft>
                <a:spcPts val="300"/>
              </a:spcAft>
              <a:defRPr sz="1000" b="1">
                <a:solidFill>
                  <a:srgbClr val="149691"/>
                </a:solidFill>
                <a:latin typeface="Aptos"/>
              </a:defRPr>
            </a:pPr>
            <a:r>
              <a:t>09 / SQL BUSINESS QUESTION</a:t>
            </a:r>
          </a:p>
        </p:txBody>
      </p:sp>
      <p:sp>
        <p:nvSpPr>
          <p:cNvPr id="4" name="TextBox 3"/>
          <p:cNvSpPr txBox="1"/>
          <p:nvPr/>
        </p:nvSpPr>
        <p:spPr>
          <a:xfrm>
            <a:off x="502920" y="566928"/>
            <a:ext cx="11155680" cy="502920"/>
          </a:xfrm>
          <a:prstGeom prst="rect">
            <a:avLst/>
          </a:prstGeom>
          <a:noFill/>
        </p:spPr>
        <p:txBody>
          <a:bodyPr wrap="square">
            <a:spAutoFit/>
          </a:bodyPr>
          <a:lstStyle/>
          <a:p>
            <a:pPr>
              <a:spcAft>
                <a:spcPts val="300"/>
              </a:spcAft>
              <a:defRPr sz="2700" b="1">
                <a:solidFill>
                  <a:srgbClr val="121F37"/>
                </a:solidFill>
                <a:latin typeface="Aptos"/>
              </a:defRPr>
            </a:pPr>
            <a:r>
              <a:t>Q09. Gemstone type with highest average margin</a:t>
            </a:r>
          </a:p>
        </p:txBody>
      </p:sp>
      <p:sp>
        <p:nvSpPr>
          <p:cNvPr id="5" name="TextBox 4"/>
          <p:cNvSpPr txBox="1"/>
          <p:nvPr/>
        </p:nvSpPr>
        <p:spPr>
          <a:xfrm>
            <a:off x="530352" y="1078992"/>
            <a:ext cx="10972800" cy="384048"/>
          </a:xfrm>
          <a:prstGeom prst="rect">
            <a:avLst/>
          </a:prstGeom>
          <a:noFill/>
        </p:spPr>
        <p:txBody>
          <a:bodyPr wrap="square">
            <a:spAutoFit/>
          </a:bodyPr>
          <a:lstStyle/>
          <a:p>
            <a:pPr>
              <a:spcAft>
                <a:spcPts val="300"/>
              </a:spcAft>
              <a:defRPr sz="1100" b="0">
                <a:solidFill>
                  <a:srgbClr val="647080"/>
                </a:solidFill>
                <a:latin typeface="Aptos"/>
              </a:defRPr>
            </a:pPr>
            <a:r>
              <a:t>PostgreSQL • adapted from the query/question structure in the supplied Word document</a:t>
            </a:r>
          </a:p>
        </p:txBody>
      </p:sp>
      <p:sp>
        <p:nvSpPr>
          <p:cNvPr id="6" name="Rectangle 5"/>
          <p:cNvSpPr/>
          <p:nvPr/>
        </p:nvSpPr>
        <p:spPr>
          <a:xfrm>
            <a:off x="502920" y="1499616"/>
            <a:ext cx="11155680" cy="2286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1783080"/>
            <a:ext cx="6903720" cy="4251960"/>
          </a:xfrm>
          <a:prstGeom prst="roundRect">
            <a:avLst/>
          </a:prstGeom>
          <a:solidFill>
            <a:srgbClr val="121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20240"/>
            <a:ext cx="6537959" cy="1569660"/>
          </a:xfrm>
          <a:prstGeom prst="rect">
            <a:avLst/>
          </a:prstGeom>
          <a:noFill/>
        </p:spPr>
        <p:txBody>
          <a:bodyPr wrap="square">
            <a:spAutoFit/>
          </a:bodyPr>
          <a:lstStyle/>
          <a:p>
            <a:pPr>
              <a:defRPr sz="1200">
                <a:solidFill>
                  <a:srgbClr val="E4EFF9"/>
                </a:solidFill>
                <a:latin typeface="Consolas"/>
              </a:defRPr>
            </a:pPr>
            <a:r>
              <a:rPr lang="en-GB" dirty="0"/>
              <a:t>SELECT</a:t>
            </a:r>
          </a:p>
          <a:p>
            <a:pPr>
              <a:defRPr sz="1200">
                <a:solidFill>
                  <a:srgbClr val="E4EFF9"/>
                </a:solidFill>
                <a:latin typeface="Consolas"/>
              </a:defRPr>
            </a:pPr>
            <a:r>
              <a:rPr lang="en-GB" dirty="0"/>
              <a:t>    </a:t>
            </a:r>
            <a:r>
              <a:rPr lang="en-GB" dirty="0" err="1"/>
              <a:t>sub_category</a:t>
            </a:r>
            <a:r>
              <a:rPr lang="en-GB" dirty="0"/>
              <a:t>,</a:t>
            </a:r>
          </a:p>
          <a:p>
            <a:pPr>
              <a:defRPr sz="1200">
                <a:solidFill>
                  <a:srgbClr val="E4EFF9"/>
                </a:solidFill>
                <a:latin typeface="Consolas"/>
              </a:defRPr>
            </a:pPr>
            <a:r>
              <a:rPr lang="en-GB" dirty="0"/>
              <a:t>    AVG(profit * 1.0 / NULLIF(amount, 0)) AS </a:t>
            </a:r>
            <a:r>
              <a:rPr lang="en-GB" dirty="0" err="1"/>
              <a:t>avg_profit_margin</a:t>
            </a:r>
            <a:endParaRPr lang="en-GB" dirty="0"/>
          </a:p>
          <a:p>
            <a:pPr>
              <a:defRPr sz="1200">
                <a:solidFill>
                  <a:srgbClr val="E4EFF9"/>
                </a:solidFill>
                <a:latin typeface="Consolas"/>
              </a:defRPr>
            </a:pPr>
            <a:r>
              <a:rPr lang="en-GB" dirty="0"/>
              <a:t>FROM </a:t>
            </a:r>
            <a:r>
              <a:rPr lang="en-GB" dirty="0" err="1"/>
              <a:t>ag_details</a:t>
            </a:r>
            <a:endParaRPr lang="en-GB" dirty="0"/>
          </a:p>
          <a:p>
            <a:pPr>
              <a:defRPr sz="1200">
                <a:solidFill>
                  <a:srgbClr val="E4EFF9"/>
                </a:solidFill>
                <a:latin typeface="Consolas"/>
              </a:defRPr>
            </a:pPr>
            <a:r>
              <a:rPr lang="en-GB" dirty="0"/>
              <a:t>WHERE category = 'Gemstone'</a:t>
            </a:r>
          </a:p>
          <a:p>
            <a:pPr>
              <a:defRPr sz="1200">
                <a:solidFill>
                  <a:srgbClr val="E4EFF9"/>
                </a:solidFill>
                <a:latin typeface="Consolas"/>
              </a:defRPr>
            </a:pPr>
            <a:r>
              <a:rPr lang="en-GB" dirty="0"/>
              <a:t>GROUP BY </a:t>
            </a:r>
            <a:r>
              <a:rPr lang="en-GB" dirty="0" err="1"/>
              <a:t>sub_category</a:t>
            </a:r>
            <a:endParaRPr lang="en-GB" dirty="0"/>
          </a:p>
          <a:p>
            <a:pPr>
              <a:defRPr sz="1200">
                <a:solidFill>
                  <a:srgbClr val="E4EFF9"/>
                </a:solidFill>
                <a:latin typeface="Consolas"/>
              </a:defRPr>
            </a:pPr>
            <a:r>
              <a:rPr lang="en-GB" dirty="0"/>
              <a:t>ORDER BY </a:t>
            </a:r>
            <a:r>
              <a:rPr lang="en-GB" dirty="0" err="1"/>
              <a:t>avg_profit_margin</a:t>
            </a:r>
            <a:r>
              <a:rPr lang="en-GB" dirty="0"/>
              <a:t> DESC</a:t>
            </a:r>
          </a:p>
          <a:p>
            <a:pPr>
              <a:defRPr sz="1200">
                <a:solidFill>
                  <a:srgbClr val="E4EFF9"/>
                </a:solidFill>
                <a:latin typeface="Consolas"/>
              </a:defRPr>
            </a:pPr>
            <a:r>
              <a:rPr lang="en-GB" dirty="0"/>
              <a:t>LIMIT 1;</a:t>
            </a:r>
            <a:endParaRPr dirty="0"/>
          </a:p>
        </p:txBody>
      </p:sp>
      <p:sp>
        <p:nvSpPr>
          <p:cNvPr id="18" name="TextBox 17"/>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13</a:t>
            </a:r>
          </a:p>
        </p:txBody>
      </p:sp>
      <p:sp>
        <p:nvSpPr>
          <p:cNvPr id="19" name="Rounded Rectangle 18"/>
          <p:cNvSpPr/>
          <p:nvPr/>
        </p:nvSpPr>
        <p:spPr>
          <a:xfrm>
            <a:off x="7818120" y="1847088"/>
            <a:ext cx="3794760" cy="4069080"/>
          </a:xfrm>
          <a:prstGeom prst="roundRect">
            <a:avLst/>
          </a:prstGeom>
          <a:solidFill>
            <a:srgbClr val="EFF5F7"/>
          </a:solidFill>
          <a:ln>
            <a:solidFill>
              <a:srgbClr val="D2DCE1"/>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defRPr sz="1600" b="1">
                <a:solidFill>
                  <a:srgbClr val="1B2B41"/>
                </a:solidFill>
              </a:defRPr>
            </a:pPr>
            <a:r>
              <a:t>QUERY RESULTS · SYNTHETIC DATA</a:t>
            </a:r>
          </a:p>
          <a:p>
            <a:pPr>
              <a:spcAft>
                <a:spcPts val="400"/>
              </a:spcAft>
              <a:defRPr sz="1100">
                <a:solidFill>
                  <a:srgbClr val="2D3748"/>
                </a:solidFill>
              </a:defRPr>
            </a:pPr>
            <a:r>
              <a:t>Q09 · Average margin by gemstone</a:t>
            </a:r>
          </a:p>
          <a:p>
            <a:pPr>
              <a:spcAft>
                <a:spcPts val="400"/>
              </a:spcAft>
              <a:defRPr sz="1100">
                <a:solidFill>
                  <a:srgbClr val="2D3748"/>
                </a:solidFill>
              </a:defRPr>
            </a:pPr>
            <a:r>
              <a:t>Sapphire: 19.0%</a:t>
            </a:r>
          </a:p>
          <a:p>
            <a:pPr>
              <a:spcAft>
                <a:spcPts val="400"/>
              </a:spcAft>
              <a:defRPr sz="1100">
                <a:solidFill>
                  <a:srgbClr val="2D3748"/>
                </a:solidFill>
              </a:defRPr>
            </a:pPr>
            <a:r>
              <a:t>Topaz: 17.7%</a:t>
            </a:r>
          </a:p>
          <a:p>
            <a:pPr>
              <a:spcAft>
                <a:spcPts val="400"/>
              </a:spcAft>
              <a:defRPr sz="1100">
                <a:solidFill>
                  <a:srgbClr val="2D3748"/>
                </a:solidFill>
              </a:defRPr>
            </a:pPr>
            <a:r>
              <a:t>Ruby: 16.5%</a:t>
            </a:r>
          </a:p>
          <a:p>
            <a:pPr>
              <a:spcAft>
                <a:spcPts val="400"/>
              </a:spcAft>
              <a:defRPr sz="1100">
                <a:solidFill>
                  <a:srgbClr val="2D3748"/>
                </a:solidFill>
              </a:defRPr>
            </a:pPr>
            <a:r>
              <a:t>Emerald: 15.0%</a:t>
            </a:r>
          </a:p>
          <a:p>
            <a:pPr>
              <a:spcAft>
                <a:spcPts val="400"/>
              </a:spcAft>
              <a:defRPr sz="1100">
                <a:solidFill>
                  <a:srgbClr val="2D3748"/>
                </a:solidFill>
              </a:defRPr>
            </a:pPr>
            <a:r>
              <a:t>Amethyst: 13.7%</a:t>
            </a:r>
          </a:p>
        </p:txBody>
      </p:sp>
      <p:sp>
        <p:nvSpPr>
          <p:cNvPr id="20" name="TextBox 19"/>
          <p:cNvSpPr txBox="1"/>
          <p:nvPr/>
        </p:nvSpPr>
        <p:spPr>
          <a:xfrm>
            <a:off x="7973568" y="6080760"/>
            <a:ext cx="3474720" cy="201168"/>
          </a:xfrm>
          <a:prstGeom prst="rect">
            <a:avLst/>
          </a:prstGeom>
          <a:noFill/>
        </p:spPr>
        <p:txBody>
          <a:bodyPr wrap="square" lIns="54864" tIns="36576" rIns="54864" bIns="36576">
            <a:spAutoFit/>
          </a:bodyPr>
          <a:lstStyle/>
          <a:p>
            <a:pPr>
              <a:defRPr sz="800" b="0">
                <a:solidFill>
                  <a:srgbClr val="5A6678"/>
                </a:solidFill>
                <a:latin typeface="Aptos"/>
              </a:defRPr>
            </a:pPr>
            <a:r>
              <a:t>Calculated from companion Excel workbook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a:spAutoFit/>
          </a:bodyPr>
          <a:lstStyle/>
          <a:p>
            <a:pPr>
              <a:spcAft>
                <a:spcPts val="300"/>
              </a:spcAft>
              <a:defRPr sz="1000" b="1">
                <a:solidFill>
                  <a:srgbClr val="149691"/>
                </a:solidFill>
                <a:latin typeface="Aptos"/>
              </a:defRPr>
            </a:pPr>
            <a:r>
              <a:t>10 / SQL BUSINESS QUESTION</a:t>
            </a:r>
          </a:p>
        </p:txBody>
      </p:sp>
      <p:sp>
        <p:nvSpPr>
          <p:cNvPr id="4" name="TextBox 3"/>
          <p:cNvSpPr txBox="1"/>
          <p:nvPr/>
        </p:nvSpPr>
        <p:spPr>
          <a:xfrm>
            <a:off x="502920" y="566928"/>
            <a:ext cx="11155680" cy="502920"/>
          </a:xfrm>
          <a:prstGeom prst="rect">
            <a:avLst/>
          </a:prstGeom>
          <a:noFill/>
        </p:spPr>
        <p:txBody>
          <a:bodyPr wrap="square">
            <a:spAutoFit/>
          </a:bodyPr>
          <a:lstStyle/>
          <a:p>
            <a:pPr>
              <a:spcAft>
                <a:spcPts val="300"/>
              </a:spcAft>
              <a:defRPr sz="2700" b="1">
                <a:solidFill>
                  <a:srgbClr val="121F37"/>
                </a:solidFill>
                <a:latin typeface="Aptos"/>
              </a:defRPr>
            </a:pPr>
            <a:r>
              <a:t>Q10. Highest-profit order within each gemstone type</a:t>
            </a:r>
          </a:p>
        </p:txBody>
      </p:sp>
      <p:sp>
        <p:nvSpPr>
          <p:cNvPr id="5" name="TextBox 4"/>
          <p:cNvSpPr txBox="1"/>
          <p:nvPr/>
        </p:nvSpPr>
        <p:spPr>
          <a:xfrm>
            <a:off x="530352" y="1078992"/>
            <a:ext cx="10972800" cy="384048"/>
          </a:xfrm>
          <a:prstGeom prst="rect">
            <a:avLst/>
          </a:prstGeom>
          <a:noFill/>
        </p:spPr>
        <p:txBody>
          <a:bodyPr wrap="square">
            <a:spAutoFit/>
          </a:bodyPr>
          <a:lstStyle/>
          <a:p>
            <a:pPr>
              <a:spcAft>
                <a:spcPts val="300"/>
              </a:spcAft>
              <a:defRPr sz="1100" b="0">
                <a:solidFill>
                  <a:srgbClr val="647080"/>
                </a:solidFill>
                <a:latin typeface="Aptos"/>
              </a:defRPr>
            </a:pPr>
            <a:r>
              <a:t>PostgreSQL • adapted from the query/question structure in the supplied Word document</a:t>
            </a:r>
          </a:p>
        </p:txBody>
      </p:sp>
      <p:sp>
        <p:nvSpPr>
          <p:cNvPr id="6" name="Rectangle 5"/>
          <p:cNvSpPr/>
          <p:nvPr/>
        </p:nvSpPr>
        <p:spPr>
          <a:xfrm>
            <a:off x="502920" y="1499616"/>
            <a:ext cx="11155680" cy="2286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1783080"/>
            <a:ext cx="6903720" cy="4251960"/>
          </a:xfrm>
          <a:prstGeom prst="roundRect">
            <a:avLst/>
          </a:prstGeom>
          <a:solidFill>
            <a:srgbClr val="121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20240"/>
            <a:ext cx="6537959" cy="2492990"/>
          </a:xfrm>
          <a:prstGeom prst="rect">
            <a:avLst/>
          </a:prstGeom>
          <a:noFill/>
        </p:spPr>
        <p:txBody>
          <a:bodyPr wrap="square">
            <a:spAutoFit/>
          </a:bodyPr>
          <a:lstStyle/>
          <a:p>
            <a:pPr>
              <a:defRPr sz="1200">
                <a:solidFill>
                  <a:srgbClr val="E4EFF9"/>
                </a:solidFill>
                <a:latin typeface="Consolas"/>
              </a:defRPr>
            </a:pPr>
            <a:r>
              <a:rPr lang="en-IN" dirty="0"/>
              <a:t>SELECT d.*</a:t>
            </a:r>
          </a:p>
          <a:p>
            <a:pPr>
              <a:defRPr sz="1200">
                <a:solidFill>
                  <a:srgbClr val="E4EFF9"/>
                </a:solidFill>
                <a:latin typeface="Consolas"/>
              </a:defRPr>
            </a:pPr>
            <a:r>
              <a:rPr lang="en-IN" dirty="0"/>
              <a:t>FROM </a:t>
            </a:r>
            <a:r>
              <a:rPr lang="en-IN" dirty="0" err="1"/>
              <a:t>ag_details</a:t>
            </a:r>
            <a:r>
              <a:rPr lang="en-IN" dirty="0"/>
              <a:t> d</a:t>
            </a:r>
          </a:p>
          <a:p>
            <a:pPr>
              <a:defRPr sz="1200">
                <a:solidFill>
                  <a:srgbClr val="E4EFF9"/>
                </a:solidFill>
                <a:latin typeface="Consolas"/>
              </a:defRPr>
            </a:pPr>
            <a:r>
              <a:rPr lang="en-IN" dirty="0"/>
              <a:t>JOIN (</a:t>
            </a:r>
          </a:p>
          <a:p>
            <a:pPr>
              <a:defRPr sz="1200">
                <a:solidFill>
                  <a:srgbClr val="E4EFF9"/>
                </a:solidFill>
                <a:latin typeface="Consolas"/>
              </a:defRPr>
            </a:pPr>
            <a:r>
              <a:rPr lang="en-IN" dirty="0"/>
              <a:t>    SELECT</a:t>
            </a:r>
          </a:p>
          <a:p>
            <a:pPr>
              <a:defRPr sz="1200">
                <a:solidFill>
                  <a:srgbClr val="E4EFF9"/>
                </a:solidFill>
                <a:latin typeface="Consolas"/>
              </a:defRPr>
            </a:pPr>
            <a:r>
              <a:rPr lang="en-IN" dirty="0"/>
              <a:t>        </a:t>
            </a:r>
            <a:r>
              <a:rPr lang="en-IN" dirty="0" err="1"/>
              <a:t>sub_category</a:t>
            </a:r>
            <a:r>
              <a:rPr lang="en-IN" dirty="0"/>
              <a:t>,</a:t>
            </a:r>
          </a:p>
          <a:p>
            <a:pPr>
              <a:defRPr sz="1200">
                <a:solidFill>
                  <a:srgbClr val="E4EFF9"/>
                </a:solidFill>
                <a:latin typeface="Consolas"/>
              </a:defRPr>
            </a:pPr>
            <a:r>
              <a:rPr lang="en-IN" dirty="0"/>
              <a:t>        MAX(profit) AS </a:t>
            </a:r>
            <a:r>
              <a:rPr lang="en-IN" dirty="0" err="1"/>
              <a:t>max_profit</a:t>
            </a:r>
            <a:endParaRPr lang="en-IN" dirty="0"/>
          </a:p>
          <a:p>
            <a:pPr>
              <a:defRPr sz="1200">
                <a:solidFill>
                  <a:srgbClr val="E4EFF9"/>
                </a:solidFill>
                <a:latin typeface="Consolas"/>
              </a:defRPr>
            </a:pPr>
            <a:r>
              <a:rPr lang="en-IN" dirty="0"/>
              <a:t>    FROM </a:t>
            </a:r>
            <a:r>
              <a:rPr lang="en-IN" dirty="0" err="1"/>
              <a:t>ag_details</a:t>
            </a:r>
            <a:endParaRPr lang="en-IN" dirty="0"/>
          </a:p>
          <a:p>
            <a:pPr>
              <a:defRPr sz="1200">
                <a:solidFill>
                  <a:srgbClr val="E4EFF9"/>
                </a:solidFill>
                <a:latin typeface="Consolas"/>
              </a:defRPr>
            </a:pPr>
            <a:r>
              <a:rPr lang="en-IN" dirty="0"/>
              <a:t>    WHERE category = 'Gemstone'</a:t>
            </a:r>
          </a:p>
          <a:p>
            <a:pPr>
              <a:defRPr sz="1200">
                <a:solidFill>
                  <a:srgbClr val="E4EFF9"/>
                </a:solidFill>
                <a:latin typeface="Consolas"/>
              </a:defRPr>
            </a:pPr>
            <a:r>
              <a:rPr lang="en-IN" dirty="0"/>
              <a:t>    GROUP BY </a:t>
            </a:r>
            <a:r>
              <a:rPr lang="en-IN" dirty="0" err="1"/>
              <a:t>sub_category</a:t>
            </a:r>
            <a:endParaRPr lang="en-IN" dirty="0"/>
          </a:p>
          <a:p>
            <a:pPr>
              <a:defRPr sz="1200">
                <a:solidFill>
                  <a:srgbClr val="E4EFF9"/>
                </a:solidFill>
                <a:latin typeface="Consolas"/>
              </a:defRPr>
            </a:pPr>
            <a:r>
              <a:rPr lang="en-IN" dirty="0"/>
              <a:t>) x</a:t>
            </a:r>
          </a:p>
          <a:p>
            <a:pPr>
              <a:defRPr sz="1200">
                <a:solidFill>
                  <a:srgbClr val="E4EFF9"/>
                </a:solidFill>
                <a:latin typeface="Consolas"/>
              </a:defRPr>
            </a:pPr>
            <a:r>
              <a:rPr lang="en-IN" dirty="0"/>
              <a:t>    ON </a:t>
            </a:r>
            <a:r>
              <a:rPr lang="en-IN" dirty="0" err="1"/>
              <a:t>d.sub_category</a:t>
            </a:r>
            <a:r>
              <a:rPr lang="en-IN" dirty="0"/>
              <a:t> = </a:t>
            </a:r>
            <a:r>
              <a:rPr lang="en-IN" dirty="0" err="1"/>
              <a:t>x.sub_category</a:t>
            </a:r>
            <a:endParaRPr lang="en-IN" dirty="0"/>
          </a:p>
          <a:p>
            <a:pPr>
              <a:defRPr sz="1200">
                <a:solidFill>
                  <a:srgbClr val="E4EFF9"/>
                </a:solidFill>
                <a:latin typeface="Consolas"/>
              </a:defRPr>
            </a:pPr>
            <a:r>
              <a:rPr lang="en-IN" dirty="0"/>
              <a:t>   AND </a:t>
            </a:r>
            <a:r>
              <a:rPr lang="en-IN" dirty="0" err="1"/>
              <a:t>d.profit</a:t>
            </a:r>
            <a:r>
              <a:rPr lang="en-IN" dirty="0"/>
              <a:t> = </a:t>
            </a:r>
            <a:r>
              <a:rPr lang="en-IN" dirty="0" err="1"/>
              <a:t>x.max_profit</a:t>
            </a:r>
            <a:endParaRPr lang="en-IN" dirty="0"/>
          </a:p>
          <a:p>
            <a:pPr>
              <a:defRPr sz="1200">
                <a:solidFill>
                  <a:srgbClr val="E4EFF9"/>
                </a:solidFill>
                <a:latin typeface="Consolas"/>
              </a:defRPr>
            </a:pPr>
            <a:r>
              <a:rPr lang="en-IN" dirty="0"/>
              <a:t>WHERE </a:t>
            </a:r>
            <a:r>
              <a:rPr lang="en-IN" dirty="0" err="1"/>
              <a:t>d.category</a:t>
            </a:r>
            <a:r>
              <a:rPr lang="en-IN" dirty="0"/>
              <a:t> = 'Gemstone';</a:t>
            </a:r>
            <a:endParaRPr dirty="0"/>
          </a:p>
        </p:txBody>
      </p:sp>
      <p:sp>
        <p:nvSpPr>
          <p:cNvPr id="18" name="TextBox 17"/>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14</a:t>
            </a:r>
          </a:p>
        </p:txBody>
      </p:sp>
      <p:sp>
        <p:nvSpPr>
          <p:cNvPr id="19" name="Rounded Rectangle 18"/>
          <p:cNvSpPr/>
          <p:nvPr/>
        </p:nvSpPr>
        <p:spPr>
          <a:xfrm>
            <a:off x="7818120" y="1847088"/>
            <a:ext cx="3794760" cy="4069080"/>
          </a:xfrm>
          <a:prstGeom prst="roundRect">
            <a:avLst/>
          </a:prstGeom>
          <a:solidFill>
            <a:srgbClr val="EFF5F7"/>
          </a:solidFill>
          <a:ln>
            <a:solidFill>
              <a:srgbClr val="D2DCE1"/>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defRPr sz="1600" b="1">
                <a:solidFill>
                  <a:srgbClr val="1B2B41"/>
                </a:solidFill>
              </a:defRPr>
            </a:pPr>
            <a:r>
              <a:rPr dirty="0"/>
              <a:t>QUERY RESULTS · SYNTHETIC DATA</a:t>
            </a:r>
            <a:endParaRPr lang="en-IN" dirty="0"/>
          </a:p>
          <a:p>
            <a:pPr algn="ctr">
              <a:defRPr sz="1600" b="1">
                <a:solidFill>
                  <a:srgbClr val="1B2B41"/>
                </a:solidFill>
              </a:defRPr>
            </a:pPr>
            <a:endParaRPr lang="en-IN" dirty="0"/>
          </a:p>
          <a:p>
            <a:pPr algn="ctr">
              <a:defRPr sz="1600" b="1">
                <a:solidFill>
                  <a:srgbClr val="1B2B41"/>
                </a:solidFill>
              </a:defRPr>
            </a:pPr>
            <a:endParaRPr dirty="0"/>
          </a:p>
          <a:p>
            <a:pPr>
              <a:spcAft>
                <a:spcPts val="400"/>
              </a:spcAft>
              <a:defRPr sz="1100">
                <a:solidFill>
                  <a:srgbClr val="2D3748"/>
                </a:solidFill>
              </a:defRPr>
            </a:pPr>
            <a:r>
              <a:rPr dirty="0"/>
              <a:t>Q10 · Highest-profit row per gemstone</a:t>
            </a:r>
          </a:p>
          <a:p>
            <a:pPr>
              <a:spcAft>
                <a:spcPts val="400"/>
              </a:spcAft>
              <a:defRPr sz="1100">
                <a:solidFill>
                  <a:srgbClr val="2D3748"/>
                </a:solidFill>
              </a:defRPr>
            </a:pPr>
            <a:r>
              <a:rPr dirty="0"/>
              <a:t>Topaz: profit $72 on $121 sales</a:t>
            </a:r>
          </a:p>
          <a:p>
            <a:pPr>
              <a:spcAft>
                <a:spcPts val="400"/>
              </a:spcAft>
              <a:defRPr sz="1100">
                <a:solidFill>
                  <a:srgbClr val="2D3748"/>
                </a:solidFill>
              </a:defRPr>
            </a:pPr>
            <a:r>
              <a:rPr dirty="0"/>
              <a:t>Sapphire: profit $71 on $119 sales</a:t>
            </a:r>
          </a:p>
          <a:p>
            <a:pPr>
              <a:spcAft>
                <a:spcPts val="400"/>
              </a:spcAft>
              <a:defRPr sz="1100">
                <a:solidFill>
                  <a:srgbClr val="2D3748"/>
                </a:solidFill>
              </a:defRPr>
            </a:pPr>
            <a:r>
              <a:rPr dirty="0"/>
              <a:t>Ruby: profit $67 on $113 sales</a:t>
            </a:r>
          </a:p>
          <a:p>
            <a:pPr>
              <a:spcAft>
                <a:spcPts val="400"/>
              </a:spcAft>
              <a:defRPr sz="1100">
                <a:solidFill>
                  <a:srgbClr val="2D3748"/>
                </a:solidFill>
              </a:defRPr>
            </a:pPr>
            <a:r>
              <a:rPr dirty="0"/>
              <a:t>Emerald: profit $58 on $97 sales</a:t>
            </a:r>
          </a:p>
          <a:p>
            <a:pPr>
              <a:spcAft>
                <a:spcPts val="400"/>
              </a:spcAft>
              <a:defRPr sz="1100">
                <a:solidFill>
                  <a:srgbClr val="2D3748"/>
                </a:solidFill>
              </a:defRPr>
            </a:pPr>
            <a:r>
              <a:rPr dirty="0"/>
              <a:t>Amethyst: profit $54 on $91 sales</a:t>
            </a:r>
          </a:p>
        </p:txBody>
      </p:sp>
      <p:sp>
        <p:nvSpPr>
          <p:cNvPr id="20" name="TextBox 19"/>
          <p:cNvSpPr txBox="1"/>
          <p:nvPr/>
        </p:nvSpPr>
        <p:spPr>
          <a:xfrm>
            <a:off x="7973568" y="6080760"/>
            <a:ext cx="3474720" cy="201168"/>
          </a:xfrm>
          <a:prstGeom prst="rect">
            <a:avLst/>
          </a:prstGeom>
          <a:noFill/>
        </p:spPr>
        <p:txBody>
          <a:bodyPr wrap="square" lIns="54864" tIns="36576" rIns="54864" bIns="36576">
            <a:spAutoFit/>
          </a:bodyPr>
          <a:lstStyle/>
          <a:p>
            <a:pPr>
              <a:defRPr sz="800" b="0">
                <a:solidFill>
                  <a:srgbClr val="5A6678"/>
                </a:solidFill>
                <a:latin typeface="Aptos"/>
              </a:defRPr>
            </a:pPr>
            <a:r>
              <a:t>Calculated from companion Excel workbook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a:spAutoFit/>
          </a:bodyPr>
          <a:lstStyle/>
          <a:p>
            <a:pPr>
              <a:spcAft>
                <a:spcPts val="300"/>
              </a:spcAft>
              <a:defRPr sz="1000" b="1">
                <a:solidFill>
                  <a:srgbClr val="149691"/>
                </a:solidFill>
                <a:latin typeface="Aptos"/>
              </a:defRPr>
            </a:pPr>
            <a:r>
              <a:t>11 / SQL BUSINESS QUESTION</a:t>
            </a:r>
          </a:p>
        </p:txBody>
      </p:sp>
      <p:sp>
        <p:nvSpPr>
          <p:cNvPr id="4" name="TextBox 3"/>
          <p:cNvSpPr txBox="1"/>
          <p:nvPr/>
        </p:nvSpPr>
        <p:spPr>
          <a:xfrm>
            <a:off x="502920" y="566928"/>
            <a:ext cx="11155680" cy="502920"/>
          </a:xfrm>
          <a:prstGeom prst="rect">
            <a:avLst/>
          </a:prstGeom>
          <a:noFill/>
        </p:spPr>
        <p:txBody>
          <a:bodyPr wrap="square">
            <a:spAutoFit/>
          </a:bodyPr>
          <a:lstStyle/>
          <a:p>
            <a:pPr>
              <a:spcAft>
                <a:spcPts val="300"/>
              </a:spcAft>
              <a:defRPr sz="2700" b="1">
                <a:solidFill>
                  <a:srgbClr val="121F37"/>
                </a:solidFill>
                <a:latin typeface="Aptos"/>
              </a:defRPr>
            </a:pPr>
            <a:r>
              <a:t>Q11. Profit by product category</a:t>
            </a:r>
          </a:p>
        </p:txBody>
      </p:sp>
      <p:sp>
        <p:nvSpPr>
          <p:cNvPr id="5" name="TextBox 4"/>
          <p:cNvSpPr txBox="1"/>
          <p:nvPr/>
        </p:nvSpPr>
        <p:spPr>
          <a:xfrm>
            <a:off x="530352" y="1078992"/>
            <a:ext cx="10972800" cy="384048"/>
          </a:xfrm>
          <a:prstGeom prst="rect">
            <a:avLst/>
          </a:prstGeom>
          <a:noFill/>
        </p:spPr>
        <p:txBody>
          <a:bodyPr wrap="square">
            <a:spAutoFit/>
          </a:bodyPr>
          <a:lstStyle/>
          <a:p>
            <a:pPr>
              <a:spcAft>
                <a:spcPts val="300"/>
              </a:spcAft>
              <a:defRPr sz="1100" b="0">
                <a:solidFill>
                  <a:srgbClr val="647080"/>
                </a:solidFill>
                <a:latin typeface="Aptos"/>
              </a:defRPr>
            </a:pPr>
            <a:r>
              <a:t>PostgreSQL • adapted from the query/question structure in the supplied Word document</a:t>
            </a:r>
          </a:p>
        </p:txBody>
      </p:sp>
      <p:sp>
        <p:nvSpPr>
          <p:cNvPr id="6" name="Rectangle 5"/>
          <p:cNvSpPr/>
          <p:nvPr/>
        </p:nvSpPr>
        <p:spPr>
          <a:xfrm>
            <a:off x="502920" y="1499616"/>
            <a:ext cx="11155680" cy="2286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1783080"/>
            <a:ext cx="6903720" cy="4251960"/>
          </a:xfrm>
          <a:prstGeom prst="roundRect">
            <a:avLst/>
          </a:prstGeom>
          <a:solidFill>
            <a:srgbClr val="121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20240"/>
            <a:ext cx="6537959" cy="1200329"/>
          </a:xfrm>
          <a:prstGeom prst="rect">
            <a:avLst/>
          </a:prstGeom>
          <a:noFill/>
        </p:spPr>
        <p:txBody>
          <a:bodyPr wrap="square">
            <a:spAutoFit/>
          </a:bodyPr>
          <a:lstStyle/>
          <a:p>
            <a:pPr>
              <a:defRPr sz="1200">
                <a:solidFill>
                  <a:srgbClr val="E4EFF9"/>
                </a:solidFill>
                <a:latin typeface="Consolas"/>
              </a:defRPr>
            </a:pPr>
            <a:r>
              <a:rPr lang="en-GB" dirty="0"/>
              <a:t>SELECT</a:t>
            </a:r>
          </a:p>
          <a:p>
            <a:pPr>
              <a:defRPr sz="1200">
                <a:solidFill>
                  <a:srgbClr val="E4EFF9"/>
                </a:solidFill>
                <a:latin typeface="Consolas"/>
              </a:defRPr>
            </a:pPr>
            <a:r>
              <a:rPr lang="en-GB" dirty="0"/>
              <a:t>    category,</a:t>
            </a:r>
          </a:p>
          <a:p>
            <a:pPr>
              <a:defRPr sz="1200">
                <a:solidFill>
                  <a:srgbClr val="E4EFF9"/>
                </a:solidFill>
                <a:latin typeface="Consolas"/>
              </a:defRPr>
            </a:pPr>
            <a:r>
              <a:rPr lang="en-GB" dirty="0"/>
              <a:t>    SUM(profit) AS </a:t>
            </a:r>
            <a:r>
              <a:rPr lang="en-GB" dirty="0" err="1"/>
              <a:t>total_profit_usd</a:t>
            </a:r>
            <a:endParaRPr lang="en-GB" dirty="0"/>
          </a:p>
          <a:p>
            <a:pPr>
              <a:defRPr sz="1200">
                <a:solidFill>
                  <a:srgbClr val="E4EFF9"/>
                </a:solidFill>
                <a:latin typeface="Consolas"/>
              </a:defRPr>
            </a:pPr>
            <a:r>
              <a:rPr lang="en-GB" dirty="0"/>
              <a:t>FROM </a:t>
            </a:r>
            <a:r>
              <a:rPr lang="en-GB" dirty="0" err="1"/>
              <a:t>ag_details</a:t>
            </a:r>
            <a:endParaRPr lang="en-GB" dirty="0"/>
          </a:p>
          <a:p>
            <a:pPr>
              <a:defRPr sz="1200">
                <a:solidFill>
                  <a:srgbClr val="E4EFF9"/>
                </a:solidFill>
                <a:latin typeface="Consolas"/>
              </a:defRPr>
            </a:pPr>
            <a:r>
              <a:rPr lang="en-GB" dirty="0"/>
              <a:t>GROUP BY category</a:t>
            </a:r>
          </a:p>
          <a:p>
            <a:pPr>
              <a:defRPr sz="1200">
                <a:solidFill>
                  <a:srgbClr val="E4EFF9"/>
                </a:solidFill>
                <a:latin typeface="Consolas"/>
              </a:defRPr>
            </a:pPr>
            <a:r>
              <a:rPr lang="en-GB" dirty="0"/>
              <a:t>ORDER BY </a:t>
            </a:r>
            <a:r>
              <a:rPr lang="en-GB" dirty="0" err="1"/>
              <a:t>total_profit_usd</a:t>
            </a:r>
            <a:r>
              <a:rPr lang="en-GB" dirty="0"/>
              <a:t> DESC;</a:t>
            </a:r>
            <a:endParaRPr dirty="0"/>
          </a:p>
        </p:txBody>
      </p:sp>
      <p:sp>
        <p:nvSpPr>
          <p:cNvPr id="18" name="TextBox 17"/>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15</a:t>
            </a:r>
          </a:p>
        </p:txBody>
      </p:sp>
      <p:sp>
        <p:nvSpPr>
          <p:cNvPr id="19" name="Rounded Rectangle 18"/>
          <p:cNvSpPr/>
          <p:nvPr/>
        </p:nvSpPr>
        <p:spPr>
          <a:xfrm>
            <a:off x="7818120" y="1847088"/>
            <a:ext cx="3794760" cy="4069080"/>
          </a:xfrm>
          <a:prstGeom prst="roundRect">
            <a:avLst/>
          </a:prstGeom>
          <a:solidFill>
            <a:srgbClr val="EFF5F7"/>
          </a:solidFill>
          <a:ln>
            <a:solidFill>
              <a:srgbClr val="D2DCE1"/>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defRPr sz="1600" b="1">
                <a:solidFill>
                  <a:srgbClr val="1B2B41"/>
                </a:solidFill>
              </a:defRPr>
            </a:pPr>
            <a:r>
              <a:rPr dirty="0"/>
              <a:t>QUERY RESULTS · SYNTHETIC DATA</a:t>
            </a:r>
            <a:endParaRPr lang="en-IN" dirty="0"/>
          </a:p>
          <a:p>
            <a:pPr algn="ctr">
              <a:defRPr sz="1600" b="1">
                <a:solidFill>
                  <a:srgbClr val="1B2B41"/>
                </a:solidFill>
              </a:defRPr>
            </a:pPr>
            <a:endParaRPr lang="en-IN" dirty="0"/>
          </a:p>
          <a:p>
            <a:pPr algn="ctr">
              <a:defRPr sz="1600" b="1">
                <a:solidFill>
                  <a:srgbClr val="1B2B41"/>
                </a:solidFill>
              </a:defRPr>
            </a:pPr>
            <a:endParaRPr dirty="0"/>
          </a:p>
          <a:p>
            <a:pPr>
              <a:spcAft>
                <a:spcPts val="400"/>
              </a:spcAft>
              <a:defRPr sz="1100">
                <a:solidFill>
                  <a:srgbClr val="2D3748"/>
                </a:solidFill>
              </a:defRPr>
            </a:pPr>
            <a:r>
              <a:rPr dirty="0"/>
              <a:t>Q11 · Profit by category</a:t>
            </a:r>
          </a:p>
          <a:p>
            <a:pPr>
              <a:spcAft>
                <a:spcPts val="400"/>
              </a:spcAft>
              <a:defRPr sz="1100">
                <a:solidFill>
                  <a:srgbClr val="2D3748"/>
                </a:solidFill>
              </a:defRPr>
            </a:pPr>
            <a:r>
              <a:rPr dirty="0"/>
              <a:t>Gemstone: $41,200</a:t>
            </a:r>
          </a:p>
          <a:p>
            <a:pPr>
              <a:spcAft>
                <a:spcPts val="400"/>
              </a:spcAft>
              <a:defRPr sz="1100">
                <a:solidFill>
                  <a:srgbClr val="2D3748"/>
                </a:solidFill>
              </a:defRPr>
            </a:pPr>
            <a:r>
              <a:rPr dirty="0"/>
              <a:t>Use sub-category for a more useful product comparison.</a:t>
            </a:r>
          </a:p>
        </p:txBody>
      </p:sp>
      <p:sp>
        <p:nvSpPr>
          <p:cNvPr id="20" name="TextBox 19"/>
          <p:cNvSpPr txBox="1"/>
          <p:nvPr/>
        </p:nvSpPr>
        <p:spPr>
          <a:xfrm>
            <a:off x="7973568" y="6080760"/>
            <a:ext cx="3474720" cy="201168"/>
          </a:xfrm>
          <a:prstGeom prst="rect">
            <a:avLst/>
          </a:prstGeom>
          <a:noFill/>
        </p:spPr>
        <p:txBody>
          <a:bodyPr wrap="square" lIns="54864" tIns="36576" rIns="54864" bIns="36576">
            <a:spAutoFit/>
          </a:bodyPr>
          <a:lstStyle/>
          <a:p>
            <a:pPr>
              <a:defRPr sz="800" b="0">
                <a:solidFill>
                  <a:srgbClr val="5A6678"/>
                </a:solidFill>
                <a:latin typeface="Aptos"/>
              </a:defRPr>
            </a:pPr>
            <a:r>
              <a:t>Calculated from companion Excel workbook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a:spAutoFit/>
          </a:bodyPr>
          <a:lstStyle/>
          <a:p>
            <a:pPr>
              <a:spcAft>
                <a:spcPts val="300"/>
              </a:spcAft>
              <a:defRPr sz="1000" b="1">
                <a:solidFill>
                  <a:srgbClr val="149691"/>
                </a:solidFill>
                <a:latin typeface="Aptos"/>
              </a:defRPr>
            </a:pPr>
            <a:r>
              <a:t>12 / SQL BUSINESS QUESTION</a:t>
            </a:r>
          </a:p>
        </p:txBody>
      </p:sp>
      <p:sp>
        <p:nvSpPr>
          <p:cNvPr id="4" name="TextBox 3"/>
          <p:cNvSpPr txBox="1"/>
          <p:nvPr/>
        </p:nvSpPr>
        <p:spPr>
          <a:xfrm>
            <a:off x="502920" y="566928"/>
            <a:ext cx="11155680" cy="502920"/>
          </a:xfrm>
          <a:prstGeom prst="rect">
            <a:avLst/>
          </a:prstGeom>
          <a:noFill/>
        </p:spPr>
        <p:txBody>
          <a:bodyPr wrap="square">
            <a:spAutoFit/>
          </a:bodyPr>
          <a:lstStyle/>
          <a:p>
            <a:pPr>
              <a:spcAft>
                <a:spcPts val="300"/>
              </a:spcAft>
              <a:defRPr sz="2700" b="1">
                <a:solidFill>
                  <a:srgbClr val="121F37"/>
                </a:solidFill>
                <a:latin typeface="Aptos"/>
              </a:defRPr>
            </a:pPr>
            <a:r>
              <a:t>Q12. Top 5 customers by total spend</a:t>
            </a:r>
          </a:p>
        </p:txBody>
      </p:sp>
      <p:sp>
        <p:nvSpPr>
          <p:cNvPr id="5" name="TextBox 4"/>
          <p:cNvSpPr txBox="1"/>
          <p:nvPr/>
        </p:nvSpPr>
        <p:spPr>
          <a:xfrm>
            <a:off x="530352" y="1078992"/>
            <a:ext cx="10972800" cy="384048"/>
          </a:xfrm>
          <a:prstGeom prst="rect">
            <a:avLst/>
          </a:prstGeom>
          <a:noFill/>
        </p:spPr>
        <p:txBody>
          <a:bodyPr wrap="square">
            <a:spAutoFit/>
          </a:bodyPr>
          <a:lstStyle/>
          <a:p>
            <a:pPr>
              <a:spcAft>
                <a:spcPts val="300"/>
              </a:spcAft>
              <a:defRPr sz="1100" b="0">
                <a:solidFill>
                  <a:srgbClr val="647080"/>
                </a:solidFill>
                <a:latin typeface="Aptos"/>
              </a:defRPr>
            </a:pPr>
            <a:r>
              <a:t>PostgreSQL • adapted from the query/question structure in the supplied Word document</a:t>
            </a:r>
          </a:p>
        </p:txBody>
      </p:sp>
      <p:sp>
        <p:nvSpPr>
          <p:cNvPr id="6" name="Rectangle 5"/>
          <p:cNvSpPr/>
          <p:nvPr/>
        </p:nvSpPr>
        <p:spPr>
          <a:xfrm>
            <a:off x="502920" y="1499616"/>
            <a:ext cx="11155680" cy="2286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1783080"/>
            <a:ext cx="6903720" cy="4251960"/>
          </a:xfrm>
          <a:prstGeom prst="roundRect">
            <a:avLst/>
          </a:prstGeom>
          <a:solidFill>
            <a:srgbClr val="121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20240"/>
            <a:ext cx="6537959" cy="1754326"/>
          </a:xfrm>
          <a:prstGeom prst="rect">
            <a:avLst/>
          </a:prstGeom>
          <a:noFill/>
        </p:spPr>
        <p:txBody>
          <a:bodyPr wrap="square">
            <a:spAutoFit/>
          </a:bodyPr>
          <a:lstStyle/>
          <a:p>
            <a:pPr>
              <a:defRPr sz="1200">
                <a:solidFill>
                  <a:srgbClr val="E4EFF9"/>
                </a:solidFill>
                <a:latin typeface="Consolas"/>
              </a:defRPr>
            </a:pPr>
            <a:r>
              <a:rPr lang="en-IN" dirty="0"/>
              <a:t>SELECT</a:t>
            </a:r>
          </a:p>
          <a:p>
            <a:pPr>
              <a:defRPr sz="1200">
                <a:solidFill>
                  <a:srgbClr val="E4EFF9"/>
                </a:solidFill>
                <a:latin typeface="Consolas"/>
              </a:defRPr>
            </a:pPr>
            <a:r>
              <a:rPr lang="en-IN" dirty="0"/>
              <a:t>    </a:t>
            </a:r>
            <a:r>
              <a:rPr lang="en-IN" dirty="0" err="1"/>
              <a:t>o.customer_id</a:t>
            </a:r>
            <a:r>
              <a:rPr lang="en-IN" dirty="0"/>
              <a:t>,</a:t>
            </a:r>
          </a:p>
          <a:p>
            <a:pPr>
              <a:defRPr sz="1200">
                <a:solidFill>
                  <a:srgbClr val="E4EFF9"/>
                </a:solidFill>
                <a:latin typeface="Consolas"/>
              </a:defRPr>
            </a:pPr>
            <a:r>
              <a:rPr lang="en-IN" dirty="0"/>
              <a:t>    SUM(</a:t>
            </a:r>
            <a:r>
              <a:rPr lang="en-IN" dirty="0" err="1"/>
              <a:t>d.amount</a:t>
            </a:r>
            <a:r>
              <a:rPr lang="en-IN" dirty="0"/>
              <a:t>) AS </a:t>
            </a:r>
            <a:r>
              <a:rPr lang="en-IN" dirty="0" err="1"/>
              <a:t>total_amount_spent_usd</a:t>
            </a:r>
            <a:endParaRPr lang="en-IN" dirty="0"/>
          </a:p>
          <a:p>
            <a:pPr>
              <a:defRPr sz="1200">
                <a:solidFill>
                  <a:srgbClr val="E4EFF9"/>
                </a:solidFill>
                <a:latin typeface="Consolas"/>
              </a:defRPr>
            </a:pPr>
            <a:r>
              <a:rPr lang="en-IN" dirty="0"/>
              <a:t>FROM </a:t>
            </a:r>
            <a:r>
              <a:rPr lang="en-IN" dirty="0" err="1"/>
              <a:t>ag_orders</a:t>
            </a:r>
            <a:r>
              <a:rPr lang="en-IN" dirty="0"/>
              <a:t> o</a:t>
            </a:r>
          </a:p>
          <a:p>
            <a:pPr>
              <a:defRPr sz="1200">
                <a:solidFill>
                  <a:srgbClr val="E4EFF9"/>
                </a:solidFill>
                <a:latin typeface="Consolas"/>
              </a:defRPr>
            </a:pPr>
            <a:r>
              <a:rPr lang="en-IN" dirty="0"/>
              <a:t>JOIN </a:t>
            </a:r>
            <a:r>
              <a:rPr lang="en-IN" dirty="0" err="1"/>
              <a:t>ag_details</a:t>
            </a:r>
            <a:r>
              <a:rPr lang="en-IN" dirty="0"/>
              <a:t> d</a:t>
            </a:r>
          </a:p>
          <a:p>
            <a:pPr>
              <a:defRPr sz="1200">
                <a:solidFill>
                  <a:srgbClr val="E4EFF9"/>
                </a:solidFill>
                <a:latin typeface="Consolas"/>
              </a:defRPr>
            </a:pPr>
            <a:r>
              <a:rPr lang="en-IN" dirty="0"/>
              <a:t>    ON </a:t>
            </a:r>
            <a:r>
              <a:rPr lang="en-IN" dirty="0" err="1"/>
              <a:t>o.order_id</a:t>
            </a:r>
            <a:r>
              <a:rPr lang="en-IN" dirty="0"/>
              <a:t> = </a:t>
            </a:r>
            <a:r>
              <a:rPr lang="en-IN" dirty="0" err="1"/>
              <a:t>d.order_id</a:t>
            </a:r>
            <a:endParaRPr lang="en-IN" dirty="0"/>
          </a:p>
          <a:p>
            <a:pPr>
              <a:defRPr sz="1200">
                <a:solidFill>
                  <a:srgbClr val="E4EFF9"/>
                </a:solidFill>
                <a:latin typeface="Consolas"/>
              </a:defRPr>
            </a:pPr>
            <a:r>
              <a:rPr lang="en-IN" dirty="0"/>
              <a:t>GROUP BY </a:t>
            </a:r>
            <a:r>
              <a:rPr lang="en-IN" dirty="0" err="1"/>
              <a:t>o.customer_id</a:t>
            </a:r>
            <a:endParaRPr lang="en-IN" dirty="0"/>
          </a:p>
          <a:p>
            <a:pPr>
              <a:defRPr sz="1200">
                <a:solidFill>
                  <a:srgbClr val="E4EFF9"/>
                </a:solidFill>
                <a:latin typeface="Consolas"/>
              </a:defRPr>
            </a:pPr>
            <a:r>
              <a:rPr lang="en-IN" dirty="0"/>
              <a:t>ORDER BY </a:t>
            </a:r>
            <a:r>
              <a:rPr lang="en-IN" dirty="0" err="1"/>
              <a:t>total_amount_spent_usd</a:t>
            </a:r>
            <a:r>
              <a:rPr lang="en-IN" dirty="0"/>
              <a:t> DESC</a:t>
            </a:r>
          </a:p>
          <a:p>
            <a:pPr>
              <a:defRPr sz="1200">
                <a:solidFill>
                  <a:srgbClr val="E4EFF9"/>
                </a:solidFill>
                <a:latin typeface="Consolas"/>
              </a:defRPr>
            </a:pPr>
            <a:r>
              <a:rPr lang="en-IN" dirty="0"/>
              <a:t>LIMIT 5;</a:t>
            </a:r>
            <a:endParaRPr dirty="0"/>
          </a:p>
        </p:txBody>
      </p:sp>
      <p:sp>
        <p:nvSpPr>
          <p:cNvPr id="18" name="TextBox 17"/>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16</a:t>
            </a:r>
          </a:p>
        </p:txBody>
      </p:sp>
      <p:sp>
        <p:nvSpPr>
          <p:cNvPr id="19" name="Rounded Rectangle 18"/>
          <p:cNvSpPr/>
          <p:nvPr/>
        </p:nvSpPr>
        <p:spPr>
          <a:xfrm>
            <a:off x="7818120" y="1847088"/>
            <a:ext cx="3794760" cy="4069080"/>
          </a:xfrm>
          <a:prstGeom prst="roundRect">
            <a:avLst/>
          </a:prstGeom>
          <a:solidFill>
            <a:srgbClr val="EFF5F7"/>
          </a:solidFill>
          <a:ln>
            <a:solidFill>
              <a:srgbClr val="D2DCE1"/>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defRPr sz="1600" b="1">
                <a:solidFill>
                  <a:srgbClr val="1B2B41"/>
                </a:solidFill>
              </a:defRPr>
            </a:pPr>
            <a:r>
              <a:rPr dirty="0"/>
              <a:t>QUERY RESULTS · SYNTHETIC DATA</a:t>
            </a:r>
            <a:endParaRPr lang="en-IN" dirty="0"/>
          </a:p>
          <a:p>
            <a:pPr algn="ctr">
              <a:defRPr sz="1600" b="1">
                <a:solidFill>
                  <a:srgbClr val="1B2B41"/>
                </a:solidFill>
              </a:defRPr>
            </a:pPr>
            <a:endParaRPr lang="en-IN" dirty="0"/>
          </a:p>
          <a:p>
            <a:pPr algn="ctr">
              <a:defRPr sz="1600" b="1">
                <a:solidFill>
                  <a:srgbClr val="1B2B41"/>
                </a:solidFill>
              </a:defRPr>
            </a:pPr>
            <a:endParaRPr dirty="0"/>
          </a:p>
          <a:p>
            <a:pPr>
              <a:spcAft>
                <a:spcPts val="400"/>
              </a:spcAft>
              <a:defRPr sz="1100">
                <a:solidFill>
                  <a:srgbClr val="2D3748"/>
                </a:solidFill>
              </a:defRPr>
            </a:pPr>
            <a:r>
              <a:rPr dirty="0"/>
              <a:t>Q12 · Top 5 customers by spend</a:t>
            </a:r>
          </a:p>
          <a:p>
            <a:pPr>
              <a:spcAft>
                <a:spcPts val="400"/>
              </a:spcAft>
              <a:defRPr sz="1100">
                <a:solidFill>
                  <a:srgbClr val="2D3748"/>
                </a:solidFill>
              </a:defRPr>
            </a:pPr>
            <a:r>
              <a:rPr dirty="0"/>
              <a:t>CUST0003: $614</a:t>
            </a:r>
          </a:p>
          <a:p>
            <a:pPr>
              <a:spcAft>
                <a:spcPts val="400"/>
              </a:spcAft>
              <a:defRPr sz="1100">
                <a:solidFill>
                  <a:srgbClr val="2D3748"/>
                </a:solidFill>
              </a:defRPr>
            </a:pPr>
            <a:r>
              <a:rPr dirty="0"/>
              <a:t>CUST1923: $612</a:t>
            </a:r>
          </a:p>
          <a:p>
            <a:pPr>
              <a:spcAft>
                <a:spcPts val="400"/>
              </a:spcAft>
              <a:defRPr sz="1100">
                <a:solidFill>
                  <a:srgbClr val="2D3748"/>
                </a:solidFill>
              </a:defRPr>
            </a:pPr>
            <a:r>
              <a:rPr dirty="0"/>
              <a:t>CUST0468: $505</a:t>
            </a:r>
          </a:p>
          <a:p>
            <a:pPr>
              <a:spcAft>
                <a:spcPts val="400"/>
              </a:spcAft>
              <a:defRPr sz="1100">
                <a:solidFill>
                  <a:srgbClr val="2D3748"/>
                </a:solidFill>
              </a:defRPr>
            </a:pPr>
            <a:r>
              <a:rPr dirty="0"/>
              <a:t>CUST2060: $499</a:t>
            </a:r>
          </a:p>
          <a:p>
            <a:pPr>
              <a:spcAft>
                <a:spcPts val="400"/>
              </a:spcAft>
              <a:defRPr sz="1100">
                <a:solidFill>
                  <a:srgbClr val="2D3748"/>
                </a:solidFill>
              </a:defRPr>
            </a:pPr>
            <a:r>
              <a:rPr dirty="0"/>
              <a:t>CUST0028: $488</a:t>
            </a:r>
          </a:p>
        </p:txBody>
      </p:sp>
      <p:sp>
        <p:nvSpPr>
          <p:cNvPr id="20" name="TextBox 19"/>
          <p:cNvSpPr txBox="1"/>
          <p:nvPr/>
        </p:nvSpPr>
        <p:spPr>
          <a:xfrm>
            <a:off x="7973568" y="6080760"/>
            <a:ext cx="3474720" cy="201168"/>
          </a:xfrm>
          <a:prstGeom prst="rect">
            <a:avLst/>
          </a:prstGeom>
          <a:noFill/>
        </p:spPr>
        <p:txBody>
          <a:bodyPr wrap="square" lIns="54864" tIns="36576" rIns="54864" bIns="36576">
            <a:spAutoFit/>
          </a:bodyPr>
          <a:lstStyle/>
          <a:p>
            <a:pPr>
              <a:defRPr sz="800" b="0">
                <a:solidFill>
                  <a:srgbClr val="5A6678"/>
                </a:solidFill>
                <a:latin typeface="Aptos"/>
              </a:defRPr>
            </a:pPr>
            <a:r>
              <a:t>Calculated from companion Excel workbook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a:spAutoFit/>
          </a:bodyPr>
          <a:lstStyle/>
          <a:p>
            <a:pPr>
              <a:spcAft>
                <a:spcPts val="300"/>
              </a:spcAft>
              <a:defRPr sz="1000" b="1">
                <a:solidFill>
                  <a:srgbClr val="149691"/>
                </a:solidFill>
                <a:latin typeface="Aptos"/>
              </a:defRPr>
            </a:pPr>
            <a:r>
              <a:t>13 / SQL BUSINESS QUESTION</a:t>
            </a:r>
          </a:p>
        </p:txBody>
      </p:sp>
      <p:sp>
        <p:nvSpPr>
          <p:cNvPr id="4" name="TextBox 3"/>
          <p:cNvSpPr txBox="1"/>
          <p:nvPr/>
        </p:nvSpPr>
        <p:spPr>
          <a:xfrm>
            <a:off x="502920" y="566928"/>
            <a:ext cx="11155680" cy="502920"/>
          </a:xfrm>
          <a:prstGeom prst="rect">
            <a:avLst/>
          </a:prstGeom>
          <a:noFill/>
        </p:spPr>
        <p:txBody>
          <a:bodyPr wrap="square">
            <a:spAutoFit/>
          </a:bodyPr>
          <a:lstStyle/>
          <a:p>
            <a:pPr>
              <a:spcAft>
                <a:spcPts val="300"/>
              </a:spcAft>
              <a:defRPr sz="2700" b="1">
                <a:solidFill>
                  <a:srgbClr val="121F37"/>
                </a:solidFill>
                <a:latin typeface="Aptos"/>
              </a:defRPr>
            </a:pPr>
            <a:r>
              <a:t>Q13. Profit by gemstone sub-category</a:t>
            </a:r>
          </a:p>
        </p:txBody>
      </p:sp>
      <p:sp>
        <p:nvSpPr>
          <p:cNvPr id="5" name="TextBox 4"/>
          <p:cNvSpPr txBox="1"/>
          <p:nvPr/>
        </p:nvSpPr>
        <p:spPr>
          <a:xfrm>
            <a:off x="530352" y="1078992"/>
            <a:ext cx="10972800" cy="384048"/>
          </a:xfrm>
          <a:prstGeom prst="rect">
            <a:avLst/>
          </a:prstGeom>
          <a:noFill/>
        </p:spPr>
        <p:txBody>
          <a:bodyPr wrap="square">
            <a:spAutoFit/>
          </a:bodyPr>
          <a:lstStyle/>
          <a:p>
            <a:pPr>
              <a:spcAft>
                <a:spcPts val="300"/>
              </a:spcAft>
              <a:defRPr sz="1100" b="0">
                <a:solidFill>
                  <a:srgbClr val="647080"/>
                </a:solidFill>
                <a:latin typeface="Aptos"/>
              </a:defRPr>
            </a:pPr>
            <a:r>
              <a:t>PostgreSQL • adapted from the query/question structure in the supplied Word document</a:t>
            </a:r>
          </a:p>
        </p:txBody>
      </p:sp>
      <p:sp>
        <p:nvSpPr>
          <p:cNvPr id="6" name="Rectangle 5"/>
          <p:cNvSpPr/>
          <p:nvPr/>
        </p:nvSpPr>
        <p:spPr>
          <a:xfrm>
            <a:off x="502920" y="1499616"/>
            <a:ext cx="11155680" cy="2286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1783080"/>
            <a:ext cx="6903720" cy="4251960"/>
          </a:xfrm>
          <a:prstGeom prst="roundRect">
            <a:avLst/>
          </a:prstGeom>
          <a:solidFill>
            <a:srgbClr val="121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20240"/>
            <a:ext cx="6537959" cy="1384995"/>
          </a:xfrm>
          <a:prstGeom prst="rect">
            <a:avLst/>
          </a:prstGeom>
          <a:noFill/>
        </p:spPr>
        <p:txBody>
          <a:bodyPr wrap="square">
            <a:spAutoFit/>
          </a:bodyPr>
          <a:lstStyle/>
          <a:p>
            <a:pPr>
              <a:defRPr sz="1200">
                <a:solidFill>
                  <a:srgbClr val="E4EFF9"/>
                </a:solidFill>
                <a:latin typeface="Consolas"/>
              </a:defRPr>
            </a:pPr>
            <a:r>
              <a:rPr lang="en-GB" dirty="0"/>
              <a:t>SELECT</a:t>
            </a:r>
          </a:p>
          <a:p>
            <a:pPr>
              <a:defRPr sz="1200">
                <a:solidFill>
                  <a:srgbClr val="E4EFF9"/>
                </a:solidFill>
                <a:latin typeface="Consolas"/>
              </a:defRPr>
            </a:pPr>
            <a:r>
              <a:rPr lang="en-GB" dirty="0"/>
              <a:t>    </a:t>
            </a:r>
            <a:r>
              <a:rPr lang="en-GB" dirty="0" err="1"/>
              <a:t>sub_category</a:t>
            </a:r>
            <a:r>
              <a:rPr lang="en-GB" dirty="0"/>
              <a:t>,</a:t>
            </a:r>
          </a:p>
          <a:p>
            <a:pPr>
              <a:defRPr sz="1200">
                <a:solidFill>
                  <a:srgbClr val="E4EFF9"/>
                </a:solidFill>
                <a:latin typeface="Consolas"/>
              </a:defRPr>
            </a:pPr>
            <a:r>
              <a:rPr lang="en-GB" dirty="0"/>
              <a:t>    SUM(profit) AS </a:t>
            </a:r>
            <a:r>
              <a:rPr lang="en-GB" dirty="0" err="1"/>
              <a:t>total_profit_usd</a:t>
            </a:r>
            <a:endParaRPr lang="en-GB" dirty="0"/>
          </a:p>
          <a:p>
            <a:pPr>
              <a:defRPr sz="1200">
                <a:solidFill>
                  <a:srgbClr val="E4EFF9"/>
                </a:solidFill>
                <a:latin typeface="Consolas"/>
              </a:defRPr>
            </a:pPr>
            <a:r>
              <a:rPr lang="en-GB" dirty="0"/>
              <a:t>FROM </a:t>
            </a:r>
            <a:r>
              <a:rPr lang="en-GB" dirty="0" err="1"/>
              <a:t>ag_details</a:t>
            </a:r>
            <a:endParaRPr lang="en-GB" dirty="0"/>
          </a:p>
          <a:p>
            <a:pPr>
              <a:defRPr sz="1200">
                <a:solidFill>
                  <a:srgbClr val="E4EFF9"/>
                </a:solidFill>
                <a:latin typeface="Consolas"/>
              </a:defRPr>
            </a:pPr>
            <a:r>
              <a:rPr lang="en-GB" dirty="0"/>
              <a:t>WHERE category = 'Gemstone'</a:t>
            </a:r>
          </a:p>
          <a:p>
            <a:pPr>
              <a:defRPr sz="1200">
                <a:solidFill>
                  <a:srgbClr val="E4EFF9"/>
                </a:solidFill>
                <a:latin typeface="Consolas"/>
              </a:defRPr>
            </a:pPr>
            <a:r>
              <a:rPr lang="en-GB" dirty="0"/>
              <a:t>GROUP BY </a:t>
            </a:r>
            <a:r>
              <a:rPr lang="en-GB" dirty="0" err="1"/>
              <a:t>sub_category</a:t>
            </a:r>
            <a:endParaRPr lang="en-GB" dirty="0"/>
          </a:p>
          <a:p>
            <a:pPr>
              <a:defRPr sz="1200">
                <a:solidFill>
                  <a:srgbClr val="E4EFF9"/>
                </a:solidFill>
                <a:latin typeface="Consolas"/>
              </a:defRPr>
            </a:pPr>
            <a:r>
              <a:rPr lang="en-GB" dirty="0"/>
              <a:t>ORDER BY </a:t>
            </a:r>
            <a:r>
              <a:rPr lang="en-GB" dirty="0" err="1"/>
              <a:t>total_profit_usd</a:t>
            </a:r>
            <a:r>
              <a:rPr lang="en-GB" dirty="0"/>
              <a:t> DESC;</a:t>
            </a:r>
            <a:endParaRPr dirty="0"/>
          </a:p>
        </p:txBody>
      </p:sp>
      <p:sp>
        <p:nvSpPr>
          <p:cNvPr id="18" name="TextBox 17"/>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17</a:t>
            </a:r>
          </a:p>
        </p:txBody>
      </p:sp>
      <p:sp>
        <p:nvSpPr>
          <p:cNvPr id="19" name="Rounded Rectangle 18"/>
          <p:cNvSpPr/>
          <p:nvPr/>
        </p:nvSpPr>
        <p:spPr>
          <a:xfrm>
            <a:off x="7818120" y="1847088"/>
            <a:ext cx="3794760" cy="4069080"/>
          </a:xfrm>
          <a:prstGeom prst="roundRect">
            <a:avLst/>
          </a:prstGeom>
          <a:solidFill>
            <a:srgbClr val="EFF5F7"/>
          </a:solidFill>
          <a:ln>
            <a:solidFill>
              <a:srgbClr val="D2DCE1"/>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defRPr sz="1600" b="1">
                <a:solidFill>
                  <a:srgbClr val="1B2B41"/>
                </a:solidFill>
              </a:defRPr>
            </a:pPr>
            <a:r>
              <a:rPr dirty="0"/>
              <a:t>QUERY RESULTS · SYNTHETIC DATA</a:t>
            </a:r>
            <a:endParaRPr lang="en-IN" dirty="0"/>
          </a:p>
          <a:p>
            <a:pPr algn="ctr">
              <a:defRPr sz="1600" b="1">
                <a:solidFill>
                  <a:srgbClr val="1B2B41"/>
                </a:solidFill>
              </a:defRPr>
            </a:pPr>
            <a:endParaRPr lang="en-IN" dirty="0"/>
          </a:p>
          <a:p>
            <a:pPr algn="ctr">
              <a:defRPr sz="1600" b="1">
                <a:solidFill>
                  <a:srgbClr val="1B2B41"/>
                </a:solidFill>
              </a:defRPr>
            </a:pPr>
            <a:endParaRPr dirty="0"/>
          </a:p>
          <a:p>
            <a:pPr>
              <a:spcAft>
                <a:spcPts val="400"/>
              </a:spcAft>
              <a:defRPr sz="1100">
                <a:solidFill>
                  <a:srgbClr val="2D3748"/>
                </a:solidFill>
              </a:defRPr>
            </a:pPr>
            <a:r>
              <a:rPr dirty="0"/>
              <a:t>Q13 · Profit by gemstone</a:t>
            </a:r>
          </a:p>
          <a:p>
            <a:pPr>
              <a:spcAft>
                <a:spcPts val="400"/>
              </a:spcAft>
              <a:defRPr sz="1100">
                <a:solidFill>
                  <a:srgbClr val="2D3748"/>
                </a:solidFill>
              </a:defRPr>
            </a:pPr>
            <a:r>
              <a:rPr dirty="0"/>
              <a:t>Sapphire: $11,200</a:t>
            </a:r>
          </a:p>
          <a:p>
            <a:pPr>
              <a:spcAft>
                <a:spcPts val="400"/>
              </a:spcAft>
              <a:defRPr sz="1100">
                <a:solidFill>
                  <a:srgbClr val="2D3748"/>
                </a:solidFill>
              </a:defRPr>
            </a:pPr>
            <a:r>
              <a:rPr dirty="0"/>
              <a:t>Ruby: $8,900</a:t>
            </a:r>
          </a:p>
          <a:p>
            <a:pPr>
              <a:spcAft>
                <a:spcPts val="400"/>
              </a:spcAft>
              <a:defRPr sz="1100">
                <a:solidFill>
                  <a:srgbClr val="2D3748"/>
                </a:solidFill>
              </a:defRPr>
            </a:pPr>
            <a:r>
              <a:rPr dirty="0"/>
              <a:t>Emerald: $7,600</a:t>
            </a:r>
          </a:p>
          <a:p>
            <a:pPr>
              <a:spcAft>
                <a:spcPts val="400"/>
              </a:spcAft>
              <a:defRPr sz="1100">
                <a:solidFill>
                  <a:srgbClr val="2D3748"/>
                </a:solidFill>
              </a:defRPr>
            </a:pPr>
            <a:r>
              <a:rPr dirty="0"/>
              <a:t>Topaz: $7,400</a:t>
            </a:r>
          </a:p>
          <a:p>
            <a:pPr>
              <a:spcAft>
                <a:spcPts val="400"/>
              </a:spcAft>
              <a:defRPr sz="1100">
                <a:solidFill>
                  <a:srgbClr val="2D3748"/>
                </a:solidFill>
              </a:defRPr>
            </a:pPr>
            <a:r>
              <a:rPr dirty="0"/>
              <a:t>Amethyst: $6,100</a:t>
            </a:r>
          </a:p>
        </p:txBody>
      </p:sp>
      <p:sp>
        <p:nvSpPr>
          <p:cNvPr id="20" name="TextBox 19"/>
          <p:cNvSpPr txBox="1"/>
          <p:nvPr/>
        </p:nvSpPr>
        <p:spPr>
          <a:xfrm>
            <a:off x="7973568" y="6080760"/>
            <a:ext cx="3474720" cy="201168"/>
          </a:xfrm>
          <a:prstGeom prst="rect">
            <a:avLst/>
          </a:prstGeom>
          <a:noFill/>
        </p:spPr>
        <p:txBody>
          <a:bodyPr wrap="square" lIns="54864" tIns="36576" rIns="54864" bIns="36576">
            <a:spAutoFit/>
          </a:bodyPr>
          <a:lstStyle/>
          <a:p>
            <a:pPr>
              <a:defRPr sz="800" b="0">
                <a:solidFill>
                  <a:srgbClr val="5A6678"/>
                </a:solidFill>
                <a:latin typeface="Aptos"/>
              </a:defRPr>
            </a:pPr>
            <a:r>
              <a:t>Calculated from companion Excel workbook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a:spAutoFit/>
          </a:bodyPr>
          <a:lstStyle/>
          <a:p>
            <a:pPr>
              <a:spcAft>
                <a:spcPts val="300"/>
              </a:spcAft>
              <a:defRPr sz="1000" b="1">
                <a:solidFill>
                  <a:srgbClr val="149691"/>
                </a:solidFill>
                <a:latin typeface="Aptos"/>
              </a:defRPr>
            </a:pPr>
            <a:r>
              <a:t>14 / SQL BUSINESS QUESTION</a:t>
            </a:r>
          </a:p>
        </p:txBody>
      </p:sp>
      <p:sp>
        <p:nvSpPr>
          <p:cNvPr id="4" name="TextBox 3"/>
          <p:cNvSpPr txBox="1"/>
          <p:nvPr/>
        </p:nvSpPr>
        <p:spPr>
          <a:xfrm>
            <a:off x="502920" y="566928"/>
            <a:ext cx="11155680" cy="502920"/>
          </a:xfrm>
          <a:prstGeom prst="rect">
            <a:avLst/>
          </a:prstGeom>
          <a:noFill/>
        </p:spPr>
        <p:txBody>
          <a:bodyPr wrap="square">
            <a:spAutoFit/>
          </a:bodyPr>
          <a:lstStyle/>
          <a:p>
            <a:pPr>
              <a:spcAft>
                <a:spcPts val="300"/>
              </a:spcAft>
              <a:defRPr sz="2700" b="1">
                <a:solidFill>
                  <a:srgbClr val="121F37"/>
                </a:solidFill>
                <a:latin typeface="Aptos"/>
              </a:defRPr>
            </a:pPr>
            <a:r>
              <a:t>Q14. Top 3 regions by average order amount</a:t>
            </a:r>
          </a:p>
        </p:txBody>
      </p:sp>
      <p:sp>
        <p:nvSpPr>
          <p:cNvPr id="5" name="TextBox 4"/>
          <p:cNvSpPr txBox="1"/>
          <p:nvPr/>
        </p:nvSpPr>
        <p:spPr>
          <a:xfrm>
            <a:off x="530352" y="1078992"/>
            <a:ext cx="10972800" cy="384048"/>
          </a:xfrm>
          <a:prstGeom prst="rect">
            <a:avLst/>
          </a:prstGeom>
          <a:noFill/>
        </p:spPr>
        <p:txBody>
          <a:bodyPr wrap="square">
            <a:spAutoFit/>
          </a:bodyPr>
          <a:lstStyle/>
          <a:p>
            <a:pPr>
              <a:spcAft>
                <a:spcPts val="300"/>
              </a:spcAft>
              <a:defRPr sz="1100" b="0">
                <a:solidFill>
                  <a:srgbClr val="647080"/>
                </a:solidFill>
                <a:latin typeface="Aptos"/>
              </a:defRPr>
            </a:pPr>
            <a:r>
              <a:t>PostgreSQL • adapted from the query/question structure in the supplied Word document</a:t>
            </a:r>
          </a:p>
        </p:txBody>
      </p:sp>
      <p:sp>
        <p:nvSpPr>
          <p:cNvPr id="6" name="Rectangle 5"/>
          <p:cNvSpPr/>
          <p:nvPr/>
        </p:nvSpPr>
        <p:spPr>
          <a:xfrm>
            <a:off x="502920" y="1499616"/>
            <a:ext cx="11155680" cy="2286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1783080"/>
            <a:ext cx="6903720" cy="4251960"/>
          </a:xfrm>
          <a:prstGeom prst="roundRect">
            <a:avLst/>
          </a:prstGeom>
          <a:solidFill>
            <a:srgbClr val="121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20240"/>
            <a:ext cx="6537959" cy="1754326"/>
          </a:xfrm>
          <a:prstGeom prst="rect">
            <a:avLst/>
          </a:prstGeom>
          <a:noFill/>
        </p:spPr>
        <p:txBody>
          <a:bodyPr wrap="square">
            <a:spAutoFit/>
          </a:bodyPr>
          <a:lstStyle/>
          <a:p>
            <a:pPr>
              <a:defRPr sz="1200">
                <a:solidFill>
                  <a:srgbClr val="E4EFF9"/>
                </a:solidFill>
                <a:latin typeface="Consolas"/>
              </a:defRPr>
            </a:pPr>
            <a:r>
              <a:rPr lang="en-IN" dirty="0"/>
              <a:t>SELECT</a:t>
            </a:r>
          </a:p>
          <a:p>
            <a:pPr>
              <a:defRPr sz="1200">
                <a:solidFill>
                  <a:srgbClr val="E4EFF9"/>
                </a:solidFill>
                <a:latin typeface="Consolas"/>
              </a:defRPr>
            </a:pPr>
            <a:r>
              <a:rPr lang="en-IN" dirty="0"/>
              <a:t>    </a:t>
            </a:r>
            <a:r>
              <a:rPr lang="en-IN" dirty="0" err="1"/>
              <a:t>o.state</a:t>
            </a:r>
            <a:r>
              <a:rPr lang="en-IN" dirty="0"/>
              <a:t>,</a:t>
            </a:r>
          </a:p>
          <a:p>
            <a:pPr>
              <a:defRPr sz="1200">
                <a:solidFill>
                  <a:srgbClr val="E4EFF9"/>
                </a:solidFill>
                <a:latin typeface="Consolas"/>
              </a:defRPr>
            </a:pPr>
            <a:r>
              <a:rPr lang="en-IN" dirty="0"/>
              <a:t>    AVG(</a:t>
            </a:r>
            <a:r>
              <a:rPr lang="en-IN" dirty="0" err="1"/>
              <a:t>d.amount</a:t>
            </a:r>
            <a:r>
              <a:rPr lang="en-IN" dirty="0"/>
              <a:t>) AS </a:t>
            </a:r>
            <a:r>
              <a:rPr lang="en-IN" dirty="0" err="1"/>
              <a:t>avg_order_amount_usd</a:t>
            </a:r>
            <a:endParaRPr lang="en-IN" dirty="0"/>
          </a:p>
          <a:p>
            <a:pPr>
              <a:defRPr sz="1200">
                <a:solidFill>
                  <a:srgbClr val="E4EFF9"/>
                </a:solidFill>
                <a:latin typeface="Consolas"/>
              </a:defRPr>
            </a:pPr>
            <a:r>
              <a:rPr lang="en-IN" dirty="0"/>
              <a:t>FROM </a:t>
            </a:r>
            <a:r>
              <a:rPr lang="en-IN" dirty="0" err="1"/>
              <a:t>ag_orders</a:t>
            </a:r>
            <a:r>
              <a:rPr lang="en-IN" dirty="0"/>
              <a:t> o</a:t>
            </a:r>
          </a:p>
          <a:p>
            <a:pPr>
              <a:defRPr sz="1200">
                <a:solidFill>
                  <a:srgbClr val="E4EFF9"/>
                </a:solidFill>
                <a:latin typeface="Consolas"/>
              </a:defRPr>
            </a:pPr>
            <a:r>
              <a:rPr lang="en-IN" dirty="0"/>
              <a:t>JOIN </a:t>
            </a:r>
            <a:r>
              <a:rPr lang="en-IN" dirty="0" err="1"/>
              <a:t>ag_details</a:t>
            </a:r>
            <a:r>
              <a:rPr lang="en-IN" dirty="0"/>
              <a:t> d</a:t>
            </a:r>
          </a:p>
          <a:p>
            <a:pPr>
              <a:defRPr sz="1200">
                <a:solidFill>
                  <a:srgbClr val="E4EFF9"/>
                </a:solidFill>
                <a:latin typeface="Consolas"/>
              </a:defRPr>
            </a:pPr>
            <a:r>
              <a:rPr lang="en-IN" dirty="0"/>
              <a:t>    ON </a:t>
            </a:r>
            <a:r>
              <a:rPr lang="en-IN" dirty="0" err="1"/>
              <a:t>o.order_id</a:t>
            </a:r>
            <a:r>
              <a:rPr lang="en-IN" dirty="0"/>
              <a:t> = </a:t>
            </a:r>
            <a:r>
              <a:rPr lang="en-IN" dirty="0" err="1"/>
              <a:t>d.order_id</a:t>
            </a:r>
            <a:endParaRPr lang="en-IN" dirty="0"/>
          </a:p>
          <a:p>
            <a:pPr>
              <a:defRPr sz="1200">
                <a:solidFill>
                  <a:srgbClr val="E4EFF9"/>
                </a:solidFill>
                <a:latin typeface="Consolas"/>
              </a:defRPr>
            </a:pPr>
            <a:r>
              <a:rPr lang="en-IN" dirty="0"/>
              <a:t>GROUP BY </a:t>
            </a:r>
            <a:r>
              <a:rPr lang="en-IN" dirty="0" err="1"/>
              <a:t>o.state</a:t>
            </a:r>
            <a:endParaRPr lang="en-IN" dirty="0"/>
          </a:p>
          <a:p>
            <a:pPr>
              <a:defRPr sz="1200">
                <a:solidFill>
                  <a:srgbClr val="E4EFF9"/>
                </a:solidFill>
                <a:latin typeface="Consolas"/>
              </a:defRPr>
            </a:pPr>
            <a:r>
              <a:rPr lang="en-IN" dirty="0"/>
              <a:t>ORDER BY </a:t>
            </a:r>
            <a:r>
              <a:rPr lang="en-IN" dirty="0" err="1"/>
              <a:t>avg_order_amount_usd</a:t>
            </a:r>
            <a:r>
              <a:rPr lang="en-IN" dirty="0"/>
              <a:t> DESC</a:t>
            </a:r>
          </a:p>
          <a:p>
            <a:pPr>
              <a:defRPr sz="1200">
                <a:solidFill>
                  <a:srgbClr val="E4EFF9"/>
                </a:solidFill>
                <a:latin typeface="Consolas"/>
              </a:defRPr>
            </a:pPr>
            <a:r>
              <a:rPr lang="en-IN" dirty="0"/>
              <a:t>LIMIT 3;</a:t>
            </a:r>
            <a:endParaRPr dirty="0"/>
          </a:p>
        </p:txBody>
      </p:sp>
      <p:sp>
        <p:nvSpPr>
          <p:cNvPr id="18" name="TextBox 17"/>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18</a:t>
            </a:r>
          </a:p>
        </p:txBody>
      </p:sp>
      <p:sp>
        <p:nvSpPr>
          <p:cNvPr id="19" name="Rounded Rectangle 18"/>
          <p:cNvSpPr/>
          <p:nvPr/>
        </p:nvSpPr>
        <p:spPr>
          <a:xfrm>
            <a:off x="7818120" y="1847088"/>
            <a:ext cx="3794760" cy="4069080"/>
          </a:xfrm>
          <a:prstGeom prst="roundRect">
            <a:avLst/>
          </a:prstGeom>
          <a:solidFill>
            <a:srgbClr val="EFF5F7"/>
          </a:solidFill>
          <a:ln>
            <a:solidFill>
              <a:srgbClr val="D2DCE1"/>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r>
              <a:rPr dirty="0">
                <a:solidFill>
                  <a:schemeClr val="tx1"/>
                </a:solidFill>
              </a:rPr>
              <a:t>Q14 · Top regions by average detail amount</a:t>
            </a:r>
            <a:endParaRPr lang="en-IN" dirty="0">
              <a:solidFill>
                <a:schemeClr val="tx1"/>
              </a:solidFill>
            </a:endParaRPr>
          </a:p>
          <a:p>
            <a:endParaRPr lang="en-IN" dirty="0">
              <a:solidFill>
                <a:schemeClr val="tx1"/>
              </a:solidFill>
            </a:endParaRPr>
          </a:p>
          <a:p>
            <a:endParaRPr dirty="0">
              <a:solidFill>
                <a:schemeClr val="tx1"/>
              </a:solidFill>
            </a:endParaRPr>
          </a:p>
          <a:p>
            <a:r>
              <a:rPr dirty="0">
                <a:solidFill>
                  <a:schemeClr val="tx1"/>
                </a:solidFill>
              </a:rPr>
              <a:t>Greater London: $73 average</a:t>
            </a:r>
          </a:p>
          <a:p>
            <a:r>
              <a:rPr dirty="0">
                <a:solidFill>
                  <a:schemeClr val="tx1"/>
                </a:solidFill>
              </a:rPr>
              <a:t>New York Region: $71 average</a:t>
            </a:r>
          </a:p>
          <a:p>
            <a:r>
              <a:rPr dirty="0">
                <a:solidFill>
                  <a:schemeClr val="tx1"/>
                </a:solidFill>
              </a:rPr>
              <a:t>New South Wales: $71 average</a:t>
            </a:r>
          </a:p>
        </p:txBody>
      </p:sp>
      <p:sp>
        <p:nvSpPr>
          <p:cNvPr id="20" name="TextBox 19"/>
          <p:cNvSpPr txBox="1"/>
          <p:nvPr/>
        </p:nvSpPr>
        <p:spPr>
          <a:xfrm>
            <a:off x="7973568" y="6080760"/>
            <a:ext cx="3474720" cy="201168"/>
          </a:xfrm>
          <a:prstGeom prst="rect">
            <a:avLst/>
          </a:prstGeom>
          <a:noFill/>
        </p:spPr>
        <p:txBody>
          <a:bodyPr wrap="square" lIns="54864" tIns="36576" rIns="54864" bIns="36576">
            <a:spAutoFit/>
          </a:bodyPr>
          <a:lstStyle/>
          <a:p>
            <a:pPr>
              <a:defRPr sz="800" b="0">
                <a:solidFill>
                  <a:srgbClr val="5A6678"/>
                </a:solidFill>
                <a:latin typeface="Aptos"/>
              </a:defRPr>
            </a:pPr>
            <a:r>
              <a:t>Calculated from companion Excel workbook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a:spAutoFit/>
          </a:bodyPr>
          <a:lstStyle/>
          <a:p>
            <a:pPr>
              <a:spcAft>
                <a:spcPts val="300"/>
              </a:spcAft>
              <a:defRPr sz="1000" b="1">
                <a:solidFill>
                  <a:srgbClr val="149691"/>
                </a:solidFill>
                <a:latin typeface="Aptos"/>
              </a:defRPr>
            </a:pPr>
            <a:r>
              <a:t>15 / SQL BUSINESS QUESTION</a:t>
            </a:r>
          </a:p>
        </p:txBody>
      </p:sp>
      <p:sp>
        <p:nvSpPr>
          <p:cNvPr id="4" name="TextBox 3"/>
          <p:cNvSpPr txBox="1"/>
          <p:nvPr/>
        </p:nvSpPr>
        <p:spPr>
          <a:xfrm>
            <a:off x="502920" y="566928"/>
            <a:ext cx="11155680" cy="502920"/>
          </a:xfrm>
          <a:prstGeom prst="rect">
            <a:avLst/>
          </a:prstGeom>
          <a:noFill/>
        </p:spPr>
        <p:txBody>
          <a:bodyPr wrap="square">
            <a:spAutoFit/>
          </a:bodyPr>
          <a:lstStyle/>
          <a:p>
            <a:pPr>
              <a:spcAft>
                <a:spcPts val="300"/>
              </a:spcAft>
              <a:defRPr sz="2700" b="1">
                <a:solidFill>
                  <a:srgbClr val="121F37"/>
                </a:solidFill>
                <a:latin typeface="Aptos"/>
              </a:defRPr>
            </a:pPr>
            <a:r>
              <a:t>Q15. Customers using multiple payment modes</a:t>
            </a:r>
          </a:p>
        </p:txBody>
      </p:sp>
      <p:sp>
        <p:nvSpPr>
          <p:cNvPr id="5" name="TextBox 4"/>
          <p:cNvSpPr txBox="1"/>
          <p:nvPr/>
        </p:nvSpPr>
        <p:spPr>
          <a:xfrm>
            <a:off x="530352" y="1078992"/>
            <a:ext cx="10972800" cy="384048"/>
          </a:xfrm>
          <a:prstGeom prst="rect">
            <a:avLst/>
          </a:prstGeom>
          <a:noFill/>
        </p:spPr>
        <p:txBody>
          <a:bodyPr wrap="square">
            <a:spAutoFit/>
          </a:bodyPr>
          <a:lstStyle/>
          <a:p>
            <a:pPr>
              <a:spcAft>
                <a:spcPts val="300"/>
              </a:spcAft>
              <a:defRPr sz="1100" b="0">
                <a:solidFill>
                  <a:srgbClr val="647080"/>
                </a:solidFill>
                <a:latin typeface="Aptos"/>
              </a:defRPr>
            </a:pPr>
            <a:r>
              <a:t>PostgreSQL • adapted from the query/question structure in the supplied Word document</a:t>
            </a:r>
          </a:p>
        </p:txBody>
      </p:sp>
      <p:sp>
        <p:nvSpPr>
          <p:cNvPr id="6" name="Rectangle 5"/>
          <p:cNvSpPr/>
          <p:nvPr/>
        </p:nvSpPr>
        <p:spPr>
          <a:xfrm>
            <a:off x="502920" y="1499616"/>
            <a:ext cx="11155680" cy="2286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1783080"/>
            <a:ext cx="6903720" cy="4251960"/>
          </a:xfrm>
          <a:prstGeom prst="roundRect">
            <a:avLst/>
          </a:prstGeom>
          <a:solidFill>
            <a:srgbClr val="121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20240"/>
            <a:ext cx="6537959" cy="2123658"/>
          </a:xfrm>
          <a:prstGeom prst="rect">
            <a:avLst/>
          </a:prstGeom>
          <a:noFill/>
        </p:spPr>
        <p:txBody>
          <a:bodyPr wrap="square">
            <a:spAutoFit/>
          </a:bodyPr>
          <a:lstStyle/>
          <a:p>
            <a:pPr>
              <a:defRPr sz="1200">
                <a:solidFill>
                  <a:srgbClr val="E4EFF9"/>
                </a:solidFill>
                <a:latin typeface="Consolas"/>
              </a:defRPr>
            </a:pPr>
            <a:r>
              <a:rPr lang="en-IN" dirty="0"/>
              <a:t>SELECT </a:t>
            </a:r>
            <a:r>
              <a:rPr lang="en-IN" dirty="0" err="1"/>
              <a:t>customer_id</a:t>
            </a:r>
            <a:endParaRPr lang="en-IN" dirty="0"/>
          </a:p>
          <a:p>
            <a:pPr>
              <a:defRPr sz="1200">
                <a:solidFill>
                  <a:srgbClr val="E4EFF9"/>
                </a:solidFill>
                <a:latin typeface="Consolas"/>
              </a:defRPr>
            </a:pPr>
            <a:r>
              <a:rPr lang="en-IN" dirty="0"/>
              <a:t>FROM (</a:t>
            </a:r>
          </a:p>
          <a:p>
            <a:pPr>
              <a:defRPr sz="1200">
                <a:solidFill>
                  <a:srgbClr val="E4EFF9"/>
                </a:solidFill>
                <a:latin typeface="Consolas"/>
              </a:defRPr>
            </a:pPr>
            <a:r>
              <a:rPr lang="en-IN" dirty="0"/>
              <a:t>    SELECT</a:t>
            </a:r>
          </a:p>
          <a:p>
            <a:pPr>
              <a:defRPr sz="1200">
                <a:solidFill>
                  <a:srgbClr val="E4EFF9"/>
                </a:solidFill>
                <a:latin typeface="Consolas"/>
              </a:defRPr>
            </a:pPr>
            <a:r>
              <a:rPr lang="en-IN" dirty="0"/>
              <a:t>        </a:t>
            </a:r>
            <a:r>
              <a:rPr lang="en-IN" dirty="0" err="1"/>
              <a:t>o.customer_id</a:t>
            </a:r>
            <a:r>
              <a:rPr lang="en-IN" dirty="0"/>
              <a:t>,</a:t>
            </a:r>
          </a:p>
          <a:p>
            <a:pPr>
              <a:defRPr sz="1200">
                <a:solidFill>
                  <a:srgbClr val="E4EFF9"/>
                </a:solidFill>
                <a:latin typeface="Consolas"/>
              </a:defRPr>
            </a:pPr>
            <a:r>
              <a:rPr lang="en-IN" dirty="0"/>
              <a:t>        COUNT(DISTINCT </a:t>
            </a:r>
            <a:r>
              <a:rPr lang="en-IN" dirty="0" err="1"/>
              <a:t>d.paymentmode</a:t>
            </a:r>
            <a:r>
              <a:rPr lang="en-IN" dirty="0"/>
              <a:t>) AS </a:t>
            </a:r>
            <a:r>
              <a:rPr lang="en-IN" dirty="0" err="1"/>
              <a:t>num_modes</a:t>
            </a:r>
            <a:endParaRPr lang="en-IN" dirty="0"/>
          </a:p>
          <a:p>
            <a:pPr>
              <a:defRPr sz="1200">
                <a:solidFill>
                  <a:srgbClr val="E4EFF9"/>
                </a:solidFill>
                <a:latin typeface="Consolas"/>
              </a:defRPr>
            </a:pPr>
            <a:r>
              <a:rPr lang="en-IN" dirty="0"/>
              <a:t>    FROM </a:t>
            </a:r>
            <a:r>
              <a:rPr lang="en-IN" dirty="0" err="1"/>
              <a:t>ag_orders</a:t>
            </a:r>
            <a:r>
              <a:rPr lang="en-IN" dirty="0"/>
              <a:t> o</a:t>
            </a:r>
          </a:p>
          <a:p>
            <a:pPr>
              <a:defRPr sz="1200">
                <a:solidFill>
                  <a:srgbClr val="E4EFF9"/>
                </a:solidFill>
                <a:latin typeface="Consolas"/>
              </a:defRPr>
            </a:pPr>
            <a:r>
              <a:rPr lang="en-IN" dirty="0"/>
              <a:t>    JOIN </a:t>
            </a:r>
            <a:r>
              <a:rPr lang="en-IN" dirty="0" err="1"/>
              <a:t>ag_details</a:t>
            </a:r>
            <a:r>
              <a:rPr lang="en-IN" dirty="0"/>
              <a:t> d</a:t>
            </a:r>
          </a:p>
          <a:p>
            <a:pPr>
              <a:defRPr sz="1200">
                <a:solidFill>
                  <a:srgbClr val="E4EFF9"/>
                </a:solidFill>
                <a:latin typeface="Consolas"/>
              </a:defRPr>
            </a:pPr>
            <a:r>
              <a:rPr lang="en-IN" dirty="0"/>
              <a:t>        ON </a:t>
            </a:r>
            <a:r>
              <a:rPr lang="en-IN" dirty="0" err="1"/>
              <a:t>o.order_id</a:t>
            </a:r>
            <a:r>
              <a:rPr lang="en-IN" dirty="0"/>
              <a:t> = </a:t>
            </a:r>
            <a:r>
              <a:rPr lang="en-IN" dirty="0" err="1"/>
              <a:t>d.order_id</a:t>
            </a:r>
            <a:endParaRPr lang="en-IN" dirty="0"/>
          </a:p>
          <a:p>
            <a:pPr>
              <a:defRPr sz="1200">
                <a:solidFill>
                  <a:srgbClr val="E4EFF9"/>
                </a:solidFill>
                <a:latin typeface="Consolas"/>
              </a:defRPr>
            </a:pPr>
            <a:r>
              <a:rPr lang="en-IN" dirty="0"/>
              <a:t>    GROUP BY </a:t>
            </a:r>
            <a:r>
              <a:rPr lang="en-IN" dirty="0" err="1"/>
              <a:t>o.customer_id</a:t>
            </a:r>
            <a:endParaRPr lang="en-IN" dirty="0"/>
          </a:p>
          <a:p>
            <a:pPr>
              <a:defRPr sz="1200">
                <a:solidFill>
                  <a:srgbClr val="E4EFF9"/>
                </a:solidFill>
                <a:latin typeface="Consolas"/>
              </a:defRPr>
            </a:pPr>
            <a:r>
              <a:rPr lang="en-IN" dirty="0"/>
              <a:t>) x</a:t>
            </a:r>
          </a:p>
          <a:p>
            <a:pPr>
              <a:defRPr sz="1200">
                <a:solidFill>
                  <a:srgbClr val="E4EFF9"/>
                </a:solidFill>
                <a:latin typeface="Consolas"/>
              </a:defRPr>
            </a:pPr>
            <a:r>
              <a:rPr lang="en-IN" dirty="0"/>
              <a:t>WHERE </a:t>
            </a:r>
            <a:r>
              <a:rPr lang="en-IN" dirty="0" err="1"/>
              <a:t>num_modes</a:t>
            </a:r>
            <a:r>
              <a:rPr lang="en-IN" dirty="0"/>
              <a:t> &gt; 1;</a:t>
            </a:r>
            <a:endParaRPr dirty="0"/>
          </a:p>
        </p:txBody>
      </p:sp>
      <p:sp>
        <p:nvSpPr>
          <p:cNvPr id="18" name="TextBox 17"/>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19</a:t>
            </a:r>
          </a:p>
        </p:txBody>
      </p:sp>
      <p:sp>
        <p:nvSpPr>
          <p:cNvPr id="19" name="Rounded Rectangle 18"/>
          <p:cNvSpPr/>
          <p:nvPr/>
        </p:nvSpPr>
        <p:spPr>
          <a:xfrm>
            <a:off x="7818120" y="1847088"/>
            <a:ext cx="3794760" cy="4069080"/>
          </a:xfrm>
          <a:prstGeom prst="roundRect">
            <a:avLst/>
          </a:prstGeom>
          <a:solidFill>
            <a:srgbClr val="EFF5F7"/>
          </a:solidFill>
          <a:ln>
            <a:solidFill>
              <a:srgbClr val="D2DCE1"/>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defRPr sz="1600" b="1">
                <a:solidFill>
                  <a:srgbClr val="1B2B41"/>
                </a:solidFill>
              </a:defRPr>
            </a:pPr>
            <a:r>
              <a:rPr dirty="0"/>
              <a:t>QUERY RESULTS · SYNTHETIC DATA</a:t>
            </a:r>
            <a:endParaRPr lang="en-IN" dirty="0"/>
          </a:p>
          <a:p>
            <a:pPr algn="ctr">
              <a:defRPr sz="1600" b="1">
                <a:solidFill>
                  <a:srgbClr val="1B2B41"/>
                </a:solidFill>
              </a:defRPr>
            </a:pPr>
            <a:endParaRPr lang="en-IN" dirty="0"/>
          </a:p>
          <a:p>
            <a:pPr algn="ctr">
              <a:defRPr sz="1600" b="1">
                <a:solidFill>
                  <a:srgbClr val="1B2B41"/>
                </a:solidFill>
              </a:defRPr>
            </a:pPr>
            <a:endParaRPr dirty="0"/>
          </a:p>
          <a:p>
            <a:pPr>
              <a:spcAft>
                <a:spcPts val="400"/>
              </a:spcAft>
              <a:defRPr sz="1100">
                <a:solidFill>
                  <a:srgbClr val="2D3748"/>
                </a:solidFill>
              </a:defRPr>
            </a:pPr>
            <a:r>
              <a:rPr dirty="0"/>
              <a:t>Q15 · Multiple payment modes</a:t>
            </a:r>
          </a:p>
          <a:p>
            <a:pPr>
              <a:spcAft>
                <a:spcPts val="400"/>
              </a:spcAft>
              <a:defRPr sz="1100">
                <a:solidFill>
                  <a:srgbClr val="2D3748"/>
                </a:solidFill>
              </a:defRPr>
            </a:pPr>
            <a:r>
              <a:rPr dirty="0"/>
              <a:t>Customers using &gt;1 payment mode: 835</a:t>
            </a:r>
          </a:p>
          <a:p>
            <a:pPr>
              <a:spcAft>
                <a:spcPts val="400"/>
              </a:spcAft>
              <a:defRPr sz="1100">
                <a:solidFill>
                  <a:srgbClr val="2D3748"/>
                </a:solidFill>
              </a:defRPr>
            </a:pPr>
            <a:r>
              <a:rPr dirty="0"/>
              <a:t>Total unique customers: 1,741</a:t>
            </a:r>
          </a:p>
          <a:p>
            <a:pPr>
              <a:spcAft>
                <a:spcPts val="400"/>
              </a:spcAft>
              <a:defRPr sz="1100">
                <a:solidFill>
                  <a:srgbClr val="2D3748"/>
                </a:solidFill>
              </a:defRPr>
            </a:pPr>
            <a:r>
              <a:rPr dirty="0"/>
              <a:t>Share of customers: 48.0%</a:t>
            </a:r>
          </a:p>
        </p:txBody>
      </p:sp>
      <p:sp>
        <p:nvSpPr>
          <p:cNvPr id="20" name="TextBox 19"/>
          <p:cNvSpPr txBox="1"/>
          <p:nvPr/>
        </p:nvSpPr>
        <p:spPr>
          <a:xfrm>
            <a:off x="7973568" y="6080760"/>
            <a:ext cx="3474720" cy="201168"/>
          </a:xfrm>
          <a:prstGeom prst="rect">
            <a:avLst/>
          </a:prstGeom>
          <a:noFill/>
        </p:spPr>
        <p:txBody>
          <a:bodyPr wrap="square" lIns="54864" tIns="36576" rIns="54864" bIns="36576">
            <a:spAutoFit/>
          </a:bodyPr>
          <a:lstStyle/>
          <a:p>
            <a:pPr>
              <a:defRPr sz="800" b="0">
                <a:solidFill>
                  <a:srgbClr val="5A6678"/>
                </a:solidFill>
                <a:latin typeface="Aptos"/>
              </a:defRPr>
            </a:pPr>
            <a:r>
              <a:t>Calculated from companion Excel workbook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a:spAutoFit/>
          </a:bodyPr>
          <a:lstStyle/>
          <a:p>
            <a:pPr>
              <a:spcAft>
                <a:spcPts val="300"/>
              </a:spcAft>
              <a:defRPr sz="1000" b="1">
                <a:solidFill>
                  <a:srgbClr val="149691"/>
                </a:solidFill>
                <a:latin typeface="Aptos"/>
              </a:defRPr>
            </a:pPr>
            <a:r>
              <a:t>16 / SQL BUSINESS QUESTION</a:t>
            </a:r>
          </a:p>
        </p:txBody>
      </p:sp>
      <p:sp>
        <p:nvSpPr>
          <p:cNvPr id="4" name="TextBox 3"/>
          <p:cNvSpPr txBox="1"/>
          <p:nvPr/>
        </p:nvSpPr>
        <p:spPr>
          <a:xfrm>
            <a:off x="502920" y="566928"/>
            <a:ext cx="11155680" cy="502920"/>
          </a:xfrm>
          <a:prstGeom prst="rect">
            <a:avLst/>
          </a:prstGeom>
          <a:noFill/>
        </p:spPr>
        <p:txBody>
          <a:bodyPr wrap="square">
            <a:spAutoFit/>
          </a:bodyPr>
          <a:lstStyle/>
          <a:p>
            <a:pPr>
              <a:spcAft>
                <a:spcPts val="300"/>
              </a:spcAft>
              <a:defRPr sz="2700" b="1">
                <a:solidFill>
                  <a:srgbClr val="121F37"/>
                </a:solidFill>
                <a:latin typeface="Aptos"/>
              </a:defRPr>
            </a:pPr>
            <a:r>
              <a:t>Q16. Top 5 customers by quantity purchased</a:t>
            </a:r>
          </a:p>
        </p:txBody>
      </p:sp>
      <p:sp>
        <p:nvSpPr>
          <p:cNvPr id="5" name="TextBox 4"/>
          <p:cNvSpPr txBox="1"/>
          <p:nvPr/>
        </p:nvSpPr>
        <p:spPr>
          <a:xfrm>
            <a:off x="530352" y="1078992"/>
            <a:ext cx="10972800" cy="384048"/>
          </a:xfrm>
          <a:prstGeom prst="rect">
            <a:avLst/>
          </a:prstGeom>
          <a:noFill/>
        </p:spPr>
        <p:txBody>
          <a:bodyPr wrap="square">
            <a:spAutoFit/>
          </a:bodyPr>
          <a:lstStyle/>
          <a:p>
            <a:pPr>
              <a:spcAft>
                <a:spcPts val="300"/>
              </a:spcAft>
              <a:defRPr sz="1100" b="0">
                <a:solidFill>
                  <a:srgbClr val="647080"/>
                </a:solidFill>
                <a:latin typeface="Aptos"/>
              </a:defRPr>
            </a:pPr>
            <a:r>
              <a:t>PostgreSQL • adapted from the query/question structure in the supplied Word document</a:t>
            </a:r>
          </a:p>
        </p:txBody>
      </p:sp>
      <p:sp>
        <p:nvSpPr>
          <p:cNvPr id="6" name="Rectangle 5"/>
          <p:cNvSpPr/>
          <p:nvPr/>
        </p:nvSpPr>
        <p:spPr>
          <a:xfrm>
            <a:off x="502920" y="1499616"/>
            <a:ext cx="11155680" cy="2286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1783080"/>
            <a:ext cx="6903720" cy="4251960"/>
          </a:xfrm>
          <a:prstGeom prst="roundRect">
            <a:avLst/>
          </a:prstGeom>
          <a:solidFill>
            <a:srgbClr val="121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20240"/>
            <a:ext cx="6537959" cy="1754326"/>
          </a:xfrm>
          <a:prstGeom prst="rect">
            <a:avLst/>
          </a:prstGeom>
          <a:noFill/>
        </p:spPr>
        <p:txBody>
          <a:bodyPr wrap="square">
            <a:spAutoFit/>
          </a:bodyPr>
          <a:lstStyle/>
          <a:p>
            <a:pPr>
              <a:defRPr sz="1200">
                <a:solidFill>
                  <a:srgbClr val="E4EFF9"/>
                </a:solidFill>
                <a:latin typeface="Consolas"/>
              </a:defRPr>
            </a:pPr>
            <a:r>
              <a:rPr lang="en-IN" dirty="0"/>
              <a:t>SELECT</a:t>
            </a:r>
          </a:p>
          <a:p>
            <a:pPr>
              <a:defRPr sz="1200">
                <a:solidFill>
                  <a:srgbClr val="E4EFF9"/>
                </a:solidFill>
                <a:latin typeface="Consolas"/>
              </a:defRPr>
            </a:pPr>
            <a:r>
              <a:rPr lang="en-IN" dirty="0"/>
              <a:t>    </a:t>
            </a:r>
            <a:r>
              <a:rPr lang="en-IN" dirty="0" err="1"/>
              <a:t>o.customer_id</a:t>
            </a:r>
            <a:r>
              <a:rPr lang="en-IN" dirty="0"/>
              <a:t>,</a:t>
            </a:r>
          </a:p>
          <a:p>
            <a:pPr>
              <a:defRPr sz="1200">
                <a:solidFill>
                  <a:srgbClr val="E4EFF9"/>
                </a:solidFill>
                <a:latin typeface="Consolas"/>
              </a:defRPr>
            </a:pPr>
            <a:r>
              <a:rPr lang="en-IN" dirty="0"/>
              <a:t>    SUM(</a:t>
            </a:r>
            <a:r>
              <a:rPr lang="en-IN" dirty="0" err="1"/>
              <a:t>d.quantity</a:t>
            </a:r>
            <a:r>
              <a:rPr lang="en-IN" dirty="0"/>
              <a:t>) AS </a:t>
            </a:r>
            <a:r>
              <a:rPr lang="en-IN" dirty="0" err="1"/>
              <a:t>total_quantity</a:t>
            </a:r>
            <a:endParaRPr lang="en-IN" dirty="0"/>
          </a:p>
          <a:p>
            <a:pPr>
              <a:defRPr sz="1200">
                <a:solidFill>
                  <a:srgbClr val="E4EFF9"/>
                </a:solidFill>
                <a:latin typeface="Consolas"/>
              </a:defRPr>
            </a:pPr>
            <a:r>
              <a:rPr lang="en-IN" dirty="0"/>
              <a:t>FROM </a:t>
            </a:r>
            <a:r>
              <a:rPr lang="en-IN" dirty="0" err="1"/>
              <a:t>ag_orders</a:t>
            </a:r>
            <a:r>
              <a:rPr lang="en-IN" dirty="0"/>
              <a:t> o</a:t>
            </a:r>
          </a:p>
          <a:p>
            <a:pPr>
              <a:defRPr sz="1200">
                <a:solidFill>
                  <a:srgbClr val="E4EFF9"/>
                </a:solidFill>
                <a:latin typeface="Consolas"/>
              </a:defRPr>
            </a:pPr>
            <a:r>
              <a:rPr lang="en-IN" dirty="0"/>
              <a:t>JOIN </a:t>
            </a:r>
            <a:r>
              <a:rPr lang="en-IN" dirty="0" err="1"/>
              <a:t>ag_details</a:t>
            </a:r>
            <a:r>
              <a:rPr lang="en-IN" dirty="0"/>
              <a:t> d</a:t>
            </a:r>
          </a:p>
          <a:p>
            <a:pPr>
              <a:defRPr sz="1200">
                <a:solidFill>
                  <a:srgbClr val="E4EFF9"/>
                </a:solidFill>
                <a:latin typeface="Consolas"/>
              </a:defRPr>
            </a:pPr>
            <a:r>
              <a:rPr lang="en-IN" dirty="0"/>
              <a:t>    ON </a:t>
            </a:r>
            <a:r>
              <a:rPr lang="en-IN" dirty="0" err="1"/>
              <a:t>o.order_id</a:t>
            </a:r>
            <a:r>
              <a:rPr lang="en-IN" dirty="0"/>
              <a:t> = </a:t>
            </a:r>
            <a:r>
              <a:rPr lang="en-IN" dirty="0" err="1"/>
              <a:t>d.order_id</a:t>
            </a:r>
            <a:endParaRPr lang="en-IN" dirty="0"/>
          </a:p>
          <a:p>
            <a:pPr>
              <a:defRPr sz="1200">
                <a:solidFill>
                  <a:srgbClr val="E4EFF9"/>
                </a:solidFill>
                <a:latin typeface="Consolas"/>
              </a:defRPr>
            </a:pPr>
            <a:r>
              <a:rPr lang="en-IN" dirty="0"/>
              <a:t>GROUP BY </a:t>
            </a:r>
            <a:r>
              <a:rPr lang="en-IN" dirty="0" err="1"/>
              <a:t>o.customer_id</a:t>
            </a:r>
            <a:endParaRPr lang="en-IN" dirty="0"/>
          </a:p>
          <a:p>
            <a:pPr>
              <a:defRPr sz="1200">
                <a:solidFill>
                  <a:srgbClr val="E4EFF9"/>
                </a:solidFill>
                <a:latin typeface="Consolas"/>
              </a:defRPr>
            </a:pPr>
            <a:r>
              <a:rPr lang="en-IN" dirty="0"/>
              <a:t>ORDER BY </a:t>
            </a:r>
            <a:r>
              <a:rPr lang="en-IN" dirty="0" err="1"/>
              <a:t>total_quantity</a:t>
            </a:r>
            <a:r>
              <a:rPr lang="en-IN" dirty="0"/>
              <a:t> DESC</a:t>
            </a:r>
          </a:p>
          <a:p>
            <a:pPr>
              <a:defRPr sz="1200">
                <a:solidFill>
                  <a:srgbClr val="E4EFF9"/>
                </a:solidFill>
                <a:latin typeface="Consolas"/>
              </a:defRPr>
            </a:pPr>
            <a:r>
              <a:rPr lang="en-IN" dirty="0"/>
              <a:t>LIMIT 5;</a:t>
            </a:r>
            <a:endParaRPr dirty="0"/>
          </a:p>
        </p:txBody>
      </p:sp>
      <p:sp>
        <p:nvSpPr>
          <p:cNvPr id="18" name="TextBox 17"/>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20</a:t>
            </a:r>
          </a:p>
        </p:txBody>
      </p:sp>
      <p:sp>
        <p:nvSpPr>
          <p:cNvPr id="19" name="Rounded Rectangle 18"/>
          <p:cNvSpPr/>
          <p:nvPr/>
        </p:nvSpPr>
        <p:spPr>
          <a:xfrm>
            <a:off x="7818120" y="1847088"/>
            <a:ext cx="3794760" cy="4069080"/>
          </a:xfrm>
          <a:prstGeom prst="roundRect">
            <a:avLst/>
          </a:prstGeom>
          <a:solidFill>
            <a:srgbClr val="EFF5F7"/>
          </a:solidFill>
          <a:ln>
            <a:solidFill>
              <a:srgbClr val="D2DCE1"/>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defRPr sz="1600" b="1">
                <a:solidFill>
                  <a:srgbClr val="1B2B41"/>
                </a:solidFill>
              </a:defRPr>
            </a:pPr>
            <a:r>
              <a:rPr dirty="0"/>
              <a:t>QUERY RESULTS · SYNTHETIC DATA</a:t>
            </a:r>
            <a:endParaRPr lang="en-IN" dirty="0"/>
          </a:p>
          <a:p>
            <a:pPr algn="ctr">
              <a:defRPr sz="1600" b="1">
                <a:solidFill>
                  <a:srgbClr val="1B2B41"/>
                </a:solidFill>
              </a:defRPr>
            </a:pPr>
            <a:endParaRPr lang="en-IN" dirty="0"/>
          </a:p>
          <a:p>
            <a:pPr algn="ctr">
              <a:defRPr sz="1600" b="1">
                <a:solidFill>
                  <a:srgbClr val="1B2B41"/>
                </a:solidFill>
              </a:defRPr>
            </a:pPr>
            <a:endParaRPr dirty="0"/>
          </a:p>
          <a:p>
            <a:pPr>
              <a:spcAft>
                <a:spcPts val="400"/>
              </a:spcAft>
              <a:defRPr sz="1100">
                <a:solidFill>
                  <a:srgbClr val="2D3748"/>
                </a:solidFill>
              </a:defRPr>
            </a:pPr>
            <a:r>
              <a:rPr dirty="0"/>
              <a:t>Q16 · Top customers by quantity</a:t>
            </a:r>
          </a:p>
          <a:p>
            <a:pPr>
              <a:spcAft>
                <a:spcPts val="400"/>
              </a:spcAft>
              <a:defRPr sz="1100">
                <a:solidFill>
                  <a:srgbClr val="2D3748"/>
                </a:solidFill>
              </a:defRPr>
            </a:pPr>
            <a:r>
              <a:rPr dirty="0"/>
              <a:t>CUST2119: 21 units</a:t>
            </a:r>
          </a:p>
          <a:p>
            <a:pPr>
              <a:spcAft>
                <a:spcPts val="400"/>
              </a:spcAft>
              <a:defRPr sz="1100">
                <a:solidFill>
                  <a:srgbClr val="2D3748"/>
                </a:solidFill>
              </a:defRPr>
            </a:pPr>
            <a:r>
              <a:rPr dirty="0"/>
              <a:t>CUST0057: 21 units</a:t>
            </a:r>
          </a:p>
          <a:p>
            <a:pPr>
              <a:spcAft>
                <a:spcPts val="400"/>
              </a:spcAft>
              <a:defRPr sz="1100">
                <a:solidFill>
                  <a:srgbClr val="2D3748"/>
                </a:solidFill>
              </a:defRPr>
            </a:pPr>
            <a:r>
              <a:rPr dirty="0"/>
              <a:t>CUST1062: 15 units</a:t>
            </a:r>
          </a:p>
          <a:p>
            <a:pPr>
              <a:spcAft>
                <a:spcPts val="400"/>
              </a:spcAft>
              <a:defRPr sz="1100">
                <a:solidFill>
                  <a:srgbClr val="2D3748"/>
                </a:solidFill>
              </a:defRPr>
            </a:pPr>
            <a:r>
              <a:rPr dirty="0"/>
              <a:t>CUST1910: 15 units</a:t>
            </a:r>
          </a:p>
          <a:p>
            <a:pPr>
              <a:spcAft>
                <a:spcPts val="400"/>
              </a:spcAft>
              <a:defRPr sz="1100">
                <a:solidFill>
                  <a:srgbClr val="2D3748"/>
                </a:solidFill>
              </a:defRPr>
            </a:pPr>
            <a:r>
              <a:rPr dirty="0"/>
              <a:t>CUST1424: 14 units</a:t>
            </a:r>
          </a:p>
        </p:txBody>
      </p:sp>
      <p:sp>
        <p:nvSpPr>
          <p:cNvPr id="20" name="TextBox 19"/>
          <p:cNvSpPr txBox="1"/>
          <p:nvPr/>
        </p:nvSpPr>
        <p:spPr>
          <a:xfrm>
            <a:off x="7973568" y="6080760"/>
            <a:ext cx="3474720" cy="201168"/>
          </a:xfrm>
          <a:prstGeom prst="rect">
            <a:avLst/>
          </a:prstGeom>
          <a:noFill/>
        </p:spPr>
        <p:txBody>
          <a:bodyPr wrap="square" lIns="54864" tIns="36576" rIns="54864" bIns="36576">
            <a:spAutoFit/>
          </a:bodyPr>
          <a:lstStyle/>
          <a:p>
            <a:pPr>
              <a:defRPr sz="800" b="0">
                <a:solidFill>
                  <a:srgbClr val="5A6678"/>
                </a:solidFill>
                <a:latin typeface="Aptos"/>
              </a:defRPr>
            </a:pPr>
            <a:r>
              <a:t>Calculated from companion Excel workbook</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a:spAutoFit/>
          </a:bodyPr>
          <a:lstStyle/>
          <a:p>
            <a:pPr>
              <a:spcAft>
                <a:spcPts val="300"/>
              </a:spcAft>
              <a:defRPr sz="1000" b="1">
                <a:solidFill>
                  <a:srgbClr val="149691"/>
                </a:solidFill>
                <a:latin typeface="Aptos"/>
              </a:defRPr>
            </a:pPr>
            <a:r>
              <a:t>17 / SQL BUSINESS QUESTION</a:t>
            </a:r>
          </a:p>
        </p:txBody>
      </p:sp>
      <p:sp>
        <p:nvSpPr>
          <p:cNvPr id="4" name="TextBox 3"/>
          <p:cNvSpPr txBox="1"/>
          <p:nvPr/>
        </p:nvSpPr>
        <p:spPr>
          <a:xfrm>
            <a:off x="502920" y="566928"/>
            <a:ext cx="11155680" cy="502920"/>
          </a:xfrm>
          <a:prstGeom prst="rect">
            <a:avLst/>
          </a:prstGeom>
          <a:noFill/>
        </p:spPr>
        <p:txBody>
          <a:bodyPr wrap="square">
            <a:spAutoFit/>
          </a:bodyPr>
          <a:lstStyle/>
          <a:p>
            <a:pPr>
              <a:spcAft>
                <a:spcPts val="300"/>
              </a:spcAft>
              <a:defRPr sz="2700" b="1">
                <a:solidFill>
                  <a:srgbClr val="121F37"/>
                </a:solidFill>
                <a:latin typeface="Aptos"/>
              </a:defRPr>
            </a:pPr>
            <a:r>
              <a:t>Q17. Rank customers by total spend</a:t>
            </a:r>
          </a:p>
        </p:txBody>
      </p:sp>
      <p:sp>
        <p:nvSpPr>
          <p:cNvPr id="5" name="TextBox 4"/>
          <p:cNvSpPr txBox="1"/>
          <p:nvPr/>
        </p:nvSpPr>
        <p:spPr>
          <a:xfrm>
            <a:off x="530352" y="1078992"/>
            <a:ext cx="10972800" cy="384048"/>
          </a:xfrm>
          <a:prstGeom prst="rect">
            <a:avLst/>
          </a:prstGeom>
          <a:noFill/>
        </p:spPr>
        <p:txBody>
          <a:bodyPr wrap="square">
            <a:spAutoFit/>
          </a:bodyPr>
          <a:lstStyle/>
          <a:p>
            <a:pPr>
              <a:spcAft>
                <a:spcPts val="300"/>
              </a:spcAft>
              <a:defRPr sz="1100" b="0">
                <a:solidFill>
                  <a:srgbClr val="647080"/>
                </a:solidFill>
                <a:latin typeface="Aptos"/>
              </a:defRPr>
            </a:pPr>
            <a:r>
              <a:t>PostgreSQL • adapted from the query/question structure in the supplied Word document</a:t>
            </a:r>
          </a:p>
        </p:txBody>
      </p:sp>
      <p:sp>
        <p:nvSpPr>
          <p:cNvPr id="6" name="Rectangle 5"/>
          <p:cNvSpPr/>
          <p:nvPr/>
        </p:nvSpPr>
        <p:spPr>
          <a:xfrm>
            <a:off x="502920" y="1499616"/>
            <a:ext cx="11155680" cy="2286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1783080"/>
            <a:ext cx="6903720" cy="4251960"/>
          </a:xfrm>
          <a:prstGeom prst="roundRect">
            <a:avLst/>
          </a:prstGeom>
          <a:solidFill>
            <a:srgbClr val="121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20240"/>
            <a:ext cx="6537959" cy="1938992"/>
          </a:xfrm>
          <a:prstGeom prst="rect">
            <a:avLst/>
          </a:prstGeom>
          <a:noFill/>
        </p:spPr>
        <p:txBody>
          <a:bodyPr wrap="square">
            <a:spAutoFit/>
          </a:bodyPr>
          <a:lstStyle/>
          <a:p>
            <a:pPr>
              <a:defRPr sz="1200">
                <a:solidFill>
                  <a:srgbClr val="E4EFF9"/>
                </a:solidFill>
                <a:latin typeface="Consolas"/>
              </a:defRPr>
            </a:pPr>
            <a:r>
              <a:rPr lang="en-IN" dirty="0"/>
              <a:t>SELECT</a:t>
            </a:r>
          </a:p>
          <a:p>
            <a:pPr>
              <a:defRPr sz="1200">
                <a:solidFill>
                  <a:srgbClr val="E4EFF9"/>
                </a:solidFill>
                <a:latin typeface="Consolas"/>
              </a:defRPr>
            </a:pPr>
            <a:r>
              <a:rPr lang="en-IN" dirty="0"/>
              <a:t>    </a:t>
            </a:r>
            <a:r>
              <a:rPr lang="en-IN" dirty="0" err="1"/>
              <a:t>o.customer_id</a:t>
            </a:r>
            <a:r>
              <a:rPr lang="en-IN" dirty="0"/>
              <a:t>,</a:t>
            </a:r>
          </a:p>
          <a:p>
            <a:pPr>
              <a:defRPr sz="1200">
                <a:solidFill>
                  <a:srgbClr val="E4EFF9"/>
                </a:solidFill>
                <a:latin typeface="Consolas"/>
              </a:defRPr>
            </a:pPr>
            <a:r>
              <a:rPr lang="en-IN" dirty="0"/>
              <a:t>    SUM(</a:t>
            </a:r>
            <a:r>
              <a:rPr lang="en-IN" dirty="0" err="1"/>
              <a:t>d.amount</a:t>
            </a:r>
            <a:r>
              <a:rPr lang="en-IN" dirty="0"/>
              <a:t>) AS </a:t>
            </a:r>
            <a:r>
              <a:rPr lang="en-IN" dirty="0" err="1"/>
              <a:t>total_amount_spent_usd</a:t>
            </a:r>
            <a:r>
              <a:rPr lang="en-IN" dirty="0"/>
              <a:t>,</a:t>
            </a:r>
          </a:p>
          <a:p>
            <a:pPr>
              <a:defRPr sz="1200">
                <a:solidFill>
                  <a:srgbClr val="E4EFF9"/>
                </a:solidFill>
                <a:latin typeface="Consolas"/>
              </a:defRPr>
            </a:pPr>
            <a:r>
              <a:rPr lang="en-IN" dirty="0"/>
              <a:t>    RANK() OVER (</a:t>
            </a:r>
          </a:p>
          <a:p>
            <a:pPr>
              <a:defRPr sz="1200">
                <a:solidFill>
                  <a:srgbClr val="E4EFF9"/>
                </a:solidFill>
                <a:latin typeface="Consolas"/>
              </a:defRPr>
            </a:pPr>
            <a:r>
              <a:rPr lang="en-IN" dirty="0"/>
              <a:t>        ORDER BY SUM(</a:t>
            </a:r>
            <a:r>
              <a:rPr lang="en-IN" dirty="0" err="1"/>
              <a:t>d.amount</a:t>
            </a:r>
            <a:r>
              <a:rPr lang="en-IN" dirty="0"/>
              <a:t>) DESC</a:t>
            </a:r>
          </a:p>
          <a:p>
            <a:pPr>
              <a:defRPr sz="1200">
                <a:solidFill>
                  <a:srgbClr val="E4EFF9"/>
                </a:solidFill>
                <a:latin typeface="Consolas"/>
              </a:defRPr>
            </a:pPr>
            <a:r>
              <a:rPr lang="en-IN" dirty="0"/>
              <a:t>    ) AS </a:t>
            </a:r>
            <a:r>
              <a:rPr lang="en-IN" dirty="0" err="1"/>
              <a:t>spending_rank</a:t>
            </a:r>
            <a:endParaRPr lang="en-IN" dirty="0"/>
          </a:p>
          <a:p>
            <a:pPr>
              <a:defRPr sz="1200">
                <a:solidFill>
                  <a:srgbClr val="E4EFF9"/>
                </a:solidFill>
                <a:latin typeface="Consolas"/>
              </a:defRPr>
            </a:pPr>
            <a:r>
              <a:rPr lang="en-IN" dirty="0"/>
              <a:t>FROM </a:t>
            </a:r>
            <a:r>
              <a:rPr lang="en-IN" dirty="0" err="1"/>
              <a:t>ag_orders</a:t>
            </a:r>
            <a:r>
              <a:rPr lang="en-IN" dirty="0"/>
              <a:t> o</a:t>
            </a:r>
          </a:p>
          <a:p>
            <a:pPr>
              <a:defRPr sz="1200">
                <a:solidFill>
                  <a:srgbClr val="E4EFF9"/>
                </a:solidFill>
                <a:latin typeface="Consolas"/>
              </a:defRPr>
            </a:pPr>
            <a:r>
              <a:rPr lang="en-IN" dirty="0"/>
              <a:t>JOIN </a:t>
            </a:r>
            <a:r>
              <a:rPr lang="en-IN" dirty="0" err="1"/>
              <a:t>ag_details</a:t>
            </a:r>
            <a:r>
              <a:rPr lang="en-IN" dirty="0"/>
              <a:t> d</a:t>
            </a:r>
          </a:p>
          <a:p>
            <a:pPr>
              <a:defRPr sz="1200">
                <a:solidFill>
                  <a:srgbClr val="E4EFF9"/>
                </a:solidFill>
                <a:latin typeface="Consolas"/>
              </a:defRPr>
            </a:pPr>
            <a:r>
              <a:rPr lang="en-IN" dirty="0"/>
              <a:t>    ON </a:t>
            </a:r>
            <a:r>
              <a:rPr lang="en-IN" dirty="0" err="1"/>
              <a:t>o.order_id</a:t>
            </a:r>
            <a:r>
              <a:rPr lang="en-IN" dirty="0"/>
              <a:t> = </a:t>
            </a:r>
            <a:r>
              <a:rPr lang="en-IN" dirty="0" err="1"/>
              <a:t>d.order_id</a:t>
            </a:r>
            <a:endParaRPr lang="en-IN" dirty="0"/>
          </a:p>
          <a:p>
            <a:pPr>
              <a:defRPr sz="1200">
                <a:solidFill>
                  <a:srgbClr val="E4EFF9"/>
                </a:solidFill>
                <a:latin typeface="Consolas"/>
              </a:defRPr>
            </a:pPr>
            <a:r>
              <a:rPr lang="en-IN" dirty="0"/>
              <a:t>GROUP BY </a:t>
            </a:r>
            <a:r>
              <a:rPr lang="en-IN" dirty="0" err="1"/>
              <a:t>o.customer_id</a:t>
            </a:r>
            <a:r>
              <a:rPr lang="en-IN" dirty="0"/>
              <a:t>;</a:t>
            </a:r>
            <a:endParaRPr dirty="0"/>
          </a:p>
        </p:txBody>
      </p:sp>
      <p:sp>
        <p:nvSpPr>
          <p:cNvPr id="18" name="TextBox 17"/>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21</a:t>
            </a:r>
          </a:p>
        </p:txBody>
      </p:sp>
      <p:sp>
        <p:nvSpPr>
          <p:cNvPr id="19" name="Rounded Rectangle 18"/>
          <p:cNvSpPr/>
          <p:nvPr/>
        </p:nvSpPr>
        <p:spPr>
          <a:xfrm>
            <a:off x="7818120" y="1847088"/>
            <a:ext cx="3794760" cy="4069080"/>
          </a:xfrm>
          <a:prstGeom prst="roundRect">
            <a:avLst/>
          </a:prstGeom>
          <a:solidFill>
            <a:srgbClr val="EFF5F7"/>
          </a:solidFill>
          <a:ln>
            <a:solidFill>
              <a:srgbClr val="D2DCE1"/>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defRPr sz="1600" b="1">
                <a:solidFill>
                  <a:srgbClr val="1B2B41"/>
                </a:solidFill>
              </a:defRPr>
            </a:pPr>
            <a:r>
              <a:rPr dirty="0"/>
              <a:t>QUERY RESULTS · SYNTHETIC DATA</a:t>
            </a:r>
            <a:endParaRPr lang="en-IN" dirty="0"/>
          </a:p>
          <a:p>
            <a:pPr algn="ctr">
              <a:defRPr sz="1600" b="1">
                <a:solidFill>
                  <a:srgbClr val="1B2B41"/>
                </a:solidFill>
              </a:defRPr>
            </a:pPr>
            <a:endParaRPr lang="en-IN" dirty="0"/>
          </a:p>
          <a:p>
            <a:pPr algn="ctr">
              <a:defRPr sz="1600" b="1">
                <a:solidFill>
                  <a:srgbClr val="1B2B41"/>
                </a:solidFill>
              </a:defRPr>
            </a:pPr>
            <a:endParaRPr dirty="0"/>
          </a:p>
          <a:p>
            <a:pPr>
              <a:spcAft>
                <a:spcPts val="400"/>
              </a:spcAft>
              <a:defRPr sz="1100">
                <a:solidFill>
                  <a:srgbClr val="2D3748"/>
                </a:solidFill>
              </a:defRPr>
            </a:pPr>
            <a:r>
              <a:rPr dirty="0"/>
              <a:t>Q17 · Customer spend rank</a:t>
            </a:r>
          </a:p>
          <a:p>
            <a:pPr>
              <a:spcAft>
                <a:spcPts val="400"/>
              </a:spcAft>
              <a:defRPr sz="1100">
                <a:solidFill>
                  <a:srgbClr val="2D3748"/>
                </a:solidFill>
              </a:defRPr>
            </a:pPr>
            <a:r>
              <a:rPr dirty="0"/>
              <a:t>Rank 1: CUST0003 — $614</a:t>
            </a:r>
          </a:p>
          <a:p>
            <a:pPr>
              <a:spcAft>
                <a:spcPts val="400"/>
              </a:spcAft>
              <a:defRPr sz="1100">
                <a:solidFill>
                  <a:srgbClr val="2D3748"/>
                </a:solidFill>
              </a:defRPr>
            </a:pPr>
            <a:r>
              <a:rPr dirty="0"/>
              <a:t>Rank 2: CUST1923 — $612</a:t>
            </a:r>
          </a:p>
          <a:p>
            <a:pPr>
              <a:spcAft>
                <a:spcPts val="400"/>
              </a:spcAft>
              <a:defRPr sz="1100">
                <a:solidFill>
                  <a:srgbClr val="2D3748"/>
                </a:solidFill>
              </a:defRPr>
            </a:pPr>
            <a:r>
              <a:rPr dirty="0"/>
              <a:t>Rank 3: CUST0468 — $505</a:t>
            </a:r>
          </a:p>
          <a:p>
            <a:pPr>
              <a:spcAft>
                <a:spcPts val="400"/>
              </a:spcAft>
              <a:defRPr sz="1100">
                <a:solidFill>
                  <a:srgbClr val="2D3748"/>
                </a:solidFill>
              </a:defRPr>
            </a:pPr>
            <a:r>
              <a:rPr dirty="0"/>
              <a:t>Rank 4: CUST2060 — $499</a:t>
            </a:r>
          </a:p>
          <a:p>
            <a:pPr>
              <a:spcAft>
                <a:spcPts val="400"/>
              </a:spcAft>
              <a:defRPr sz="1100">
                <a:solidFill>
                  <a:srgbClr val="2D3748"/>
                </a:solidFill>
              </a:defRPr>
            </a:pPr>
            <a:r>
              <a:rPr dirty="0"/>
              <a:t>Rank 5: CUST0028 — $488</a:t>
            </a:r>
          </a:p>
        </p:txBody>
      </p:sp>
      <p:sp>
        <p:nvSpPr>
          <p:cNvPr id="20" name="TextBox 19"/>
          <p:cNvSpPr txBox="1"/>
          <p:nvPr/>
        </p:nvSpPr>
        <p:spPr>
          <a:xfrm>
            <a:off x="7973568" y="6080760"/>
            <a:ext cx="3474720" cy="201168"/>
          </a:xfrm>
          <a:prstGeom prst="rect">
            <a:avLst/>
          </a:prstGeom>
          <a:noFill/>
        </p:spPr>
        <p:txBody>
          <a:bodyPr wrap="square" lIns="54864" tIns="36576" rIns="54864" bIns="36576">
            <a:spAutoFit/>
          </a:bodyPr>
          <a:lstStyle/>
          <a:p>
            <a:pPr>
              <a:defRPr sz="800" b="0">
                <a:solidFill>
                  <a:srgbClr val="5A6678"/>
                </a:solidFill>
                <a:latin typeface="Aptos"/>
              </a:defRPr>
            </a:pPr>
            <a:r>
              <a:t>Calculated from companion Excel workbook</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a:spAutoFit/>
          </a:bodyPr>
          <a:lstStyle/>
          <a:p>
            <a:pPr>
              <a:spcAft>
                <a:spcPts val="300"/>
              </a:spcAft>
              <a:defRPr sz="1000" b="1">
                <a:solidFill>
                  <a:srgbClr val="149691"/>
                </a:solidFill>
                <a:latin typeface="Aptos"/>
              </a:defRPr>
            </a:pPr>
            <a:r>
              <a:t>18 / SQL BUSINESS QUESTION</a:t>
            </a:r>
          </a:p>
        </p:txBody>
      </p:sp>
      <p:sp>
        <p:nvSpPr>
          <p:cNvPr id="4" name="TextBox 3"/>
          <p:cNvSpPr txBox="1"/>
          <p:nvPr/>
        </p:nvSpPr>
        <p:spPr>
          <a:xfrm>
            <a:off x="502920" y="566928"/>
            <a:ext cx="11155680" cy="502920"/>
          </a:xfrm>
          <a:prstGeom prst="rect">
            <a:avLst/>
          </a:prstGeom>
          <a:noFill/>
        </p:spPr>
        <p:txBody>
          <a:bodyPr wrap="square">
            <a:spAutoFit/>
          </a:bodyPr>
          <a:lstStyle/>
          <a:p>
            <a:pPr>
              <a:spcAft>
                <a:spcPts val="300"/>
              </a:spcAft>
              <a:defRPr sz="2700" b="1">
                <a:solidFill>
                  <a:srgbClr val="121F37"/>
                </a:solidFill>
                <a:latin typeface="Aptos"/>
              </a:defRPr>
            </a:pPr>
            <a:r>
              <a:t>Q18. Segment customers by spend</a:t>
            </a:r>
          </a:p>
        </p:txBody>
      </p:sp>
      <p:sp>
        <p:nvSpPr>
          <p:cNvPr id="5" name="TextBox 4"/>
          <p:cNvSpPr txBox="1"/>
          <p:nvPr/>
        </p:nvSpPr>
        <p:spPr>
          <a:xfrm>
            <a:off x="530352" y="1078992"/>
            <a:ext cx="10972800" cy="384048"/>
          </a:xfrm>
          <a:prstGeom prst="rect">
            <a:avLst/>
          </a:prstGeom>
          <a:noFill/>
        </p:spPr>
        <p:txBody>
          <a:bodyPr wrap="square">
            <a:spAutoFit/>
          </a:bodyPr>
          <a:lstStyle/>
          <a:p>
            <a:pPr>
              <a:spcAft>
                <a:spcPts val="300"/>
              </a:spcAft>
              <a:defRPr sz="1100" b="0">
                <a:solidFill>
                  <a:srgbClr val="647080"/>
                </a:solidFill>
                <a:latin typeface="Aptos"/>
              </a:defRPr>
            </a:pPr>
            <a:r>
              <a:t>PostgreSQL • adapted from the query/question structure in the supplied Word document</a:t>
            </a:r>
          </a:p>
        </p:txBody>
      </p:sp>
      <p:sp>
        <p:nvSpPr>
          <p:cNvPr id="6" name="Rectangle 5"/>
          <p:cNvSpPr/>
          <p:nvPr/>
        </p:nvSpPr>
        <p:spPr>
          <a:xfrm>
            <a:off x="502920" y="1499616"/>
            <a:ext cx="11155680" cy="2286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1783080"/>
            <a:ext cx="6903720" cy="4251960"/>
          </a:xfrm>
          <a:prstGeom prst="roundRect">
            <a:avLst/>
          </a:prstGeom>
          <a:solidFill>
            <a:srgbClr val="121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20240"/>
            <a:ext cx="6537959" cy="2308324"/>
          </a:xfrm>
          <a:prstGeom prst="rect">
            <a:avLst/>
          </a:prstGeom>
          <a:noFill/>
        </p:spPr>
        <p:txBody>
          <a:bodyPr wrap="square">
            <a:spAutoFit/>
          </a:bodyPr>
          <a:lstStyle/>
          <a:p>
            <a:pPr>
              <a:defRPr sz="1200">
                <a:solidFill>
                  <a:srgbClr val="E4EFF9"/>
                </a:solidFill>
                <a:latin typeface="Consolas"/>
              </a:defRPr>
            </a:pPr>
            <a:r>
              <a:rPr lang="en-IN" dirty="0"/>
              <a:t>SELECT</a:t>
            </a:r>
          </a:p>
          <a:p>
            <a:pPr>
              <a:defRPr sz="1200">
                <a:solidFill>
                  <a:srgbClr val="E4EFF9"/>
                </a:solidFill>
                <a:latin typeface="Consolas"/>
              </a:defRPr>
            </a:pPr>
            <a:r>
              <a:rPr lang="en-IN" dirty="0"/>
              <a:t>    </a:t>
            </a:r>
            <a:r>
              <a:rPr lang="en-IN" dirty="0" err="1"/>
              <a:t>o.customer_id</a:t>
            </a:r>
            <a:r>
              <a:rPr lang="en-IN" dirty="0"/>
              <a:t>,</a:t>
            </a:r>
          </a:p>
          <a:p>
            <a:pPr>
              <a:defRPr sz="1200">
                <a:solidFill>
                  <a:srgbClr val="E4EFF9"/>
                </a:solidFill>
                <a:latin typeface="Consolas"/>
              </a:defRPr>
            </a:pPr>
            <a:r>
              <a:rPr lang="en-IN" dirty="0"/>
              <a:t>    SUM(</a:t>
            </a:r>
            <a:r>
              <a:rPr lang="en-IN" dirty="0" err="1"/>
              <a:t>d.amount</a:t>
            </a:r>
            <a:r>
              <a:rPr lang="en-IN" dirty="0"/>
              <a:t>) AS </a:t>
            </a:r>
            <a:r>
              <a:rPr lang="en-IN" dirty="0" err="1"/>
              <a:t>total_purchase_usd</a:t>
            </a:r>
            <a:r>
              <a:rPr lang="en-IN" dirty="0"/>
              <a:t>,</a:t>
            </a:r>
          </a:p>
          <a:p>
            <a:pPr>
              <a:defRPr sz="1200">
                <a:solidFill>
                  <a:srgbClr val="E4EFF9"/>
                </a:solidFill>
                <a:latin typeface="Consolas"/>
              </a:defRPr>
            </a:pPr>
            <a:r>
              <a:rPr lang="en-IN" dirty="0"/>
              <a:t>    CASE</a:t>
            </a:r>
          </a:p>
          <a:p>
            <a:pPr>
              <a:defRPr sz="1200">
                <a:solidFill>
                  <a:srgbClr val="E4EFF9"/>
                </a:solidFill>
                <a:latin typeface="Consolas"/>
              </a:defRPr>
            </a:pPr>
            <a:r>
              <a:rPr lang="en-IN" dirty="0"/>
              <a:t>        WHEN SUM(</a:t>
            </a:r>
            <a:r>
              <a:rPr lang="en-IN" dirty="0" err="1"/>
              <a:t>d.amount</a:t>
            </a:r>
            <a:r>
              <a:rPr lang="en-IN" dirty="0"/>
              <a:t>) &gt;= 1000 THEN 'High'</a:t>
            </a:r>
          </a:p>
          <a:p>
            <a:pPr>
              <a:defRPr sz="1200">
                <a:solidFill>
                  <a:srgbClr val="E4EFF9"/>
                </a:solidFill>
                <a:latin typeface="Consolas"/>
              </a:defRPr>
            </a:pPr>
            <a:r>
              <a:rPr lang="en-IN" dirty="0"/>
              <a:t>        WHEN SUM(</a:t>
            </a:r>
            <a:r>
              <a:rPr lang="en-IN" dirty="0" err="1"/>
              <a:t>d.amount</a:t>
            </a:r>
            <a:r>
              <a:rPr lang="en-IN" dirty="0"/>
              <a:t>) &gt;= 500 THEN 'Medium'</a:t>
            </a:r>
          </a:p>
          <a:p>
            <a:pPr>
              <a:defRPr sz="1200">
                <a:solidFill>
                  <a:srgbClr val="E4EFF9"/>
                </a:solidFill>
                <a:latin typeface="Consolas"/>
              </a:defRPr>
            </a:pPr>
            <a:r>
              <a:rPr lang="en-IN" dirty="0"/>
              <a:t>        ELSE 'Low'</a:t>
            </a:r>
          </a:p>
          <a:p>
            <a:pPr>
              <a:defRPr sz="1200">
                <a:solidFill>
                  <a:srgbClr val="E4EFF9"/>
                </a:solidFill>
                <a:latin typeface="Consolas"/>
              </a:defRPr>
            </a:pPr>
            <a:r>
              <a:rPr lang="en-IN" dirty="0"/>
              <a:t>    END AS </a:t>
            </a:r>
            <a:r>
              <a:rPr lang="en-IN" dirty="0" err="1"/>
              <a:t>purchase_segment</a:t>
            </a:r>
            <a:endParaRPr lang="en-IN" dirty="0"/>
          </a:p>
          <a:p>
            <a:pPr>
              <a:defRPr sz="1200">
                <a:solidFill>
                  <a:srgbClr val="E4EFF9"/>
                </a:solidFill>
                <a:latin typeface="Consolas"/>
              </a:defRPr>
            </a:pPr>
            <a:r>
              <a:rPr lang="en-IN" dirty="0"/>
              <a:t>FROM </a:t>
            </a:r>
            <a:r>
              <a:rPr lang="en-IN" dirty="0" err="1"/>
              <a:t>ag_orders</a:t>
            </a:r>
            <a:r>
              <a:rPr lang="en-IN" dirty="0"/>
              <a:t> o</a:t>
            </a:r>
          </a:p>
          <a:p>
            <a:pPr>
              <a:defRPr sz="1200">
                <a:solidFill>
                  <a:srgbClr val="E4EFF9"/>
                </a:solidFill>
                <a:latin typeface="Consolas"/>
              </a:defRPr>
            </a:pPr>
            <a:r>
              <a:rPr lang="en-IN" dirty="0"/>
              <a:t>JOIN </a:t>
            </a:r>
            <a:r>
              <a:rPr lang="en-IN" dirty="0" err="1"/>
              <a:t>ag_details</a:t>
            </a:r>
            <a:r>
              <a:rPr lang="en-IN" dirty="0"/>
              <a:t> d</a:t>
            </a:r>
          </a:p>
          <a:p>
            <a:pPr>
              <a:defRPr sz="1200">
                <a:solidFill>
                  <a:srgbClr val="E4EFF9"/>
                </a:solidFill>
                <a:latin typeface="Consolas"/>
              </a:defRPr>
            </a:pPr>
            <a:r>
              <a:rPr lang="en-IN" dirty="0"/>
              <a:t>    ON </a:t>
            </a:r>
            <a:r>
              <a:rPr lang="en-IN" dirty="0" err="1"/>
              <a:t>o.order_id</a:t>
            </a:r>
            <a:r>
              <a:rPr lang="en-IN" dirty="0"/>
              <a:t> = </a:t>
            </a:r>
            <a:r>
              <a:rPr lang="en-IN" dirty="0" err="1"/>
              <a:t>d.order_id</a:t>
            </a:r>
            <a:endParaRPr lang="en-IN" dirty="0"/>
          </a:p>
          <a:p>
            <a:pPr>
              <a:defRPr sz="1200">
                <a:solidFill>
                  <a:srgbClr val="E4EFF9"/>
                </a:solidFill>
                <a:latin typeface="Consolas"/>
              </a:defRPr>
            </a:pPr>
            <a:r>
              <a:rPr lang="en-IN" dirty="0"/>
              <a:t>GROUP BY </a:t>
            </a:r>
            <a:r>
              <a:rPr lang="en-IN" dirty="0" err="1"/>
              <a:t>o.customer_id</a:t>
            </a:r>
            <a:r>
              <a:rPr lang="en-IN" dirty="0"/>
              <a:t>;</a:t>
            </a:r>
            <a:endParaRPr dirty="0"/>
          </a:p>
        </p:txBody>
      </p:sp>
      <p:sp>
        <p:nvSpPr>
          <p:cNvPr id="18" name="TextBox 17"/>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22</a:t>
            </a:r>
          </a:p>
        </p:txBody>
      </p:sp>
      <p:sp>
        <p:nvSpPr>
          <p:cNvPr id="19" name="Rounded Rectangle 18"/>
          <p:cNvSpPr/>
          <p:nvPr/>
        </p:nvSpPr>
        <p:spPr>
          <a:xfrm>
            <a:off x="7818120" y="1847088"/>
            <a:ext cx="3794760" cy="4069080"/>
          </a:xfrm>
          <a:prstGeom prst="roundRect">
            <a:avLst/>
          </a:prstGeom>
          <a:solidFill>
            <a:srgbClr val="EFF5F7"/>
          </a:solidFill>
          <a:ln>
            <a:solidFill>
              <a:srgbClr val="D2DCE1"/>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defRPr sz="1600" b="1">
                <a:solidFill>
                  <a:srgbClr val="1B2B41"/>
                </a:solidFill>
              </a:defRPr>
            </a:pPr>
            <a:r>
              <a:rPr dirty="0"/>
              <a:t>QUERY RESULTS · SYNTHETIC DATA</a:t>
            </a:r>
            <a:endParaRPr lang="en-IN" dirty="0"/>
          </a:p>
          <a:p>
            <a:pPr algn="ctr">
              <a:defRPr sz="1600" b="1">
                <a:solidFill>
                  <a:srgbClr val="1B2B41"/>
                </a:solidFill>
              </a:defRPr>
            </a:pPr>
            <a:endParaRPr lang="en-IN" dirty="0"/>
          </a:p>
          <a:p>
            <a:pPr algn="ctr">
              <a:defRPr sz="1600" b="1">
                <a:solidFill>
                  <a:srgbClr val="1B2B41"/>
                </a:solidFill>
              </a:defRPr>
            </a:pPr>
            <a:endParaRPr lang="en-IN" dirty="0"/>
          </a:p>
          <a:p>
            <a:pPr algn="ctr">
              <a:defRPr sz="1600" b="1">
                <a:solidFill>
                  <a:srgbClr val="1B2B41"/>
                </a:solidFill>
              </a:defRPr>
            </a:pPr>
            <a:endParaRPr dirty="0"/>
          </a:p>
          <a:p>
            <a:pPr>
              <a:spcAft>
                <a:spcPts val="400"/>
              </a:spcAft>
              <a:defRPr sz="1100">
                <a:solidFill>
                  <a:srgbClr val="2D3748"/>
                </a:solidFill>
              </a:defRPr>
            </a:pPr>
            <a:r>
              <a:rPr dirty="0"/>
              <a:t>Q18 · Spend segmentation</a:t>
            </a:r>
          </a:p>
          <a:p>
            <a:pPr>
              <a:spcAft>
                <a:spcPts val="400"/>
              </a:spcAft>
              <a:defRPr sz="1100">
                <a:solidFill>
                  <a:srgbClr val="2D3748"/>
                </a:solidFill>
              </a:defRPr>
            </a:pPr>
            <a:r>
              <a:rPr dirty="0"/>
              <a:t>Low: 1,738 customers; avg spend $142</a:t>
            </a:r>
          </a:p>
          <a:p>
            <a:pPr>
              <a:spcAft>
                <a:spcPts val="400"/>
              </a:spcAft>
              <a:defRPr sz="1100">
                <a:solidFill>
                  <a:srgbClr val="2D3748"/>
                </a:solidFill>
              </a:defRPr>
            </a:pPr>
            <a:r>
              <a:rPr dirty="0"/>
              <a:t>Medium: 3 customers; avg spend $577</a:t>
            </a:r>
          </a:p>
        </p:txBody>
      </p:sp>
      <p:sp>
        <p:nvSpPr>
          <p:cNvPr id="20" name="TextBox 19"/>
          <p:cNvSpPr txBox="1"/>
          <p:nvPr/>
        </p:nvSpPr>
        <p:spPr>
          <a:xfrm>
            <a:off x="7973568" y="6080760"/>
            <a:ext cx="3474720" cy="201168"/>
          </a:xfrm>
          <a:prstGeom prst="rect">
            <a:avLst/>
          </a:prstGeom>
          <a:noFill/>
        </p:spPr>
        <p:txBody>
          <a:bodyPr wrap="square" lIns="54864" tIns="36576" rIns="54864" bIns="36576">
            <a:spAutoFit/>
          </a:bodyPr>
          <a:lstStyle/>
          <a:p>
            <a:pPr>
              <a:defRPr sz="800" b="0">
                <a:solidFill>
                  <a:srgbClr val="5A6678"/>
                </a:solidFill>
                <a:latin typeface="Aptos"/>
              </a:defRPr>
            </a:pPr>
            <a:r>
              <a:t>Calculated from companion Excel workbook</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a:spAutoFit/>
          </a:bodyPr>
          <a:lstStyle/>
          <a:p>
            <a:pPr>
              <a:spcAft>
                <a:spcPts val="300"/>
              </a:spcAft>
              <a:defRPr sz="1000" b="1">
                <a:solidFill>
                  <a:srgbClr val="149691"/>
                </a:solidFill>
                <a:latin typeface="Aptos"/>
              </a:defRPr>
            </a:pPr>
            <a:r>
              <a:t>19 / SQL BUSINESS QUESTION</a:t>
            </a:r>
          </a:p>
        </p:txBody>
      </p:sp>
      <p:sp>
        <p:nvSpPr>
          <p:cNvPr id="4" name="TextBox 3"/>
          <p:cNvSpPr txBox="1"/>
          <p:nvPr/>
        </p:nvSpPr>
        <p:spPr>
          <a:xfrm>
            <a:off x="502920" y="566928"/>
            <a:ext cx="11155680" cy="502920"/>
          </a:xfrm>
          <a:prstGeom prst="rect">
            <a:avLst/>
          </a:prstGeom>
          <a:noFill/>
        </p:spPr>
        <p:txBody>
          <a:bodyPr wrap="square">
            <a:spAutoFit/>
          </a:bodyPr>
          <a:lstStyle/>
          <a:p>
            <a:pPr>
              <a:spcAft>
                <a:spcPts val="300"/>
              </a:spcAft>
              <a:defRPr sz="2700" b="1">
                <a:solidFill>
                  <a:srgbClr val="121F37"/>
                </a:solidFill>
                <a:latin typeface="Aptos"/>
              </a:defRPr>
            </a:pPr>
            <a:r>
              <a:t>Q19. Percentage of orders by payment mode</a:t>
            </a:r>
          </a:p>
        </p:txBody>
      </p:sp>
      <p:sp>
        <p:nvSpPr>
          <p:cNvPr id="5" name="TextBox 4"/>
          <p:cNvSpPr txBox="1"/>
          <p:nvPr/>
        </p:nvSpPr>
        <p:spPr>
          <a:xfrm>
            <a:off x="530352" y="1078992"/>
            <a:ext cx="10972800" cy="384048"/>
          </a:xfrm>
          <a:prstGeom prst="rect">
            <a:avLst/>
          </a:prstGeom>
          <a:noFill/>
        </p:spPr>
        <p:txBody>
          <a:bodyPr wrap="square">
            <a:spAutoFit/>
          </a:bodyPr>
          <a:lstStyle/>
          <a:p>
            <a:pPr>
              <a:spcAft>
                <a:spcPts val="300"/>
              </a:spcAft>
              <a:defRPr sz="1100" b="0">
                <a:solidFill>
                  <a:srgbClr val="647080"/>
                </a:solidFill>
                <a:latin typeface="Aptos"/>
              </a:defRPr>
            </a:pPr>
            <a:r>
              <a:t>PostgreSQL • adapted from the query/question structure in the supplied Word document</a:t>
            </a:r>
          </a:p>
        </p:txBody>
      </p:sp>
      <p:sp>
        <p:nvSpPr>
          <p:cNvPr id="6" name="Rectangle 5"/>
          <p:cNvSpPr/>
          <p:nvPr/>
        </p:nvSpPr>
        <p:spPr>
          <a:xfrm>
            <a:off x="502920" y="1499616"/>
            <a:ext cx="11155680" cy="2286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1783080"/>
            <a:ext cx="6903720" cy="4251960"/>
          </a:xfrm>
          <a:prstGeom prst="roundRect">
            <a:avLst/>
          </a:prstGeom>
          <a:solidFill>
            <a:srgbClr val="121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20240"/>
            <a:ext cx="6537959" cy="2308324"/>
          </a:xfrm>
          <a:prstGeom prst="rect">
            <a:avLst/>
          </a:prstGeom>
          <a:noFill/>
        </p:spPr>
        <p:txBody>
          <a:bodyPr wrap="square">
            <a:spAutoFit/>
          </a:bodyPr>
          <a:lstStyle/>
          <a:p>
            <a:pPr>
              <a:defRPr sz="1200">
                <a:solidFill>
                  <a:srgbClr val="E4EFF9"/>
                </a:solidFill>
                <a:latin typeface="Consolas"/>
              </a:defRPr>
            </a:pPr>
            <a:r>
              <a:rPr lang="en-GB" dirty="0"/>
              <a:t>WITH </a:t>
            </a:r>
            <a:r>
              <a:rPr lang="en-GB" dirty="0" err="1"/>
              <a:t>payment_mode_pct</a:t>
            </a:r>
            <a:r>
              <a:rPr lang="en-GB" dirty="0"/>
              <a:t> AS (</a:t>
            </a:r>
          </a:p>
          <a:p>
            <a:pPr>
              <a:defRPr sz="1200">
                <a:solidFill>
                  <a:srgbClr val="E4EFF9"/>
                </a:solidFill>
                <a:latin typeface="Consolas"/>
              </a:defRPr>
            </a:pPr>
            <a:r>
              <a:rPr lang="en-GB" dirty="0"/>
              <a:t>    SELECT</a:t>
            </a:r>
          </a:p>
          <a:p>
            <a:pPr>
              <a:defRPr sz="1200">
                <a:solidFill>
                  <a:srgbClr val="E4EFF9"/>
                </a:solidFill>
                <a:latin typeface="Consolas"/>
              </a:defRPr>
            </a:pPr>
            <a:r>
              <a:rPr lang="en-GB" dirty="0"/>
              <a:t>        </a:t>
            </a:r>
            <a:r>
              <a:rPr lang="en-GB" dirty="0" err="1"/>
              <a:t>paymentmode</a:t>
            </a:r>
            <a:r>
              <a:rPr lang="en-GB" dirty="0"/>
              <a:t>,</a:t>
            </a:r>
          </a:p>
          <a:p>
            <a:pPr>
              <a:defRPr sz="1200">
                <a:solidFill>
                  <a:srgbClr val="E4EFF9"/>
                </a:solidFill>
                <a:latin typeface="Consolas"/>
              </a:defRPr>
            </a:pPr>
            <a:r>
              <a:rPr lang="en-GB" dirty="0"/>
              <a:t>        COUNT(*) AS </a:t>
            </a:r>
            <a:r>
              <a:rPr lang="en-GB" dirty="0" err="1"/>
              <a:t>detail_rows</a:t>
            </a:r>
            <a:r>
              <a:rPr lang="en-GB" dirty="0"/>
              <a:t>,</a:t>
            </a:r>
          </a:p>
          <a:p>
            <a:pPr>
              <a:defRPr sz="1200">
                <a:solidFill>
                  <a:srgbClr val="E4EFF9"/>
                </a:solidFill>
                <a:latin typeface="Consolas"/>
              </a:defRPr>
            </a:pPr>
            <a:r>
              <a:rPr lang="en-GB" dirty="0"/>
              <a:t>        COUNT(*) * 100.0 /</a:t>
            </a:r>
          </a:p>
          <a:p>
            <a:pPr>
              <a:defRPr sz="1200">
                <a:solidFill>
                  <a:srgbClr val="E4EFF9"/>
                </a:solidFill>
                <a:latin typeface="Consolas"/>
              </a:defRPr>
            </a:pPr>
            <a:r>
              <a:rPr lang="en-GB" dirty="0"/>
              <a:t>            NULLIF((SELECT COUNT(*) FROM </a:t>
            </a:r>
            <a:r>
              <a:rPr lang="en-GB" dirty="0" err="1"/>
              <a:t>ag_details</a:t>
            </a:r>
            <a:r>
              <a:rPr lang="en-GB" dirty="0"/>
              <a:t>), 0) AS pct</a:t>
            </a:r>
          </a:p>
          <a:p>
            <a:pPr>
              <a:defRPr sz="1200">
                <a:solidFill>
                  <a:srgbClr val="E4EFF9"/>
                </a:solidFill>
                <a:latin typeface="Consolas"/>
              </a:defRPr>
            </a:pPr>
            <a:r>
              <a:rPr lang="en-GB" dirty="0"/>
              <a:t>    FROM </a:t>
            </a:r>
            <a:r>
              <a:rPr lang="en-GB" dirty="0" err="1"/>
              <a:t>ag_details</a:t>
            </a:r>
            <a:endParaRPr lang="en-GB" dirty="0"/>
          </a:p>
          <a:p>
            <a:pPr>
              <a:defRPr sz="1200">
                <a:solidFill>
                  <a:srgbClr val="E4EFF9"/>
                </a:solidFill>
                <a:latin typeface="Consolas"/>
              </a:defRPr>
            </a:pPr>
            <a:r>
              <a:rPr lang="en-GB" dirty="0"/>
              <a:t>    GROUP BY </a:t>
            </a:r>
            <a:r>
              <a:rPr lang="en-GB" dirty="0" err="1"/>
              <a:t>paymentmode</a:t>
            </a:r>
            <a:endParaRPr lang="en-GB" dirty="0"/>
          </a:p>
          <a:p>
            <a:pPr>
              <a:defRPr sz="1200">
                <a:solidFill>
                  <a:srgbClr val="E4EFF9"/>
                </a:solidFill>
                <a:latin typeface="Consolas"/>
              </a:defRPr>
            </a:pPr>
            <a:r>
              <a:rPr lang="en-GB" dirty="0"/>
              <a:t>)</a:t>
            </a:r>
          </a:p>
          <a:p>
            <a:pPr>
              <a:defRPr sz="1200">
                <a:solidFill>
                  <a:srgbClr val="E4EFF9"/>
                </a:solidFill>
                <a:latin typeface="Consolas"/>
              </a:defRPr>
            </a:pPr>
            <a:r>
              <a:rPr lang="en-GB" dirty="0"/>
              <a:t>SELECT *</a:t>
            </a:r>
          </a:p>
          <a:p>
            <a:pPr>
              <a:defRPr sz="1200">
                <a:solidFill>
                  <a:srgbClr val="E4EFF9"/>
                </a:solidFill>
                <a:latin typeface="Consolas"/>
              </a:defRPr>
            </a:pPr>
            <a:r>
              <a:rPr lang="en-GB" dirty="0"/>
              <a:t>FROM </a:t>
            </a:r>
            <a:r>
              <a:rPr lang="en-GB" dirty="0" err="1"/>
              <a:t>payment_mode_pct</a:t>
            </a:r>
            <a:endParaRPr lang="en-GB" dirty="0"/>
          </a:p>
          <a:p>
            <a:pPr>
              <a:defRPr sz="1200">
                <a:solidFill>
                  <a:srgbClr val="E4EFF9"/>
                </a:solidFill>
                <a:latin typeface="Consolas"/>
              </a:defRPr>
            </a:pPr>
            <a:r>
              <a:rPr lang="en-GB" dirty="0"/>
              <a:t>ORDER BY pct DESC;</a:t>
            </a:r>
            <a:endParaRPr dirty="0"/>
          </a:p>
        </p:txBody>
      </p:sp>
      <p:sp>
        <p:nvSpPr>
          <p:cNvPr id="18" name="TextBox 17"/>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23</a:t>
            </a:r>
          </a:p>
        </p:txBody>
      </p:sp>
      <p:sp>
        <p:nvSpPr>
          <p:cNvPr id="19" name="Rounded Rectangle 18"/>
          <p:cNvSpPr/>
          <p:nvPr/>
        </p:nvSpPr>
        <p:spPr>
          <a:xfrm>
            <a:off x="7818120" y="1847088"/>
            <a:ext cx="3794760" cy="4069080"/>
          </a:xfrm>
          <a:prstGeom prst="roundRect">
            <a:avLst/>
          </a:prstGeom>
          <a:solidFill>
            <a:srgbClr val="EFF5F7"/>
          </a:solidFill>
          <a:ln>
            <a:solidFill>
              <a:srgbClr val="D2DCE1"/>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defRPr sz="1600" b="1">
                <a:solidFill>
                  <a:srgbClr val="1B2B41"/>
                </a:solidFill>
              </a:defRPr>
            </a:pPr>
            <a:r>
              <a:rPr dirty="0"/>
              <a:t>QUERY RESULTS · SYNTHETIC DATA</a:t>
            </a:r>
            <a:endParaRPr lang="en-IN" dirty="0"/>
          </a:p>
          <a:p>
            <a:pPr algn="ctr">
              <a:defRPr sz="1600" b="1">
                <a:solidFill>
                  <a:srgbClr val="1B2B41"/>
                </a:solidFill>
              </a:defRPr>
            </a:pPr>
            <a:endParaRPr lang="en-IN" dirty="0"/>
          </a:p>
          <a:p>
            <a:pPr algn="ctr">
              <a:defRPr sz="1600" b="1">
                <a:solidFill>
                  <a:srgbClr val="1B2B41"/>
                </a:solidFill>
              </a:defRPr>
            </a:pPr>
            <a:endParaRPr dirty="0"/>
          </a:p>
          <a:p>
            <a:pPr>
              <a:spcAft>
                <a:spcPts val="400"/>
              </a:spcAft>
              <a:defRPr sz="1100">
                <a:solidFill>
                  <a:srgbClr val="2D3748"/>
                </a:solidFill>
              </a:defRPr>
            </a:pPr>
            <a:r>
              <a:rPr dirty="0"/>
              <a:t>Q19 · Payment mode share</a:t>
            </a:r>
          </a:p>
          <a:p>
            <a:pPr>
              <a:spcAft>
                <a:spcPts val="400"/>
              </a:spcAft>
              <a:defRPr sz="1100">
                <a:solidFill>
                  <a:srgbClr val="2D3748"/>
                </a:solidFill>
              </a:defRPr>
            </a:pPr>
            <a:r>
              <a:rPr dirty="0"/>
              <a:t>Credit Card: 41.8% of orders</a:t>
            </a:r>
          </a:p>
          <a:p>
            <a:pPr>
              <a:spcAft>
                <a:spcPts val="400"/>
              </a:spcAft>
              <a:defRPr sz="1100">
                <a:solidFill>
                  <a:srgbClr val="2D3748"/>
                </a:solidFill>
              </a:defRPr>
            </a:pPr>
            <a:r>
              <a:rPr dirty="0"/>
              <a:t>PayPal: 24.2% of orders</a:t>
            </a:r>
          </a:p>
          <a:p>
            <a:pPr>
              <a:spcAft>
                <a:spcPts val="400"/>
              </a:spcAft>
              <a:defRPr sz="1100">
                <a:solidFill>
                  <a:srgbClr val="2D3748"/>
                </a:solidFill>
              </a:defRPr>
            </a:pPr>
            <a:r>
              <a:rPr dirty="0"/>
              <a:t>Bank Transfer: 18.9% of orders</a:t>
            </a:r>
          </a:p>
          <a:p>
            <a:pPr>
              <a:spcAft>
                <a:spcPts val="400"/>
              </a:spcAft>
              <a:defRPr sz="1100">
                <a:solidFill>
                  <a:srgbClr val="2D3748"/>
                </a:solidFill>
              </a:defRPr>
            </a:pPr>
            <a:r>
              <a:rPr dirty="0"/>
              <a:t>Digital Wallet: 15.0% of orders</a:t>
            </a:r>
          </a:p>
        </p:txBody>
      </p:sp>
      <p:sp>
        <p:nvSpPr>
          <p:cNvPr id="20" name="TextBox 19"/>
          <p:cNvSpPr txBox="1"/>
          <p:nvPr/>
        </p:nvSpPr>
        <p:spPr>
          <a:xfrm>
            <a:off x="7973568" y="6080760"/>
            <a:ext cx="3474720" cy="201168"/>
          </a:xfrm>
          <a:prstGeom prst="rect">
            <a:avLst/>
          </a:prstGeom>
          <a:noFill/>
        </p:spPr>
        <p:txBody>
          <a:bodyPr wrap="square" lIns="54864" tIns="36576" rIns="54864" bIns="36576">
            <a:spAutoFit/>
          </a:bodyPr>
          <a:lstStyle/>
          <a:p>
            <a:pPr>
              <a:defRPr sz="800" b="0">
                <a:solidFill>
                  <a:srgbClr val="5A6678"/>
                </a:solidFill>
                <a:latin typeface="Aptos"/>
              </a:defRPr>
            </a:pPr>
            <a:r>
              <a:t>Calculated from companion Excel workbook</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a:spAutoFit/>
          </a:bodyPr>
          <a:lstStyle/>
          <a:p>
            <a:pPr>
              <a:spcAft>
                <a:spcPts val="300"/>
              </a:spcAft>
              <a:defRPr sz="1000" b="1">
                <a:solidFill>
                  <a:srgbClr val="149691"/>
                </a:solidFill>
                <a:latin typeface="Aptos"/>
              </a:defRPr>
            </a:pPr>
            <a:r>
              <a:t>20 / SQL BUSINESS QUESTION</a:t>
            </a:r>
          </a:p>
        </p:txBody>
      </p:sp>
      <p:sp>
        <p:nvSpPr>
          <p:cNvPr id="4" name="TextBox 3"/>
          <p:cNvSpPr txBox="1"/>
          <p:nvPr/>
        </p:nvSpPr>
        <p:spPr>
          <a:xfrm>
            <a:off x="502920" y="566928"/>
            <a:ext cx="11155680" cy="502920"/>
          </a:xfrm>
          <a:prstGeom prst="rect">
            <a:avLst/>
          </a:prstGeom>
          <a:noFill/>
        </p:spPr>
        <p:txBody>
          <a:bodyPr wrap="square">
            <a:spAutoFit/>
          </a:bodyPr>
          <a:lstStyle/>
          <a:p>
            <a:pPr>
              <a:spcAft>
                <a:spcPts val="300"/>
              </a:spcAft>
              <a:defRPr sz="2700" b="1">
                <a:solidFill>
                  <a:srgbClr val="121F37"/>
                </a:solidFill>
                <a:latin typeface="Aptos"/>
              </a:defRPr>
            </a:pPr>
            <a:r>
              <a:t>Q20. Top 3 profitable gemstone types</a:t>
            </a:r>
          </a:p>
        </p:txBody>
      </p:sp>
      <p:sp>
        <p:nvSpPr>
          <p:cNvPr id="5" name="TextBox 4"/>
          <p:cNvSpPr txBox="1"/>
          <p:nvPr/>
        </p:nvSpPr>
        <p:spPr>
          <a:xfrm>
            <a:off x="530352" y="1078992"/>
            <a:ext cx="10972800" cy="384048"/>
          </a:xfrm>
          <a:prstGeom prst="rect">
            <a:avLst/>
          </a:prstGeom>
          <a:noFill/>
        </p:spPr>
        <p:txBody>
          <a:bodyPr wrap="square">
            <a:spAutoFit/>
          </a:bodyPr>
          <a:lstStyle/>
          <a:p>
            <a:pPr>
              <a:spcAft>
                <a:spcPts val="300"/>
              </a:spcAft>
              <a:defRPr sz="1100" b="0">
                <a:solidFill>
                  <a:srgbClr val="647080"/>
                </a:solidFill>
                <a:latin typeface="Aptos"/>
              </a:defRPr>
            </a:pPr>
            <a:r>
              <a:t>PostgreSQL • adapted from the query/question structure in the supplied Word document</a:t>
            </a:r>
          </a:p>
        </p:txBody>
      </p:sp>
      <p:sp>
        <p:nvSpPr>
          <p:cNvPr id="6" name="Rectangle 5"/>
          <p:cNvSpPr/>
          <p:nvPr/>
        </p:nvSpPr>
        <p:spPr>
          <a:xfrm>
            <a:off x="502920" y="1499616"/>
            <a:ext cx="11155680" cy="2286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1783080"/>
            <a:ext cx="6903720" cy="4251960"/>
          </a:xfrm>
          <a:prstGeom prst="roundRect">
            <a:avLst/>
          </a:prstGeom>
          <a:solidFill>
            <a:srgbClr val="121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20240"/>
            <a:ext cx="6537959" cy="1384995"/>
          </a:xfrm>
          <a:prstGeom prst="rect">
            <a:avLst/>
          </a:prstGeom>
          <a:noFill/>
        </p:spPr>
        <p:txBody>
          <a:bodyPr wrap="square">
            <a:spAutoFit/>
          </a:bodyPr>
          <a:lstStyle/>
          <a:p>
            <a:pPr>
              <a:defRPr sz="1050">
                <a:solidFill>
                  <a:srgbClr val="E4EFF9"/>
                </a:solidFill>
                <a:latin typeface="Consolas"/>
              </a:defRPr>
            </a:pPr>
            <a:r>
              <a:rPr lang="en-GB" dirty="0"/>
              <a:t>SELECT</a:t>
            </a:r>
          </a:p>
          <a:p>
            <a:pPr>
              <a:defRPr sz="1050">
                <a:solidFill>
                  <a:srgbClr val="E4EFF9"/>
                </a:solidFill>
                <a:latin typeface="Consolas"/>
              </a:defRPr>
            </a:pPr>
            <a:r>
              <a:rPr lang="en-GB" dirty="0"/>
              <a:t>    </a:t>
            </a:r>
            <a:r>
              <a:rPr lang="en-GB" dirty="0" err="1"/>
              <a:t>sub_category</a:t>
            </a:r>
            <a:r>
              <a:rPr lang="en-GB" dirty="0"/>
              <a:t>,</a:t>
            </a:r>
          </a:p>
          <a:p>
            <a:pPr>
              <a:defRPr sz="1050">
                <a:solidFill>
                  <a:srgbClr val="E4EFF9"/>
                </a:solidFill>
                <a:latin typeface="Consolas"/>
              </a:defRPr>
            </a:pPr>
            <a:r>
              <a:rPr lang="en-GB" dirty="0"/>
              <a:t>    SUM(profit) AS </a:t>
            </a:r>
            <a:r>
              <a:rPr lang="en-GB" dirty="0" err="1"/>
              <a:t>total_profit_usd</a:t>
            </a:r>
            <a:endParaRPr lang="en-GB" dirty="0"/>
          </a:p>
          <a:p>
            <a:pPr>
              <a:defRPr sz="1050">
                <a:solidFill>
                  <a:srgbClr val="E4EFF9"/>
                </a:solidFill>
                <a:latin typeface="Consolas"/>
              </a:defRPr>
            </a:pPr>
            <a:r>
              <a:rPr lang="en-GB" dirty="0"/>
              <a:t>FROM </a:t>
            </a:r>
            <a:r>
              <a:rPr lang="en-GB" dirty="0" err="1"/>
              <a:t>ag_details</a:t>
            </a:r>
            <a:endParaRPr lang="en-GB" dirty="0"/>
          </a:p>
          <a:p>
            <a:pPr>
              <a:defRPr sz="1050">
                <a:solidFill>
                  <a:srgbClr val="E4EFF9"/>
                </a:solidFill>
                <a:latin typeface="Consolas"/>
              </a:defRPr>
            </a:pPr>
            <a:r>
              <a:rPr lang="en-GB" dirty="0"/>
              <a:t>WHERE category = 'Gemstone'</a:t>
            </a:r>
          </a:p>
          <a:p>
            <a:pPr>
              <a:defRPr sz="1050">
                <a:solidFill>
                  <a:srgbClr val="E4EFF9"/>
                </a:solidFill>
                <a:latin typeface="Consolas"/>
              </a:defRPr>
            </a:pPr>
            <a:r>
              <a:rPr lang="en-GB" dirty="0"/>
              <a:t>GROUP BY </a:t>
            </a:r>
            <a:r>
              <a:rPr lang="en-GB" dirty="0" err="1"/>
              <a:t>sub_category</a:t>
            </a:r>
            <a:endParaRPr lang="en-GB" dirty="0"/>
          </a:p>
          <a:p>
            <a:pPr>
              <a:defRPr sz="1050">
                <a:solidFill>
                  <a:srgbClr val="E4EFF9"/>
                </a:solidFill>
                <a:latin typeface="Consolas"/>
              </a:defRPr>
            </a:pPr>
            <a:r>
              <a:rPr lang="en-GB" dirty="0"/>
              <a:t>ORDER BY </a:t>
            </a:r>
            <a:r>
              <a:rPr lang="en-GB" dirty="0" err="1"/>
              <a:t>total_profit_usd</a:t>
            </a:r>
            <a:r>
              <a:rPr lang="en-GB" dirty="0"/>
              <a:t> DESC</a:t>
            </a:r>
          </a:p>
          <a:p>
            <a:pPr>
              <a:defRPr sz="1050">
                <a:solidFill>
                  <a:srgbClr val="E4EFF9"/>
                </a:solidFill>
                <a:latin typeface="Consolas"/>
              </a:defRPr>
            </a:pPr>
            <a:r>
              <a:rPr lang="en-GB" dirty="0"/>
              <a:t>LIMIT 3;</a:t>
            </a:r>
            <a:endParaRPr dirty="0"/>
          </a:p>
        </p:txBody>
      </p:sp>
      <p:sp>
        <p:nvSpPr>
          <p:cNvPr id="18" name="TextBox 17"/>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24</a:t>
            </a:r>
          </a:p>
        </p:txBody>
      </p:sp>
      <p:sp>
        <p:nvSpPr>
          <p:cNvPr id="19" name="Rounded Rectangle 18"/>
          <p:cNvSpPr/>
          <p:nvPr/>
        </p:nvSpPr>
        <p:spPr>
          <a:xfrm>
            <a:off x="7818120" y="1847088"/>
            <a:ext cx="3794760" cy="4069080"/>
          </a:xfrm>
          <a:prstGeom prst="roundRect">
            <a:avLst/>
          </a:prstGeom>
          <a:solidFill>
            <a:srgbClr val="EFF5F7"/>
          </a:solidFill>
          <a:ln>
            <a:solidFill>
              <a:srgbClr val="D2DCE1"/>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defRPr sz="1600" b="1">
                <a:solidFill>
                  <a:srgbClr val="1B2B41"/>
                </a:solidFill>
              </a:defRPr>
            </a:pPr>
            <a:r>
              <a:rPr dirty="0"/>
              <a:t>QUERY RESULTS · SYNTHETIC DATA</a:t>
            </a:r>
            <a:endParaRPr lang="en-IN" dirty="0"/>
          </a:p>
          <a:p>
            <a:pPr algn="ctr">
              <a:defRPr sz="1600" b="1">
                <a:solidFill>
                  <a:srgbClr val="1B2B41"/>
                </a:solidFill>
              </a:defRPr>
            </a:pPr>
            <a:endParaRPr lang="en-IN"/>
          </a:p>
          <a:p>
            <a:pPr algn="ctr">
              <a:defRPr sz="1600" b="1">
                <a:solidFill>
                  <a:srgbClr val="1B2B41"/>
                </a:solidFill>
              </a:defRPr>
            </a:pPr>
            <a:endParaRPr/>
          </a:p>
          <a:p>
            <a:pPr>
              <a:spcAft>
                <a:spcPts val="400"/>
              </a:spcAft>
              <a:defRPr sz="1100">
                <a:solidFill>
                  <a:srgbClr val="2D3748"/>
                </a:solidFill>
              </a:defRPr>
            </a:pPr>
            <a:r>
              <a:rPr dirty="0"/>
              <a:t>Q20 · Top 3 profitable gemstones</a:t>
            </a:r>
          </a:p>
          <a:p>
            <a:pPr>
              <a:spcAft>
                <a:spcPts val="400"/>
              </a:spcAft>
              <a:defRPr sz="1100">
                <a:solidFill>
                  <a:srgbClr val="2D3748"/>
                </a:solidFill>
              </a:defRPr>
            </a:pPr>
            <a:r>
              <a:rPr dirty="0"/>
              <a:t>Sapphire: $11,200 profit</a:t>
            </a:r>
          </a:p>
          <a:p>
            <a:pPr>
              <a:spcAft>
                <a:spcPts val="400"/>
              </a:spcAft>
              <a:defRPr sz="1100">
                <a:solidFill>
                  <a:srgbClr val="2D3748"/>
                </a:solidFill>
              </a:defRPr>
            </a:pPr>
            <a:r>
              <a:rPr dirty="0"/>
              <a:t>Ruby: $8,900 profit</a:t>
            </a:r>
          </a:p>
          <a:p>
            <a:pPr>
              <a:spcAft>
                <a:spcPts val="400"/>
              </a:spcAft>
              <a:defRPr sz="1100">
                <a:solidFill>
                  <a:srgbClr val="2D3748"/>
                </a:solidFill>
              </a:defRPr>
            </a:pPr>
            <a:r>
              <a:rPr dirty="0"/>
              <a:t>Emerald: $7,600 profit</a:t>
            </a:r>
          </a:p>
        </p:txBody>
      </p:sp>
      <p:sp>
        <p:nvSpPr>
          <p:cNvPr id="20" name="TextBox 19"/>
          <p:cNvSpPr txBox="1"/>
          <p:nvPr/>
        </p:nvSpPr>
        <p:spPr>
          <a:xfrm>
            <a:off x="7973568" y="6080760"/>
            <a:ext cx="3474720" cy="201168"/>
          </a:xfrm>
          <a:prstGeom prst="rect">
            <a:avLst/>
          </a:prstGeom>
          <a:noFill/>
        </p:spPr>
        <p:txBody>
          <a:bodyPr wrap="square" lIns="54864" tIns="36576" rIns="54864" bIns="36576">
            <a:spAutoFit/>
          </a:bodyPr>
          <a:lstStyle/>
          <a:p>
            <a:pPr>
              <a:defRPr sz="800" b="0">
                <a:solidFill>
                  <a:srgbClr val="5A6678"/>
                </a:solidFill>
                <a:latin typeface="Aptos"/>
              </a:defRPr>
            </a:pPr>
            <a:r>
              <a:t>Calculated from companion Excel workbook</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a:spAutoFit/>
          </a:bodyPr>
          <a:lstStyle/>
          <a:p>
            <a:pPr>
              <a:spcAft>
                <a:spcPts val="300"/>
              </a:spcAft>
              <a:defRPr sz="1000" b="1">
                <a:solidFill>
                  <a:srgbClr val="149691"/>
                </a:solidFill>
                <a:latin typeface="Aptos"/>
              </a:defRPr>
            </a:pPr>
            <a:r>
              <a:t>24 / METRIC DEFINITIONS</a:t>
            </a:r>
          </a:p>
        </p:txBody>
      </p:sp>
      <p:sp>
        <p:nvSpPr>
          <p:cNvPr id="4" name="TextBox 3"/>
          <p:cNvSpPr txBox="1"/>
          <p:nvPr/>
        </p:nvSpPr>
        <p:spPr>
          <a:xfrm>
            <a:off x="502920" y="566928"/>
            <a:ext cx="11155680" cy="502920"/>
          </a:xfrm>
          <a:prstGeom prst="rect">
            <a:avLst/>
          </a:prstGeom>
          <a:noFill/>
        </p:spPr>
        <p:txBody>
          <a:bodyPr wrap="square">
            <a:spAutoFit/>
          </a:bodyPr>
          <a:lstStyle/>
          <a:p>
            <a:pPr>
              <a:spcAft>
                <a:spcPts val="300"/>
              </a:spcAft>
              <a:defRPr sz="2700" b="1">
                <a:solidFill>
                  <a:srgbClr val="121F37"/>
                </a:solidFill>
                <a:latin typeface="Aptos"/>
              </a:defRPr>
            </a:pPr>
            <a:r>
              <a:t>Core formulas &amp; calculation notes</a:t>
            </a:r>
          </a:p>
        </p:txBody>
      </p:sp>
      <p:sp>
        <p:nvSpPr>
          <p:cNvPr id="5" name="TextBox 4"/>
          <p:cNvSpPr txBox="1"/>
          <p:nvPr/>
        </p:nvSpPr>
        <p:spPr>
          <a:xfrm>
            <a:off x="530352" y="1078992"/>
            <a:ext cx="10972800" cy="384048"/>
          </a:xfrm>
          <a:prstGeom prst="rect">
            <a:avLst/>
          </a:prstGeom>
          <a:noFill/>
        </p:spPr>
        <p:txBody>
          <a:bodyPr wrap="square">
            <a:spAutoFit/>
          </a:bodyPr>
          <a:lstStyle/>
          <a:p>
            <a:pPr>
              <a:spcAft>
                <a:spcPts val="300"/>
              </a:spcAft>
              <a:defRPr sz="1100" b="0">
                <a:solidFill>
                  <a:srgbClr val="647080"/>
                </a:solidFill>
                <a:latin typeface="Aptos"/>
              </a:defRPr>
            </a:pPr>
            <a:r>
              <a:t>Use consistent definitions in SQL and Power BI to avoid metric mismatches.</a:t>
            </a:r>
          </a:p>
        </p:txBody>
      </p:sp>
      <p:sp>
        <p:nvSpPr>
          <p:cNvPr id="6" name="Rectangle 5"/>
          <p:cNvSpPr/>
          <p:nvPr/>
        </p:nvSpPr>
        <p:spPr>
          <a:xfrm>
            <a:off x="502920" y="1499616"/>
            <a:ext cx="11155680" cy="2286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1783080"/>
            <a:ext cx="5349240" cy="114300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783080"/>
            <a:ext cx="64008" cy="1143000"/>
          </a:xfrm>
          <a:prstGeom prst="rect">
            <a:avLst/>
          </a:prstGeom>
          <a:solidFill>
            <a:srgbClr val="28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59" y="1920240"/>
            <a:ext cx="5029200" cy="274320"/>
          </a:xfrm>
          <a:prstGeom prst="rect">
            <a:avLst/>
          </a:prstGeom>
          <a:noFill/>
        </p:spPr>
        <p:txBody>
          <a:bodyPr wrap="square">
            <a:spAutoFit/>
          </a:bodyPr>
          <a:lstStyle/>
          <a:p>
            <a:pPr>
              <a:spcAft>
                <a:spcPts val="300"/>
              </a:spcAft>
              <a:defRPr sz="1300" b="1">
                <a:solidFill>
                  <a:srgbClr val="121F37"/>
                </a:solidFill>
                <a:latin typeface="Aptos"/>
              </a:defRPr>
            </a:pPr>
            <a:r>
              <a:t>Revenue</a:t>
            </a:r>
          </a:p>
        </p:txBody>
      </p:sp>
      <p:sp>
        <p:nvSpPr>
          <p:cNvPr id="10" name="TextBox 9"/>
          <p:cNvSpPr txBox="1"/>
          <p:nvPr/>
        </p:nvSpPr>
        <p:spPr>
          <a:xfrm>
            <a:off x="822959" y="2286000"/>
            <a:ext cx="4983479" cy="548640"/>
          </a:xfrm>
          <a:prstGeom prst="rect">
            <a:avLst/>
          </a:prstGeom>
          <a:noFill/>
        </p:spPr>
        <p:txBody>
          <a:bodyPr wrap="square">
            <a:spAutoFit/>
          </a:bodyPr>
          <a:lstStyle/>
          <a:p>
            <a:pPr>
              <a:spcAft>
                <a:spcPts val="300"/>
              </a:spcAft>
              <a:defRPr sz="1100" b="0">
                <a:solidFill>
                  <a:srgbClr val="232D3C"/>
                </a:solidFill>
                <a:latin typeface="Aptos"/>
              </a:defRPr>
            </a:pPr>
            <a:r>
              <a:t>SUM(amount)</a:t>
            </a:r>
          </a:p>
          <a:p>
            <a:pPr>
              <a:spcAft>
                <a:spcPts val="300"/>
              </a:spcAft>
              <a:defRPr sz="1100" b="0">
                <a:solidFill>
                  <a:srgbClr val="232D3C"/>
                </a:solidFill>
                <a:latin typeface="Aptos"/>
              </a:defRPr>
            </a:pPr>
            <a:r>
              <a:t>Display as USD only after the dataset currency has been confirmed or replaced with illustrative data.</a:t>
            </a:r>
          </a:p>
        </p:txBody>
      </p:sp>
      <p:sp>
        <p:nvSpPr>
          <p:cNvPr id="11" name="Rounded Rectangle 10"/>
          <p:cNvSpPr/>
          <p:nvPr/>
        </p:nvSpPr>
        <p:spPr>
          <a:xfrm>
            <a:off x="6309360" y="1783080"/>
            <a:ext cx="5349240" cy="114300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309360" y="1783080"/>
            <a:ext cx="64008" cy="1143000"/>
          </a:xfrm>
          <a:prstGeom prst="rect">
            <a:avLst/>
          </a:prstGeom>
          <a:solidFill>
            <a:srgbClr val="14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1920240"/>
            <a:ext cx="5029200" cy="274320"/>
          </a:xfrm>
          <a:prstGeom prst="rect">
            <a:avLst/>
          </a:prstGeom>
          <a:noFill/>
        </p:spPr>
        <p:txBody>
          <a:bodyPr wrap="square">
            <a:spAutoFit/>
          </a:bodyPr>
          <a:lstStyle/>
          <a:p>
            <a:pPr>
              <a:spcAft>
                <a:spcPts val="300"/>
              </a:spcAft>
              <a:defRPr sz="1300" b="1">
                <a:solidFill>
                  <a:srgbClr val="121F37"/>
                </a:solidFill>
                <a:latin typeface="Aptos"/>
              </a:defRPr>
            </a:pPr>
            <a:r>
              <a:t>Profit</a:t>
            </a:r>
          </a:p>
        </p:txBody>
      </p:sp>
      <p:sp>
        <p:nvSpPr>
          <p:cNvPr id="14" name="TextBox 13"/>
          <p:cNvSpPr txBox="1"/>
          <p:nvPr/>
        </p:nvSpPr>
        <p:spPr>
          <a:xfrm>
            <a:off x="6492240" y="2286000"/>
            <a:ext cx="4983479" cy="548640"/>
          </a:xfrm>
          <a:prstGeom prst="rect">
            <a:avLst/>
          </a:prstGeom>
          <a:noFill/>
        </p:spPr>
        <p:txBody>
          <a:bodyPr wrap="square">
            <a:spAutoFit/>
          </a:bodyPr>
          <a:lstStyle/>
          <a:p>
            <a:pPr>
              <a:spcAft>
                <a:spcPts val="300"/>
              </a:spcAft>
              <a:defRPr sz="1100" b="0">
                <a:solidFill>
                  <a:srgbClr val="232D3C"/>
                </a:solidFill>
                <a:latin typeface="Aptos"/>
              </a:defRPr>
            </a:pPr>
            <a:r>
              <a:t>SUM(profit)</a:t>
            </a:r>
          </a:p>
          <a:p>
            <a:pPr>
              <a:spcAft>
                <a:spcPts val="300"/>
              </a:spcAft>
              <a:defRPr sz="1100" b="0">
                <a:solidFill>
                  <a:srgbClr val="232D3C"/>
                </a:solidFill>
                <a:latin typeface="Aptos"/>
              </a:defRPr>
            </a:pPr>
            <a:r>
              <a:t>Do not reveal actual margin/cost economics without approval.</a:t>
            </a:r>
          </a:p>
        </p:txBody>
      </p:sp>
      <p:sp>
        <p:nvSpPr>
          <p:cNvPr id="15" name="Rounded Rectangle 14"/>
          <p:cNvSpPr/>
          <p:nvPr/>
        </p:nvSpPr>
        <p:spPr>
          <a:xfrm>
            <a:off x="640080" y="3136391"/>
            <a:ext cx="5349240" cy="114300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 y="3136391"/>
            <a:ext cx="64008" cy="114300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59" y="3273551"/>
            <a:ext cx="5029200" cy="274320"/>
          </a:xfrm>
          <a:prstGeom prst="rect">
            <a:avLst/>
          </a:prstGeom>
          <a:noFill/>
        </p:spPr>
        <p:txBody>
          <a:bodyPr wrap="square">
            <a:spAutoFit/>
          </a:bodyPr>
          <a:lstStyle/>
          <a:p>
            <a:pPr>
              <a:spcAft>
                <a:spcPts val="300"/>
              </a:spcAft>
              <a:defRPr sz="1300" b="1">
                <a:solidFill>
                  <a:srgbClr val="121F37"/>
                </a:solidFill>
                <a:latin typeface="Aptos"/>
              </a:defRPr>
            </a:pPr>
            <a:r>
              <a:t>Profit margin</a:t>
            </a:r>
          </a:p>
        </p:txBody>
      </p:sp>
      <p:sp>
        <p:nvSpPr>
          <p:cNvPr id="18" name="TextBox 17"/>
          <p:cNvSpPr txBox="1"/>
          <p:nvPr/>
        </p:nvSpPr>
        <p:spPr>
          <a:xfrm>
            <a:off x="822959" y="3639311"/>
            <a:ext cx="4983479" cy="548640"/>
          </a:xfrm>
          <a:prstGeom prst="rect">
            <a:avLst/>
          </a:prstGeom>
          <a:noFill/>
        </p:spPr>
        <p:txBody>
          <a:bodyPr wrap="square">
            <a:spAutoFit/>
          </a:bodyPr>
          <a:lstStyle/>
          <a:p>
            <a:pPr>
              <a:spcAft>
                <a:spcPts val="300"/>
              </a:spcAft>
              <a:defRPr sz="1100" b="0">
                <a:solidFill>
                  <a:srgbClr val="232D3C"/>
                </a:solidFill>
                <a:latin typeface="Aptos"/>
              </a:defRPr>
            </a:pPr>
            <a:r>
              <a:t>SUM(profit) / SUM(amount)</a:t>
            </a:r>
          </a:p>
          <a:p>
            <a:pPr>
              <a:spcAft>
                <a:spcPts val="300"/>
              </a:spcAft>
              <a:defRPr sz="1100" b="0">
                <a:solidFill>
                  <a:srgbClr val="232D3C"/>
                </a:solidFill>
                <a:latin typeface="Aptos"/>
              </a:defRPr>
            </a:pPr>
            <a:r>
              <a:t>Format as %; protect against zero denominators.</a:t>
            </a:r>
          </a:p>
        </p:txBody>
      </p:sp>
      <p:sp>
        <p:nvSpPr>
          <p:cNvPr id="19" name="Rounded Rectangle 18"/>
          <p:cNvSpPr/>
          <p:nvPr/>
        </p:nvSpPr>
        <p:spPr>
          <a:xfrm>
            <a:off x="6309360" y="3136391"/>
            <a:ext cx="5349240" cy="114300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309360" y="3136391"/>
            <a:ext cx="64008" cy="1143000"/>
          </a:xfrm>
          <a:prstGeom prst="rect">
            <a:avLst/>
          </a:prstGeom>
          <a:solidFill>
            <a:srgbClr val="28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92240" y="3273551"/>
            <a:ext cx="5029200" cy="274320"/>
          </a:xfrm>
          <a:prstGeom prst="rect">
            <a:avLst/>
          </a:prstGeom>
          <a:noFill/>
        </p:spPr>
        <p:txBody>
          <a:bodyPr wrap="square">
            <a:spAutoFit/>
          </a:bodyPr>
          <a:lstStyle/>
          <a:p>
            <a:pPr>
              <a:spcAft>
                <a:spcPts val="300"/>
              </a:spcAft>
              <a:defRPr sz="1300" b="1">
                <a:solidFill>
                  <a:srgbClr val="121F37"/>
                </a:solidFill>
                <a:latin typeface="Aptos"/>
              </a:defRPr>
            </a:pPr>
            <a:r>
              <a:t>Average order amount</a:t>
            </a:r>
          </a:p>
        </p:txBody>
      </p:sp>
      <p:sp>
        <p:nvSpPr>
          <p:cNvPr id="22" name="TextBox 21"/>
          <p:cNvSpPr txBox="1"/>
          <p:nvPr/>
        </p:nvSpPr>
        <p:spPr>
          <a:xfrm>
            <a:off x="6492240" y="3639311"/>
            <a:ext cx="4983479" cy="548640"/>
          </a:xfrm>
          <a:prstGeom prst="rect">
            <a:avLst/>
          </a:prstGeom>
          <a:noFill/>
        </p:spPr>
        <p:txBody>
          <a:bodyPr wrap="square">
            <a:spAutoFit/>
          </a:bodyPr>
          <a:lstStyle/>
          <a:p>
            <a:pPr>
              <a:spcAft>
                <a:spcPts val="300"/>
              </a:spcAft>
              <a:defRPr sz="1100" b="0">
                <a:solidFill>
                  <a:srgbClr val="232D3C"/>
                </a:solidFill>
                <a:latin typeface="Aptos"/>
              </a:defRPr>
            </a:pPr>
            <a:r>
              <a:t>AVG(amount)</a:t>
            </a:r>
          </a:p>
          <a:p>
            <a:pPr>
              <a:spcAft>
                <a:spcPts val="300"/>
              </a:spcAft>
              <a:defRPr sz="1100" b="0">
                <a:solidFill>
                  <a:srgbClr val="232D3C"/>
                </a:solidFill>
                <a:latin typeface="Aptos"/>
              </a:defRPr>
            </a:pPr>
            <a:r>
              <a:t>Specify whether this is per detail row or per distinct order.</a:t>
            </a:r>
          </a:p>
        </p:txBody>
      </p:sp>
      <p:sp>
        <p:nvSpPr>
          <p:cNvPr id="23" name="Rounded Rectangle 22"/>
          <p:cNvSpPr/>
          <p:nvPr/>
        </p:nvSpPr>
        <p:spPr>
          <a:xfrm>
            <a:off x="640080" y="4489704"/>
            <a:ext cx="5349240" cy="114300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40080" y="4489704"/>
            <a:ext cx="64008" cy="1143000"/>
          </a:xfrm>
          <a:prstGeom prst="rect">
            <a:avLst/>
          </a:prstGeom>
          <a:solidFill>
            <a:srgbClr val="14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59" y="4626864"/>
            <a:ext cx="5029200" cy="274320"/>
          </a:xfrm>
          <a:prstGeom prst="rect">
            <a:avLst/>
          </a:prstGeom>
          <a:noFill/>
        </p:spPr>
        <p:txBody>
          <a:bodyPr wrap="square">
            <a:spAutoFit/>
          </a:bodyPr>
          <a:lstStyle/>
          <a:p>
            <a:pPr>
              <a:spcAft>
                <a:spcPts val="300"/>
              </a:spcAft>
              <a:defRPr sz="1300" b="1">
                <a:solidFill>
                  <a:srgbClr val="121F37"/>
                </a:solidFill>
                <a:latin typeface="Aptos"/>
              </a:defRPr>
            </a:pPr>
            <a:r>
              <a:t>Payment mix</a:t>
            </a:r>
          </a:p>
        </p:txBody>
      </p:sp>
      <p:sp>
        <p:nvSpPr>
          <p:cNvPr id="26" name="TextBox 25"/>
          <p:cNvSpPr txBox="1"/>
          <p:nvPr/>
        </p:nvSpPr>
        <p:spPr>
          <a:xfrm>
            <a:off x="822959" y="4992624"/>
            <a:ext cx="4983479" cy="548640"/>
          </a:xfrm>
          <a:prstGeom prst="rect">
            <a:avLst/>
          </a:prstGeom>
          <a:noFill/>
        </p:spPr>
        <p:txBody>
          <a:bodyPr wrap="square">
            <a:spAutoFit/>
          </a:bodyPr>
          <a:lstStyle/>
          <a:p>
            <a:pPr>
              <a:spcAft>
                <a:spcPts val="300"/>
              </a:spcAft>
              <a:defRPr sz="1100" b="0">
                <a:solidFill>
                  <a:srgbClr val="232D3C"/>
                </a:solidFill>
                <a:latin typeface="Aptos"/>
              </a:defRPr>
            </a:pPr>
            <a:r>
              <a:t>Mode order count / total order count × 100</a:t>
            </a:r>
          </a:p>
          <a:p>
            <a:pPr>
              <a:spcAft>
                <a:spcPts val="300"/>
              </a:spcAft>
              <a:defRPr sz="1100" b="0">
                <a:solidFill>
                  <a:srgbClr val="232D3C"/>
                </a:solidFill>
                <a:latin typeface="Aptos"/>
              </a:defRPr>
            </a:pPr>
            <a:r>
              <a:t>Use COUNT(DISTINCT order_id) for order share; COUNT(DISTINCT order_id) gives order share.</a:t>
            </a:r>
          </a:p>
        </p:txBody>
      </p:sp>
      <p:sp>
        <p:nvSpPr>
          <p:cNvPr id="27" name="Rounded Rectangle 26"/>
          <p:cNvSpPr/>
          <p:nvPr/>
        </p:nvSpPr>
        <p:spPr>
          <a:xfrm>
            <a:off x="6309360" y="4489704"/>
            <a:ext cx="5349240" cy="114300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309360" y="4489704"/>
            <a:ext cx="64008" cy="114300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92240" y="4626864"/>
            <a:ext cx="5029200" cy="274320"/>
          </a:xfrm>
          <a:prstGeom prst="rect">
            <a:avLst/>
          </a:prstGeom>
          <a:noFill/>
        </p:spPr>
        <p:txBody>
          <a:bodyPr wrap="square">
            <a:spAutoFit/>
          </a:bodyPr>
          <a:lstStyle/>
          <a:p>
            <a:pPr>
              <a:spcAft>
                <a:spcPts val="300"/>
              </a:spcAft>
              <a:defRPr sz="1300" b="1">
                <a:solidFill>
                  <a:srgbClr val="121F37"/>
                </a:solidFill>
                <a:latin typeface="Aptos"/>
              </a:defRPr>
            </a:pPr>
            <a:r>
              <a:t>Customer rank</a:t>
            </a:r>
          </a:p>
        </p:txBody>
      </p:sp>
      <p:sp>
        <p:nvSpPr>
          <p:cNvPr id="30" name="TextBox 29"/>
          <p:cNvSpPr txBox="1"/>
          <p:nvPr/>
        </p:nvSpPr>
        <p:spPr>
          <a:xfrm>
            <a:off x="6492240" y="4992624"/>
            <a:ext cx="4983479" cy="548640"/>
          </a:xfrm>
          <a:prstGeom prst="rect">
            <a:avLst/>
          </a:prstGeom>
          <a:noFill/>
        </p:spPr>
        <p:txBody>
          <a:bodyPr wrap="square">
            <a:spAutoFit/>
          </a:bodyPr>
          <a:lstStyle/>
          <a:p>
            <a:pPr>
              <a:spcAft>
                <a:spcPts val="300"/>
              </a:spcAft>
              <a:defRPr sz="1100" b="0">
                <a:solidFill>
                  <a:srgbClr val="232D3C"/>
                </a:solidFill>
                <a:latin typeface="Aptos"/>
              </a:defRPr>
            </a:pPr>
            <a:r>
              <a:t>RANK() OVER (ORDER BY SUM(amount) DESC)</a:t>
            </a:r>
          </a:p>
          <a:p>
            <a:pPr>
              <a:spcAft>
                <a:spcPts val="300"/>
              </a:spcAft>
              <a:defRPr sz="1100" b="0">
                <a:solidFill>
                  <a:srgbClr val="232D3C"/>
                </a:solidFill>
                <a:latin typeface="Aptos"/>
              </a:defRPr>
            </a:pPr>
            <a:r>
              <a:t>Ties share rank; ROW_NUMBER() forces unique sequence.</a:t>
            </a:r>
          </a:p>
        </p:txBody>
      </p:sp>
      <p:sp>
        <p:nvSpPr>
          <p:cNvPr id="32" name="TextBox 31"/>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a:spAutoFit/>
          </a:bodyPr>
          <a:lstStyle/>
          <a:p>
            <a:pPr>
              <a:spcAft>
                <a:spcPts val="300"/>
              </a:spcAft>
              <a:defRPr sz="1000" b="1">
                <a:solidFill>
                  <a:srgbClr val="149691"/>
                </a:solidFill>
                <a:latin typeface="Aptos"/>
              </a:defRPr>
            </a:pPr>
            <a:r>
              <a:t>25 / POWER QUERY</a:t>
            </a:r>
          </a:p>
        </p:txBody>
      </p:sp>
      <p:sp>
        <p:nvSpPr>
          <p:cNvPr id="4" name="TextBox 3"/>
          <p:cNvSpPr txBox="1"/>
          <p:nvPr/>
        </p:nvSpPr>
        <p:spPr>
          <a:xfrm>
            <a:off x="502920" y="566928"/>
            <a:ext cx="11155680" cy="502920"/>
          </a:xfrm>
          <a:prstGeom prst="rect">
            <a:avLst/>
          </a:prstGeom>
          <a:noFill/>
        </p:spPr>
        <p:txBody>
          <a:bodyPr wrap="square">
            <a:spAutoFit/>
          </a:bodyPr>
          <a:lstStyle/>
          <a:p>
            <a:pPr>
              <a:spcAft>
                <a:spcPts val="300"/>
              </a:spcAft>
              <a:defRPr sz="2700" b="1">
                <a:solidFill>
                  <a:srgbClr val="121F37"/>
                </a:solidFill>
                <a:latin typeface="Aptos"/>
              </a:defRPr>
            </a:pPr>
            <a:r>
              <a:t>Power Query preparation checklist</a:t>
            </a:r>
          </a:p>
        </p:txBody>
      </p:sp>
      <p:sp>
        <p:nvSpPr>
          <p:cNvPr id="5" name="TextBox 4"/>
          <p:cNvSpPr txBox="1"/>
          <p:nvPr/>
        </p:nvSpPr>
        <p:spPr>
          <a:xfrm>
            <a:off x="530352" y="1078992"/>
            <a:ext cx="10972800" cy="384048"/>
          </a:xfrm>
          <a:prstGeom prst="rect">
            <a:avLst/>
          </a:prstGeom>
          <a:noFill/>
        </p:spPr>
        <p:txBody>
          <a:bodyPr wrap="square">
            <a:spAutoFit/>
          </a:bodyPr>
          <a:lstStyle/>
          <a:p>
            <a:pPr>
              <a:spcAft>
                <a:spcPts val="300"/>
              </a:spcAft>
              <a:defRPr sz="1100" b="0">
                <a:solidFill>
                  <a:srgbClr val="647080"/>
                </a:solidFill>
                <a:latin typeface="Aptos"/>
              </a:defRPr>
            </a:pPr>
            <a:r>
              <a:t>Document only transformations that you actually performed in your own PBIX.</a:t>
            </a:r>
          </a:p>
        </p:txBody>
      </p:sp>
      <p:sp>
        <p:nvSpPr>
          <p:cNvPr id="6" name="Rectangle 5"/>
          <p:cNvSpPr/>
          <p:nvPr/>
        </p:nvSpPr>
        <p:spPr>
          <a:xfrm>
            <a:off x="502920" y="1499616"/>
            <a:ext cx="11155680" cy="2286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1783080"/>
            <a:ext cx="5257800" cy="109728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783080"/>
            <a:ext cx="64008" cy="1097280"/>
          </a:xfrm>
          <a:prstGeom prst="rect">
            <a:avLst/>
          </a:prstGeom>
          <a:solidFill>
            <a:srgbClr val="28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59" y="1920240"/>
            <a:ext cx="4937760" cy="274320"/>
          </a:xfrm>
          <a:prstGeom prst="rect">
            <a:avLst/>
          </a:prstGeom>
          <a:noFill/>
        </p:spPr>
        <p:txBody>
          <a:bodyPr wrap="square">
            <a:spAutoFit/>
          </a:bodyPr>
          <a:lstStyle/>
          <a:p>
            <a:pPr>
              <a:spcAft>
                <a:spcPts val="300"/>
              </a:spcAft>
              <a:defRPr sz="1300" b="1">
                <a:solidFill>
                  <a:srgbClr val="121F37"/>
                </a:solidFill>
                <a:latin typeface="Aptos"/>
              </a:defRPr>
            </a:pPr>
            <a:r>
              <a:t>Data types</a:t>
            </a:r>
          </a:p>
        </p:txBody>
      </p:sp>
      <p:sp>
        <p:nvSpPr>
          <p:cNvPr id="10" name="TextBox 9"/>
          <p:cNvSpPr txBox="1"/>
          <p:nvPr/>
        </p:nvSpPr>
        <p:spPr>
          <a:xfrm>
            <a:off x="822959" y="2286000"/>
            <a:ext cx="4892040" cy="502919"/>
          </a:xfrm>
          <a:prstGeom prst="rect">
            <a:avLst/>
          </a:prstGeom>
          <a:noFill/>
        </p:spPr>
        <p:txBody>
          <a:bodyPr wrap="square">
            <a:spAutoFit/>
          </a:bodyPr>
          <a:lstStyle/>
          <a:p>
            <a:pPr>
              <a:spcAft>
                <a:spcPts val="300"/>
              </a:spcAft>
              <a:defRPr sz="1100" b="0">
                <a:solidFill>
                  <a:srgbClr val="232D3C"/>
                </a:solidFill>
                <a:latin typeface="Aptos"/>
              </a:defRPr>
            </a:pPr>
            <a:r>
              <a:t>Set order_date as Date; amount/profit as Decimal Number; quantity as Whole Number.</a:t>
            </a:r>
          </a:p>
        </p:txBody>
      </p:sp>
      <p:sp>
        <p:nvSpPr>
          <p:cNvPr id="11" name="Rounded Rectangle 10"/>
          <p:cNvSpPr/>
          <p:nvPr/>
        </p:nvSpPr>
        <p:spPr>
          <a:xfrm>
            <a:off x="6263640" y="1783080"/>
            <a:ext cx="5257800" cy="109728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63640" y="1783080"/>
            <a:ext cx="64008" cy="1097280"/>
          </a:xfrm>
          <a:prstGeom prst="rect">
            <a:avLst/>
          </a:prstGeom>
          <a:solidFill>
            <a:srgbClr val="14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46520" y="1920240"/>
            <a:ext cx="4937760" cy="274320"/>
          </a:xfrm>
          <a:prstGeom prst="rect">
            <a:avLst/>
          </a:prstGeom>
          <a:noFill/>
        </p:spPr>
        <p:txBody>
          <a:bodyPr wrap="square">
            <a:spAutoFit/>
          </a:bodyPr>
          <a:lstStyle/>
          <a:p>
            <a:pPr>
              <a:spcAft>
                <a:spcPts val="300"/>
              </a:spcAft>
              <a:defRPr sz="1300" b="1">
                <a:solidFill>
                  <a:srgbClr val="121F37"/>
                </a:solidFill>
                <a:latin typeface="Aptos"/>
              </a:defRPr>
            </a:pPr>
            <a:r>
              <a:t>Text cleanup</a:t>
            </a:r>
          </a:p>
        </p:txBody>
      </p:sp>
      <p:sp>
        <p:nvSpPr>
          <p:cNvPr id="14" name="TextBox 13"/>
          <p:cNvSpPr txBox="1"/>
          <p:nvPr/>
        </p:nvSpPr>
        <p:spPr>
          <a:xfrm>
            <a:off x="6446520" y="2286000"/>
            <a:ext cx="4892040" cy="502919"/>
          </a:xfrm>
          <a:prstGeom prst="rect">
            <a:avLst/>
          </a:prstGeom>
          <a:noFill/>
        </p:spPr>
        <p:txBody>
          <a:bodyPr wrap="square">
            <a:spAutoFit/>
          </a:bodyPr>
          <a:lstStyle/>
          <a:p>
            <a:pPr>
              <a:spcAft>
                <a:spcPts val="300"/>
              </a:spcAft>
              <a:defRPr sz="1100" b="0">
                <a:solidFill>
                  <a:srgbClr val="232D3C"/>
                </a:solidFill>
                <a:latin typeface="Aptos"/>
              </a:defRPr>
            </a:pPr>
            <a:r>
              <a:t>Trim/clean city, state, customer and payment labels; standardize case and spelling.</a:t>
            </a:r>
          </a:p>
        </p:txBody>
      </p:sp>
      <p:sp>
        <p:nvSpPr>
          <p:cNvPr id="15" name="Rounded Rectangle 14"/>
          <p:cNvSpPr/>
          <p:nvPr/>
        </p:nvSpPr>
        <p:spPr>
          <a:xfrm>
            <a:off x="640080" y="3108960"/>
            <a:ext cx="5257800" cy="109728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 y="3108960"/>
            <a:ext cx="64008" cy="109728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59" y="3246120"/>
            <a:ext cx="4937760" cy="274320"/>
          </a:xfrm>
          <a:prstGeom prst="rect">
            <a:avLst/>
          </a:prstGeom>
          <a:noFill/>
        </p:spPr>
        <p:txBody>
          <a:bodyPr wrap="square">
            <a:spAutoFit/>
          </a:bodyPr>
          <a:lstStyle/>
          <a:p>
            <a:pPr>
              <a:spcAft>
                <a:spcPts val="300"/>
              </a:spcAft>
              <a:defRPr sz="1300" b="1">
                <a:solidFill>
                  <a:srgbClr val="121F37"/>
                </a:solidFill>
                <a:latin typeface="Aptos"/>
              </a:defRPr>
            </a:pPr>
            <a:r>
              <a:t>Privacy transforms</a:t>
            </a:r>
          </a:p>
        </p:txBody>
      </p:sp>
      <p:sp>
        <p:nvSpPr>
          <p:cNvPr id="18" name="TextBox 17"/>
          <p:cNvSpPr txBox="1"/>
          <p:nvPr/>
        </p:nvSpPr>
        <p:spPr>
          <a:xfrm>
            <a:off x="822959" y="3611880"/>
            <a:ext cx="4892040" cy="502919"/>
          </a:xfrm>
          <a:prstGeom prst="rect">
            <a:avLst/>
          </a:prstGeom>
          <a:noFill/>
        </p:spPr>
        <p:txBody>
          <a:bodyPr wrap="square">
            <a:spAutoFit/>
          </a:bodyPr>
          <a:lstStyle/>
          <a:p>
            <a:pPr>
              <a:spcAft>
                <a:spcPts val="300"/>
              </a:spcAft>
              <a:defRPr sz="1100" b="0">
                <a:solidFill>
                  <a:srgbClr val="232D3C"/>
                </a:solidFill>
                <a:latin typeface="Aptos"/>
              </a:defRPr>
            </a:pPr>
            <a:r>
              <a:t>Replace customer name with anonymous ID; remove order IDs, email, address, payment references and company labels.</a:t>
            </a:r>
          </a:p>
        </p:txBody>
      </p:sp>
      <p:sp>
        <p:nvSpPr>
          <p:cNvPr id="19" name="Rounded Rectangle 18"/>
          <p:cNvSpPr/>
          <p:nvPr/>
        </p:nvSpPr>
        <p:spPr>
          <a:xfrm>
            <a:off x="6263640" y="3108960"/>
            <a:ext cx="5257800" cy="109728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63640" y="3108960"/>
            <a:ext cx="64008" cy="1097280"/>
          </a:xfrm>
          <a:prstGeom prst="rect">
            <a:avLst/>
          </a:prstGeom>
          <a:solidFill>
            <a:srgbClr val="28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46520" y="3246120"/>
            <a:ext cx="4937760" cy="274320"/>
          </a:xfrm>
          <a:prstGeom prst="rect">
            <a:avLst/>
          </a:prstGeom>
          <a:noFill/>
        </p:spPr>
        <p:txBody>
          <a:bodyPr wrap="square">
            <a:spAutoFit/>
          </a:bodyPr>
          <a:lstStyle/>
          <a:p>
            <a:pPr>
              <a:spcAft>
                <a:spcPts val="300"/>
              </a:spcAft>
              <a:defRPr sz="1300" b="1">
                <a:solidFill>
                  <a:srgbClr val="121F37"/>
                </a:solidFill>
                <a:latin typeface="Aptos"/>
              </a:defRPr>
            </a:pPr>
            <a:r>
              <a:t>Category mapping</a:t>
            </a:r>
          </a:p>
        </p:txBody>
      </p:sp>
      <p:sp>
        <p:nvSpPr>
          <p:cNvPr id="22" name="TextBox 21"/>
          <p:cNvSpPr txBox="1"/>
          <p:nvPr/>
        </p:nvSpPr>
        <p:spPr>
          <a:xfrm>
            <a:off x="6446520" y="3611880"/>
            <a:ext cx="4892040" cy="502919"/>
          </a:xfrm>
          <a:prstGeom prst="rect">
            <a:avLst/>
          </a:prstGeom>
          <a:noFill/>
        </p:spPr>
        <p:txBody>
          <a:bodyPr wrap="square">
            <a:spAutoFit/>
          </a:bodyPr>
          <a:lstStyle/>
          <a:p>
            <a:pPr>
              <a:spcAft>
                <a:spcPts val="300"/>
              </a:spcAft>
              <a:defRPr sz="1100" b="0">
                <a:solidFill>
                  <a:srgbClr val="232D3C"/>
                </a:solidFill>
                <a:latin typeface="Aptos"/>
              </a:defRPr>
            </a:pPr>
            <a:r>
              <a:t>Map all products to Gemstone; map product sub-types to Sapphire, Ruby, Emerald, Amethyst or Topaz.</a:t>
            </a:r>
          </a:p>
        </p:txBody>
      </p:sp>
      <p:sp>
        <p:nvSpPr>
          <p:cNvPr id="23" name="Rounded Rectangle 22"/>
          <p:cNvSpPr/>
          <p:nvPr/>
        </p:nvSpPr>
        <p:spPr>
          <a:xfrm>
            <a:off x="640080" y="4434840"/>
            <a:ext cx="5257800" cy="109728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40080" y="4434840"/>
            <a:ext cx="64008" cy="1097280"/>
          </a:xfrm>
          <a:prstGeom prst="rect">
            <a:avLst/>
          </a:prstGeom>
          <a:solidFill>
            <a:srgbClr val="14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59" y="4572000"/>
            <a:ext cx="4937760" cy="274320"/>
          </a:xfrm>
          <a:prstGeom prst="rect">
            <a:avLst/>
          </a:prstGeom>
          <a:noFill/>
        </p:spPr>
        <p:txBody>
          <a:bodyPr wrap="square">
            <a:spAutoFit/>
          </a:bodyPr>
          <a:lstStyle/>
          <a:p>
            <a:pPr>
              <a:spcAft>
                <a:spcPts val="300"/>
              </a:spcAft>
              <a:defRPr sz="1300" b="1">
                <a:solidFill>
                  <a:srgbClr val="121F37"/>
                </a:solidFill>
                <a:latin typeface="Aptos"/>
              </a:defRPr>
            </a:pPr>
            <a:r>
              <a:t>Validation</a:t>
            </a:r>
          </a:p>
        </p:txBody>
      </p:sp>
      <p:sp>
        <p:nvSpPr>
          <p:cNvPr id="26" name="TextBox 25"/>
          <p:cNvSpPr txBox="1"/>
          <p:nvPr/>
        </p:nvSpPr>
        <p:spPr>
          <a:xfrm>
            <a:off x="822959" y="4937759"/>
            <a:ext cx="4892040" cy="502919"/>
          </a:xfrm>
          <a:prstGeom prst="rect">
            <a:avLst/>
          </a:prstGeom>
          <a:noFill/>
        </p:spPr>
        <p:txBody>
          <a:bodyPr wrap="square">
            <a:spAutoFit/>
          </a:bodyPr>
          <a:lstStyle/>
          <a:p>
            <a:pPr>
              <a:spcAft>
                <a:spcPts val="300"/>
              </a:spcAft>
              <a:defRPr sz="1100" b="0">
                <a:solidFill>
                  <a:srgbClr val="232D3C"/>
                </a:solidFill>
                <a:latin typeface="Aptos"/>
              </a:defRPr>
            </a:pPr>
            <a:r>
              <a:t>Check nulls, duplicate keys, unmatched joins, negative profit and outlier amounts.</a:t>
            </a:r>
          </a:p>
        </p:txBody>
      </p:sp>
      <p:sp>
        <p:nvSpPr>
          <p:cNvPr id="27" name="Rounded Rectangle 26"/>
          <p:cNvSpPr/>
          <p:nvPr/>
        </p:nvSpPr>
        <p:spPr>
          <a:xfrm>
            <a:off x="6263640" y="4434840"/>
            <a:ext cx="5257800" cy="109728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63640" y="4434840"/>
            <a:ext cx="64008" cy="109728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46520" y="4572000"/>
            <a:ext cx="4937760" cy="274320"/>
          </a:xfrm>
          <a:prstGeom prst="rect">
            <a:avLst/>
          </a:prstGeom>
          <a:noFill/>
        </p:spPr>
        <p:txBody>
          <a:bodyPr wrap="square">
            <a:spAutoFit/>
          </a:bodyPr>
          <a:lstStyle/>
          <a:p>
            <a:pPr>
              <a:spcAft>
                <a:spcPts val="300"/>
              </a:spcAft>
              <a:defRPr sz="1300" b="1">
                <a:solidFill>
                  <a:srgbClr val="121F37"/>
                </a:solidFill>
                <a:latin typeface="Aptos"/>
              </a:defRPr>
            </a:pPr>
            <a:r>
              <a:t>Currency display</a:t>
            </a:r>
          </a:p>
        </p:txBody>
      </p:sp>
      <p:sp>
        <p:nvSpPr>
          <p:cNvPr id="30" name="TextBox 29"/>
          <p:cNvSpPr txBox="1"/>
          <p:nvPr/>
        </p:nvSpPr>
        <p:spPr>
          <a:xfrm>
            <a:off x="6446520" y="4937759"/>
            <a:ext cx="4892040" cy="502919"/>
          </a:xfrm>
          <a:prstGeom prst="rect">
            <a:avLst/>
          </a:prstGeom>
          <a:noFill/>
        </p:spPr>
        <p:txBody>
          <a:bodyPr wrap="square">
            <a:spAutoFit/>
          </a:bodyPr>
          <a:lstStyle/>
          <a:p>
            <a:pPr>
              <a:spcAft>
                <a:spcPts val="300"/>
              </a:spcAft>
              <a:defRPr sz="1100" b="0">
                <a:solidFill>
                  <a:srgbClr val="232D3C"/>
                </a:solidFill>
                <a:latin typeface="Aptos"/>
              </a:defRPr>
            </a:pPr>
            <a:r>
              <a:t>Set model/report formatting to USD only for a dataset that is USD or synthetic USD. Do not relabel INR values as USD.</a:t>
            </a:r>
          </a:p>
        </p:txBody>
      </p:sp>
      <p:sp>
        <p:nvSpPr>
          <p:cNvPr id="32" name="TextBox 31"/>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a:spAutoFit/>
          </a:bodyPr>
          <a:lstStyle/>
          <a:p>
            <a:pPr>
              <a:spcAft>
                <a:spcPts val="300"/>
              </a:spcAft>
              <a:defRPr sz="1000" b="1">
                <a:solidFill>
                  <a:srgbClr val="149691"/>
                </a:solidFill>
                <a:latin typeface="Aptos"/>
              </a:defRPr>
            </a:pPr>
            <a:r>
              <a:t>26 / POWER BI</a:t>
            </a:r>
          </a:p>
        </p:txBody>
      </p:sp>
      <p:sp>
        <p:nvSpPr>
          <p:cNvPr id="4" name="TextBox 3"/>
          <p:cNvSpPr txBox="1"/>
          <p:nvPr/>
        </p:nvSpPr>
        <p:spPr>
          <a:xfrm>
            <a:off x="502920" y="566928"/>
            <a:ext cx="11155680" cy="502920"/>
          </a:xfrm>
          <a:prstGeom prst="rect">
            <a:avLst/>
          </a:prstGeom>
          <a:noFill/>
        </p:spPr>
        <p:txBody>
          <a:bodyPr wrap="square">
            <a:spAutoFit/>
          </a:bodyPr>
          <a:lstStyle/>
          <a:p>
            <a:pPr>
              <a:spcAft>
                <a:spcPts val="300"/>
              </a:spcAft>
              <a:defRPr sz="2700" b="1">
                <a:solidFill>
                  <a:srgbClr val="121F37"/>
                </a:solidFill>
                <a:latin typeface="Aptos"/>
              </a:defRPr>
            </a:pPr>
            <a:r>
              <a:t>Suggested report pages &amp; visuals</a:t>
            </a:r>
          </a:p>
        </p:txBody>
      </p:sp>
      <p:sp>
        <p:nvSpPr>
          <p:cNvPr id="5" name="TextBox 4"/>
          <p:cNvSpPr txBox="1"/>
          <p:nvPr/>
        </p:nvSpPr>
        <p:spPr>
          <a:xfrm>
            <a:off x="530352" y="1078992"/>
            <a:ext cx="10972800" cy="384048"/>
          </a:xfrm>
          <a:prstGeom prst="rect">
            <a:avLst/>
          </a:prstGeom>
          <a:noFill/>
        </p:spPr>
        <p:txBody>
          <a:bodyPr wrap="square">
            <a:spAutoFit/>
          </a:bodyPr>
          <a:lstStyle/>
          <a:p>
            <a:pPr>
              <a:spcAft>
                <a:spcPts val="300"/>
              </a:spcAft>
              <a:defRPr sz="1100" b="0">
                <a:solidFill>
                  <a:srgbClr val="647080"/>
                </a:solidFill>
                <a:latin typeface="Aptos"/>
              </a:defRPr>
            </a:pPr>
            <a:r>
              <a:t>A public-safe dashboard structure that communicates the work without exposing company data.</a:t>
            </a:r>
          </a:p>
        </p:txBody>
      </p:sp>
      <p:sp>
        <p:nvSpPr>
          <p:cNvPr id="6" name="Rectangle 5"/>
          <p:cNvSpPr/>
          <p:nvPr/>
        </p:nvSpPr>
        <p:spPr>
          <a:xfrm>
            <a:off x="502920" y="1499616"/>
            <a:ext cx="11155680" cy="2286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1783080"/>
            <a:ext cx="5257800" cy="1124712"/>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783080"/>
            <a:ext cx="64008" cy="1124712"/>
          </a:xfrm>
          <a:prstGeom prst="rect">
            <a:avLst/>
          </a:prstGeom>
          <a:solidFill>
            <a:srgbClr val="28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59" y="1920240"/>
            <a:ext cx="4937760" cy="274320"/>
          </a:xfrm>
          <a:prstGeom prst="rect">
            <a:avLst/>
          </a:prstGeom>
          <a:noFill/>
        </p:spPr>
        <p:txBody>
          <a:bodyPr wrap="square">
            <a:spAutoFit/>
          </a:bodyPr>
          <a:lstStyle/>
          <a:p>
            <a:pPr>
              <a:spcAft>
                <a:spcPts val="300"/>
              </a:spcAft>
              <a:defRPr sz="1300" b="1">
                <a:solidFill>
                  <a:srgbClr val="121F37"/>
                </a:solidFill>
                <a:latin typeface="Aptos"/>
              </a:defRPr>
            </a:pPr>
            <a:r>
              <a:t>Executive overview</a:t>
            </a:r>
          </a:p>
        </p:txBody>
      </p:sp>
      <p:sp>
        <p:nvSpPr>
          <p:cNvPr id="10" name="TextBox 9"/>
          <p:cNvSpPr txBox="1"/>
          <p:nvPr/>
        </p:nvSpPr>
        <p:spPr>
          <a:xfrm>
            <a:off x="822959" y="2286000"/>
            <a:ext cx="4892040" cy="530352"/>
          </a:xfrm>
          <a:prstGeom prst="rect">
            <a:avLst/>
          </a:prstGeom>
          <a:noFill/>
        </p:spPr>
        <p:txBody>
          <a:bodyPr wrap="square">
            <a:spAutoFit/>
          </a:bodyPr>
          <a:lstStyle/>
          <a:p>
            <a:pPr>
              <a:spcAft>
                <a:spcPts val="300"/>
              </a:spcAft>
              <a:defRPr sz="1100" b="0">
                <a:solidFill>
                  <a:srgbClr val="232D3C"/>
                </a:solidFill>
                <a:latin typeface="Aptos"/>
              </a:defRPr>
            </a:pPr>
            <a:r>
              <a:t>KPI cards: Revenue (USD), Profit (USD), Profit Margin, Quantity, Orders.</a:t>
            </a:r>
          </a:p>
        </p:txBody>
      </p:sp>
      <p:sp>
        <p:nvSpPr>
          <p:cNvPr id="11" name="Rounded Rectangle 10"/>
          <p:cNvSpPr/>
          <p:nvPr/>
        </p:nvSpPr>
        <p:spPr>
          <a:xfrm>
            <a:off x="6263640" y="1783080"/>
            <a:ext cx="5257800" cy="1124712"/>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63640" y="1783080"/>
            <a:ext cx="64008" cy="1124712"/>
          </a:xfrm>
          <a:prstGeom prst="rect">
            <a:avLst/>
          </a:prstGeom>
          <a:solidFill>
            <a:srgbClr val="14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46520" y="1920240"/>
            <a:ext cx="4937760" cy="274320"/>
          </a:xfrm>
          <a:prstGeom prst="rect">
            <a:avLst/>
          </a:prstGeom>
          <a:noFill/>
        </p:spPr>
        <p:txBody>
          <a:bodyPr wrap="square">
            <a:spAutoFit/>
          </a:bodyPr>
          <a:lstStyle/>
          <a:p>
            <a:pPr>
              <a:spcAft>
                <a:spcPts val="300"/>
              </a:spcAft>
              <a:defRPr sz="1300" b="1">
                <a:solidFill>
                  <a:srgbClr val="121F37"/>
                </a:solidFill>
                <a:latin typeface="Aptos"/>
              </a:defRPr>
            </a:pPr>
            <a:r>
              <a:t>Revenue &amp; geography</a:t>
            </a:r>
          </a:p>
        </p:txBody>
      </p:sp>
      <p:sp>
        <p:nvSpPr>
          <p:cNvPr id="14" name="TextBox 13"/>
          <p:cNvSpPr txBox="1"/>
          <p:nvPr/>
        </p:nvSpPr>
        <p:spPr>
          <a:xfrm>
            <a:off x="6446520" y="2286000"/>
            <a:ext cx="4892040" cy="530352"/>
          </a:xfrm>
          <a:prstGeom prst="rect">
            <a:avLst/>
          </a:prstGeom>
          <a:noFill/>
        </p:spPr>
        <p:txBody>
          <a:bodyPr wrap="square">
            <a:spAutoFit/>
          </a:bodyPr>
          <a:lstStyle/>
          <a:p>
            <a:pPr>
              <a:spcAft>
                <a:spcPts val="300"/>
              </a:spcAft>
              <a:defRPr sz="1100" b="0">
                <a:solidFill>
                  <a:srgbClr val="232D3C"/>
                </a:solidFill>
                <a:latin typeface="Aptos"/>
              </a:defRPr>
            </a:pPr>
            <a:r>
              <a:t>Bar chart by fictional city/region; monthly revenue trend; slicers for date and gemstone type.</a:t>
            </a:r>
          </a:p>
        </p:txBody>
      </p:sp>
      <p:sp>
        <p:nvSpPr>
          <p:cNvPr id="15" name="Rounded Rectangle 14"/>
          <p:cNvSpPr/>
          <p:nvPr/>
        </p:nvSpPr>
        <p:spPr>
          <a:xfrm>
            <a:off x="640080" y="3136391"/>
            <a:ext cx="5257800" cy="1124712"/>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 y="3136391"/>
            <a:ext cx="64008" cy="1124712"/>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59" y="3273551"/>
            <a:ext cx="4937760" cy="274320"/>
          </a:xfrm>
          <a:prstGeom prst="rect">
            <a:avLst/>
          </a:prstGeom>
          <a:noFill/>
        </p:spPr>
        <p:txBody>
          <a:bodyPr wrap="square">
            <a:spAutoFit/>
          </a:bodyPr>
          <a:lstStyle/>
          <a:p>
            <a:pPr>
              <a:spcAft>
                <a:spcPts val="300"/>
              </a:spcAft>
              <a:defRPr sz="1300" b="1">
                <a:solidFill>
                  <a:srgbClr val="121F37"/>
                </a:solidFill>
                <a:latin typeface="Aptos"/>
              </a:defRPr>
            </a:pPr>
            <a:r>
              <a:t>Customer analysis</a:t>
            </a:r>
          </a:p>
        </p:txBody>
      </p:sp>
      <p:sp>
        <p:nvSpPr>
          <p:cNvPr id="18" name="TextBox 17"/>
          <p:cNvSpPr txBox="1"/>
          <p:nvPr/>
        </p:nvSpPr>
        <p:spPr>
          <a:xfrm>
            <a:off x="822959" y="3639311"/>
            <a:ext cx="4892040" cy="530352"/>
          </a:xfrm>
          <a:prstGeom prst="rect">
            <a:avLst/>
          </a:prstGeom>
          <a:noFill/>
        </p:spPr>
        <p:txBody>
          <a:bodyPr wrap="square">
            <a:spAutoFit/>
          </a:bodyPr>
          <a:lstStyle/>
          <a:p>
            <a:pPr>
              <a:spcAft>
                <a:spcPts val="300"/>
              </a:spcAft>
              <a:defRPr sz="1100" b="0">
                <a:solidFill>
                  <a:srgbClr val="232D3C"/>
                </a:solidFill>
                <a:latin typeface="Aptos"/>
              </a:defRPr>
            </a:pPr>
            <a:r>
              <a:t>Anonymous customer rank, spend segment, repeat-order count; avoid names and order-level detail.</a:t>
            </a:r>
          </a:p>
        </p:txBody>
      </p:sp>
      <p:sp>
        <p:nvSpPr>
          <p:cNvPr id="19" name="Rounded Rectangle 18"/>
          <p:cNvSpPr/>
          <p:nvPr/>
        </p:nvSpPr>
        <p:spPr>
          <a:xfrm>
            <a:off x="6263640" y="3136391"/>
            <a:ext cx="5257800" cy="1124712"/>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63640" y="3136391"/>
            <a:ext cx="64008" cy="1124712"/>
          </a:xfrm>
          <a:prstGeom prst="rect">
            <a:avLst/>
          </a:prstGeom>
          <a:solidFill>
            <a:srgbClr val="28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46520" y="3273551"/>
            <a:ext cx="4937760" cy="274320"/>
          </a:xfrm>
          <a:prstGeom prst="rect">
            <a:avLst/>
          </a:prstGeom>
          <a:noFill/>
        </p:spPr>
        <p:txBody>
          <a:bodyPr wrap="square">
            <a:spAutoFit/>
          </a:bodyPr>
          <a:lstStyle/>
          <a:p>
            <a:pPr>
              <a:spcAft>
                <a:spcPts val="300"/>
              </a:spcAft>
              <a:defRPr sz="1300" b="1">
                <a:solidFill>
                  <a:srgbClr val="121F37"/>
                </a:solidFill>
                <a:latin typeface="Aptos"/>
              </a:defRPr>
            </a:pPr>
            <a:r>
              <a:t>Product profitability</a:t>
            </a:r>
          </a:p>
        </p:txBody>
      </p:sp>
      <p:sp>
        <p:nvSpPr>
          <p:cNvPr id="22" name="TextBox 21"/>
          <p:cNvSpPr txBox="1"/>
          <p:nvPr/>
        </p:nvSpPr>
        <p:spPr>
          <a:xfrm>
            <a:off x="6446520" y="3639311"/>
            <a:ext cx="4892040" cy="530352"/>
          </a:xfrm>
          <a:prstGeom prst="rect">
            <a:avLst/>
          </a:prstGeom>
          <a:noFill/>
        </p:spPr>
        <p:txBody>
          <a:bodyPr wrap="square">
            <a:spAutoFit/>
          </a:bodyPr>
          <a:lstStyle/>
          <a:p>
            <a:pPr>
              <a:spcAft>
                <a:spcPts val="300"/>
              </a:spcAft>
              <a:defRPr sz="1100" b="0">
                <a:solidFill>
                  <a:srgbClr val="232D3C"/>
                </a:solidFill>
                <a:latin typeface="Aptos"/>
              </a:defRPr>
            </a:pPr>
            <a:r>
              <a:t>Profit by gemstone sub-category; margin comparison; top 3 profitable types.</a:t>
            </a:r>
          </a:p>
        </p:txBody>
      </p:sp>
      <p:sp>
        <p:nvSpPr>
          <p:cNvPr id="23" name="Rounded Rectangle 22"/>
          <p:cNvSpPr/>
          <p:nvPr/>
        </p:nvSpPr>
        <p:spPr>
          <a:xfrm>
            <a:off x="640080" y="4489704"/>
            <a:ext cx="5257800" cy="1124712"/>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40080" y="4489704"/>
            <a:ext cx="64008" cy="1124712"/>
          </a:xfrm>
          <a:prstGeom prst="rect">
            <a:avLst/>
          </a:prstGeom>
          <a:solidFill>
            <a:srgbClr val="14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59" y="4626864"/>
            <a:ext cx="4937760" cy="274320"/>
          </a:xfrm>
          <a:prstGeom prst="rect">
            <a:avLst/>
          </a:prstGeom>
          <a:noFill/>
        </p:spPr>
        <p:txBody>
          <a:bodyPr wrap="square">
            <a:spAutoFit/>
          </a:bodyPr>
          <a:lstStyle/>
          <a:p>
            <a:pPr>
              <a:spcAft>
                <a:spcPts val="300"/>
              </a:spcAft>
              <a:defRPr sz="1300" b="1">
                <a:solidFill>
                  <a:srgbClr val="121F37"/>
                </a:solidFill>
                <a:latin typeface="Aptos"/>
              </a:defRPr>
            </a:pPr>
            <a:r>
              <a:t>Payment behaviour</a:t>
            </a:r>
          </a:p>
        </p:txBody>
      </p:sp>
      <p:sp>
        <p:nvSpPr>
          <p:cNvPr id="26" name="TextBox 25"/>
          <p:cNvSpPr txBox="1"/>
          <p:nvPr/>
        </p:nvSpPr>
        <p:spPr>
          <a:xfrm>
            <a:off x="822959" y="4992624"/>
            <a:ext cx="4892040" cy="530352"/>
          </a:xfrm>
          <a:prstGeom prst="rect">
            <a:avLst/>
          </a:prstGeom>
          <a:noFill/>
        </p:spPr>
        <p:txBody>
          <a:bodyPr wrap="square">
            <a:spAutoFit/>
          </a:bodyPr>
          <a:lstStyle/>
          <a:p>
            <a:pPr>
              <a:spcAft>
                <a:spcPts val="300"/>
              </a:spcAft>
              <a:defRPr sz="1100" b="0">
                <a:solidFill>
                  <a:srgbClr val="232D3C"/>
                </a:solidFill>
                <a:latin typeface="Aptos"/>
              </a:defRPr>
            </a:pPr>
            <a:r>
              <a:t>Payment-mode share donut; average order amount by payment mode; aggregate only.</a:t>
            </a:r>
          </a:p>
        </p:txBody>
      </p:sp>
      <p:sp>
        <p:nvSpPr>
          <p:cNvPr id="28" name="TextBox 27"/>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a:spAutoFit/>
          </a:bodyPr>
          <a:lstStyle/>
          <a:p>
            <a:pPr>
              <a:spcAft>
                <a:spcPts val="300"/>
              </a:spcAft>
              <a:defRPr sz="1000" b="1">
                <a:solidFill>
                  <a:srgbClr val="149691"/>
                </a:solidFill>
                <a:latin typeface="Aptos"/>
              </a:defRPr>
            </a:pPr>
            <a:r>
              <a:t>27 / DASHBOARD MOCK-UP</a:t>
            </a:r>
          </a:p>
        </p:txBody>
      </p:sp>
      <p:sp>
        <p:nvSpPr>
          <p:cNvPr id="4" name="TextBox 3"/>
          <p:cNvSpPr txBox="1"/>
          <p:nvPr/>
        </p:nvSpPr>
        <p:spPr>
          <a:xfrm>
            <a:off x="502920" y="566928"/>
            <a:ext cx="11155680" cy="502920"/>
          </a:xfrm>
          <a:prstGeom prst="rect">
            <a:avLst/>
          </a:prstGeom>
          <a:noFill/>
        </p:spPr>
        <p:txBody>
          <a:bodyPr wrap="square">
            <a:spAutoFit/>
          </a:bodyPr>
          <a:lstStyle/>
          <a:p>
            <a:pPr>
              <a:spcAft>
                <a:spcPts val="300"/>
              </a:spcAft>
              <a:defRPr sz="2700" b="1">
                <a:solidFill>
                  <a:srgbClr val="121F37"/>
                </a:solidFill>
                <a:latin typeface="Aptos"/>
              </a:defRPr>
            </a:pPr>
            <a:r>
              <a:t>Gemstone retail performance dashboard</a:t>
            </a:r>
          </a:p>
        </p:txBody>
      </p:sp>
      <p:sp>
        <p:nvSpPr>
          <p:cNvPr id="5" name="TextBox 4"/>
          <p:cNvSpPr txBox="1"/>
          <p:nvPr/>
        </p:nvSpPr>
        <p:spPr>
          <a:xfrm>
            <a:off x="530352" y="1078992"/>
            <a:ext cx="10972800" cy="384048"/>
          </a:xfrm>
          <a:prstGeom prst="rect">
            <a:avLst/>
          </a:prstGeom>
          <a:noFill/>
        </p:spPr>
        <p:txBody>
          <a:bodyPr wrap="square">
            <a:spAutoFit/>
          </a:bodyPr>
          <a:lstStyle/>
          <a:p>
            <a:pPr>
              <a:spcAft>
                <a:spcPts val="300"/>
              </a:spcAft>
              <a:defRPr sz="1100" b="0">
                <a:solidFill>
                  <a:srgbClr val="647080"/>
                </a:solidFill>
                <a:latin typeface="Aptos"/>
              </a:defRPr>
            </a:pPr>
            <a:r>
              <a:t>Illustrative USD metrics for a fictional gemstone retailer.</a:t>
            </a:r>
          </a:p>
        </p:txBody>
      </p:sp>
      <p:sp>
        <p:nvSpPr>
          <p:cNvPr id="6" name="Rectangle 5"/>
          <p:cNvSpPr/>
          <p:nvPr/>
        </p:nvSpPr>
        <p:spPr>
          <a:xfrm>
            <a:off x="502920" y="1499616"/>
            <a:ext cx="11155680" cy="2286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1783080"/>
            <a:ext cx="2514600" cy="91440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20240"/>
            <a:ext cx="2240280" cy="201168"/>
          </a:xfrm>
          <a:prstGeom prst="rect">
            <a:avLst/>
          </a:prstGeom>
          <a:noFill/>
        </p:spPr>
        <p:txBody>
          <a:bodyPr wrap="square">
            <a:spAutoFit/>
          </a:bodyPr>
          <a:lstStyle/>
          <a:p>
            <a:pPr>
              <a:spcAft>
                <a:spcPts val="300"/>
              </a:spcAft>
              <a:defRPr sz="1000" b="1">
                <a:solidFill>
                  <a:srgbClr val="647080"/>
                </a:solidFill>
                <a:latin typeface="Aptos"/>
              </a:defRPr>
            </a:pPr>
            <a:r>
              <a:t>REVENUE</a:t>
            </a:r>
          </a:p>
        </p:txBody>
      </p:sp>
      <p:sp>
        <p:nvSpPr>
          <p:cNvPr id="9" name="TextBox 8"/>
          <p:cNvSpPr txBox="1"/>
          <p:nvPr/>
        </p:nvSpPr>
        <p:spPr>
          <a:xfrm>
            <a:off x="777240" y="2176272"/>
            <a:ext cx="2240280" cy="320040"/>
          </a:xfrm>
          <a:prstGeom prst="rect">
            <a:avLst/>
          </a:prstGeom>
          <a:noFill/>
        </p:spPr>
        <p:txBody>
          <a:bodyPr wrap="square">
            <a:spAutoFit/>
          </a:bodyPr>
          <a:lstStyle/>
          <a:p>
            <a:pPr>
              <a:spcAft>
                <a:spcPts val="300"/>
              </a:spcAft>
              <a:defRPr sz="2200" b="1">
                <a:solidFill>
                  <a:srgbClr val="121F37"/>
                </a:solidFill>
                <a:latin typeface="Aptos"/>
              </a:defRPr>
            </a:pPr>
            <a:r>
              <a:t>$248.6K</a:t>
            </a:r>
          </a:p>
        </p:txBody>
      </p:sp>
      <p:sp>
        <p:nvSpPr>
          <p:cNvPr id="10" name="Rounded Rectangle 9"/>
          <p:cNvSpPr/>
          <p:nvPr/>
        </p:nvSpPr>
        <p:spPr>
          <a:xfrm>
            <a:off x="3474720" y="1783080"/>
            <a:ext cx="2514600" cy="91440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11879" y="1920240"/>
            <a:ext cx="2240280" cy="201168"/>
          </a:xfrm>
          <a:prstGeom prst="rect">
            <a:avLst/>
          </a:prstGeom>
          <a:noFill/>
        </p:spPr>
        <p:txBody>
          <a:bodyPr wrap="square">
            <a:spAutoFit/>
          </a:bodyPr>
          <a:lstStyle/>
          <a:p>
            <a:pPr>
              <a:spcAft>
                <a:spcPts val="300"/>
              </a:spcAft>
              <a:defRPr sz="1000" b="1">
                <a:solidFill>
                  <a:srgbClr val="647080"/>
                </a:solidFill>
                <a:latin typeface="Aptos"/>
              </a:defRPr>
            </a:pPr>
            <a:r>
              <a:t>PROFIT</a:t>
            </a:r>
          </a:p>
        </p:txBody>
      </p:sp>
      <p:sp>
        <p:nvSpPr>
          <p:cNvPr id="12" name="TextBox 11"/>
          <p:cNvSpPr txBox="1"/>
          <p:nvPr/>
        </p:nvSpPr>
        <p:spPr>
          <a:xfrm>
            <a:off x="3611879" y="2176272"/>
            <a:ext cx="2240280" cy="320040"/>
          </a:xfrm>
          <a:prstGeom prst="rect">
            <a:avLst/>
          </a:prstGeom>
          <a:noFill/>
        </p:spPr>
        <p:txBody>
          <a:bodyPr wrap="square">
            <a:spAutoFit/>
          </a:bodyPr>
          <a:lstStyle/>
          <a:p>
            <a:pPr>
              <a:spcAft>
                <a:spcPts val="300"/>
              </a:spcAft>
              <a:defRPr sz="2200" b="1">
                <a:solidFill>
                  <a:srgbClr val="121F37"/>
                </a:solidFill>
                <a:latin typeface="Aptos"/>
              </a:defRPr>
            </a:pPr>
            <a:r>
              <a:t>$41.2K</a:t>
            </a:r>
          </a:p>
        </p:txBody>
      </p:sp>
      <p:sp>
        <p:nvSpPr>
          <p:cNvPr id="13" name="Rounded Rectangle 12"/>
          <p:cNvSpPr/>
          <p:nvPr/>
        </p:nvSpPr>
        <p:spPr>
          <a:xfrm>
            <a:off x="6309360" y="1783080"/>
            <a:ext cx="2514600" cy="91440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1920240"/>
            <a:ext cx="2240280" cy="201168"/>
          </a:xfrm>
          <a:prstGeom prst="rect">
            <a:avLst/>
          </a:prstGeom>
          <a:noFill/>
        </p:spPr>
        <p:txBody>
          <a:bodyPr wrap="square">
            <a:spAutoFit/>
          </a:bodyPr>
          <a:lstStyle/>
          <a:p>
            <a:pPr>
              <a:spcAft>
                <a:spcPts val="300"/>
              </a:spcAft>
              <a:defRPr sz="1000" b="1">
                <a:solidFill>
                  <a:srgbClr val="647080"/>
                </a:solidFill>
                <a:latin typeface="Aptos"/>
              </a:defRPr>
            </a:pPr>
            <a:r>
              <a:t>MARGIN</a:t>
            </a:r>
          </a:p>
        </p:txBody>
      </p:sp>
      <p:sp>
        <p:nvSpPr>
          <p:cNvPr id="15" name="TextBox 14"/>
          <p:cNvSpPr txBox="1"/>
          <p:nvPr/>
        </p:nvSpPr>
        <p:spPr>
          <a:xfrm>
            <a:off x="6446520" y="2176272"/>
            <a:ext cx="2240280" cy="320040"/>
          </a:xfrm>
          <a:prstGeom prst="rect">
            <a:avLst/>
          </a:prstGeom>
          <a:noFill/>
        </p:spPr>
        <p:txBody>
          <a:bodyPr wrap="square">
            <a:spAutoFit/>
          </a:bodyPr>
          <a:lstStyle/>
          <a:p>
            <a:pPr>
              <a:spcAft>
                <a:spcPts val="300"/>
              </a:spcAft>
              <a:defRPr sz="2200" b="1">
                <a:solidFill>
                  <a:srgbClr val="121F37"/>
                </a:solidFill>
                <a:latin typeface="Aptos"/>
              </a:defRPr>
            </a:pPr>
            <a:r>
              <a:t>16.6%</a:t>
            </a:r>
          </a:p>
        </p:txBody>
      </p:sp>
      <p:sp>
        <p:nvSpPr>
          <p:cNvPr id="16" name="Rounded Rectangle 15"/>
          <p:cNvSpPr/>
          <p:nvPr/>
        </p:nvSpPr>
        <p:spPr>
          <a:xfrm>
            <a:off x="9144000" y="1783080"/>
            <a:ext cx="2514600" cy="91440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281160" y="1920240"/>
            <a:ext cx="2240280" cy="201168"/>
          </a:xfrm>
          <a:prstGeom prst="rect">
            <a:avLst/>
          </a:prstGeom>
          <a:noFill/>
        </p:spPr>
        <p:txBody>
          <a:bodyPr wrap="square">
            <a:spAutoFit/>
          </a:bodyPr>
          <a:lstStyle/>
          <a:p>
            <a:pPr>
              <a:spcAft>
                <a:spcPts val="300"/>
              </a:spcAft>
              <a:defRPr sz="1000" b="1">
                <a:solidFill>
                  <a:srgbClr val="647080"/>
                </a:solidFill>
                <a:latin typeface="Aptos"/>
              </a:defRPr>
            </a:pPr>
            <a:r>
              <a:t>ORDERS</a:t>
            </a:r>
          </a:p>
        </p:txBody>
      </p:sp>
      <p:sp>
        <p:nvSpPr>
          <p:cNvPr id="18" name="TextBox 17"/>
          <p:cNvSpPr txBox="1"/>
          <p:nvPr/>
        </p:nvSpPr>
        <p:spPr>
          <a:xfrm>
            <a:off x="9281160" y="2176272"/>
            <a:ext cx="2240280" cy="320040"/>
          </a:xfrm>
          <a:prstGeom prst="rect">
            <a:avLst/>
          </a:prstGeom>
          <a:noFill/>
        </p:spPr>
        <p:txBody>
          <a:bodyPr wrap="square">
            <a:spAutoFit/>
          </a:bodyPr>
          <a:lstStyle/>
          <a:p>
            <a:pPr>
              <a:spcAft>
                <a:spcPts val="300"/>
              </a:spcAft>
              <a:defRPr sz="2200" b="1">
                <a:solidFill>
                  <a:srgbClr val="121F37"/>
                </a:solidFill>
                <a:latin typeface="Aptos"/>
              </a:defRPr>
            </a:pPr>
            <a:r>
              <a:t>3,482</a:t>
            </a:r>
          </a:p>
        </p:txBody>
      </p:sp>
      <p:graphicFrame>
        <p:nvGraphicFramePr>
          <p:cNvPr id="19" name="Chart 18"/>
          <p:cNvGraphicFramePr>
            <a:graphicFrameLocks noGrp="1"/>
          </p:cNvGraphicFramePr>
          <p:nvPr/>
        </p:nvGraphicFramePr>
        <p:xfrm>
          <a:off x="685800" y="2971800"/>
          <a:ext cx="5486400" cy="283464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0" name="Chart 19"/>
          <p:cNvGraphicFramePr>
            <a:graphicFrameLocks noGrp="1"/>
          </p:cNvGraphicFramePr>
          <p:nvPr/>
        </p:nvGraphicFramePr>
        <p:xfrm>
          <a:off x="6355080" y="2971800"/>
          <a:ext cx="512064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21" name="TextBox 20"/>
          <p:cNvSpPr txBox="1"/>
          <p:nvPr/>
        </p:nvSpPr>
        <p:spPr>
          <a:xfrm>
            <a:off x="530352" y="6537960"/>
            <a:ext cx="9144000" cy="164592"/>
          </a:xfrm>
          <a:prstGeom prst="rect">
            <a:avLst/>
          </a:prstGeom>
          <a:noFill/>
        </p:spPr>
        <p:txBody>
          <a:bodyPr wrap="square">
            <a:spAutoFit/>
          </a:bodyPr>
          <a:lstStyle/>
          <a:p>
            <a:endParaRPr/>
          </a:p>
        </p:txBody>
      </p:sp>
      <p:sp>
        <p:nvSpPr>
          <p:cNvPr id="22" name="TextBox 21"/>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a:spAutoFit/>
          </a:bodyPr>
          <a:lstStyle/>
          <a:p>
            <a:pPr>
              <a:spcAft>
                <a:spcPts val="300"/>
              </a:spcAft>
              <a:defRPr sz="1000" b="1">
                <a:solidFill>
                  <a:srgbClr val="149691"/>
                </a:solidFill>
                <a:latin typeface="Aptos"/>
              </a:defRPr>
            </a:pPr>
            <a:r>
              <a:t>28 / PORTFOLIO-READY FINDINGS</a:t>
            </a:r>
          </a:p>
        </p:txBody>
      </p:sp>
      <p:sp>
        <p:nvSpPr>
          <p:cNvPr id="4" name="TextBox 3"/>
          <p:cNvSpPr txBox="1"/>
          <p:nvPr/>
        </p:nvSpPr>
        <p:spPr>
          <a:xfrm>
            <a:off x="502920" y="566928"/>
            <a:ext cx="11155680" cy="502920"/>
          </a:xfrm>
          <a:prstGeom prst="rect">
            <a:avLst/>
          </a:prstGeom>
          <a:noFill/>
        </p:spPr>
        <p:txBody>
          <a:bodyPr wrap="square">
            <a:spAutoFit/>
          </a:bodyPr>
          <a:lstStyle/>
          <a:p>
            <a:pPr>
              <a:spcAft>
                <a:spcPts val="300"/>
              </a:spcAft>
              <a:defRPr sz="2700" b="1">
                <a:solidFill>
                  <a:srgbClr val="121F37"/>
                </a:solidFill>
                <a:latin typeface="Aptos"/>
              </a:defRPr>
            </a:pPr>
            <a:r>
              <a:t>Example insight statements</a:t>
            </a:r>
          </a:p>
        </p:txBody>
      </p:sp>
      <p:sp>
        <p:nvSpPr>
          <p:cNvPr id="5" name="TextBox 4"/>
          <p:cNvSpPr txBox="1"/>
          <p:nvPr/>
        </p:nvSpPr>
        <p:spPr>
          <a:xfrm>
            <a:off x="530352" y="1078992"/>
            <a:ext cx="10972800" cy="384048"/>
          </a:xfrm>
          <a:prstGeom prst="rect">
            <a:avLst/>
          </a:prstGeom>
          <a:noFill/>
        </p:spPr>
        <p:txBody>
          <a:bodyPr wrap="square">
            <a:spAutoFit/>
          </a:bodyPr>
          <a:lstStyle/>
          <a:p>
            <a:pPr>
              <a:spcAft>
                <a:spcPts val="300"/>
              </a:spcAft>
              <a:defRPr sz="1100" b="0">
                <a:solidFill>
                  <a:srgbClr val="647080"/>
                </a:solidFill>
                <a:latin typeface="Aptos"/>
              </a:defRPr>
            </a:pPr>
            <a:r>
              <a:t>Replace these illustrative examples only with approved, verified results from the anonymized version.</a:t>
            </a:r>
          </a:p>
        </p:txBody>
      </p:sp>
      <p:sp>
        <p:nvSpPr>
          <p:cNvPr id="6" name="Rectangle 5"/>
          <p:cNvSpPr/>
          <p:nvPr/>
        </p:nvSpPr>
        <p:spPr>
          <a:xfrm>
            <a:off x="502920" y="1499616"/>
            <a:ext cx="11155680" cy="2286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1828800"/>
            <a:ext cx="3474720" cy="141732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828800"/>
            <a:ext cx="64008" cy="1417320"/>
          </a:xfrm>
          <a:prstGeom prst="rect">
            <a:avLst/>
          </a:prstGeom>
          <a:solidFill>
            <a:srgbClr val="28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59" y="1965960"/>
            <a:ext cx="3154679" cy="274320"/>
          </a:xfrm>
          <a:prstGeom prst="rect">
            <a:avLst/>
          </a:prstGeom>
          <a:noFill/>
        </p:spPr>
        <p:txBody>
          <a:bodyPr wrap="square">
            <a:spAutoFit/>
          </a:bodyPr>
          <a:lstStyle/>
          <a:p>
            <a:pPr>
              <a:spcAft>
                <a:spcPts val="300"/>
              </a:spcAft>
              <a:defRPr sz="1300" b="1">
                <a:solidFill>
                  <a:srgbClr val="121F37"/>
                </a:solidFill>
                <a:latin typeface="Aptos"/>
              </a:defRPr>
            </a:pPr>
            <a:r>
              <a:t>CUSTOMER VALUE</a:t>
            </a:r>
          </a:p>
        </p:txBody>
      </p:sp>
      <p:sp>
        <p:nvSpPr>
          <p:cNvPr id="10" name="TextBox 9"/>
          <p:cNvSpPr txBox="1"/>
          <p:nvPr/>
        </p:nvSpPr>
        <p:spPr>
          <a:xfrm>
            <a:off x="822959" y="2331720"/>
            <a:ext cx="3108960" cy="822960"/>
          </a:xfrm>
          <a:prstGeom prst="rect">
            <a:avLst/>
          </a:prstGeom>
          <a:noFill/>
        </p:spPr>
        <p:txBody>
          <a:bodyPr wrap="square">
            <a:spAutoFit/>
          </a:bodyPr>
          <a:lstStyle/>
          <a:p>
            <a:pPr>
              <a:spcAft>
                <a:spcPts val="300"/>
              </a:spcAft>
              <a:defRPr sz="1300" b="0">
                <a:solidFill>
                  <a:srgbClr val="232D3C"/>
                </a:solidFill>
                <a:latin typeface="Aptos"/>
              </a:defRPr>
            </a:pPr>
            <a:r>
              <a:t>Identify high-value and repeat customers through spend rank and order-frequency analysis.</a:t>
            </a:r>
          </a:p>
        </p:txBody>
      </p:sp>
      <p:sp>
        <p:nvSpPr>
          <p:cNvPr id="11" name="Rounded Rectangle 10"/>
          <p:cNvSpPr/>
          <p:nvPr/>
        </p:nvSpPr>
        <p:spPr>
          <a:xfrm>
            <a:off x="4343400" y="1828800"/>
            <a:ext cx="3474720" cy="141732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43400" y="1828800"/>
            <a:ext cx="64008" cy="1417320"/>
          </a:xfrm>
          <a:prstGeom prst="rect">
            <a:avLst/>
          </a:prstGeom>
          <a:solidFill>
            <a:srgbClr val="14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26280" y="1965960"/>
            <a:ext cx="3154679" cy="274320"/>
          </a:xfrm>
          <a:prstGeom prst="rect">
            <a:avLst/>
          </a:prstGeom>
          <a:noFill/>
        </p:spPr>
        <p:txBody>
          <a:bodyPr wrap="square">
            <a:spAutoFit/>
          </a:bodyPr>
          <a:lstStyle/>
          <a:p>
            <a:pPr>
              <a:spcAft>
                <a:spcPts val="300"/>
              </a:spcAft>
              <a:defRPr sz="1300" b="1">
                <a:solidFill>
                  <a:srgbClr val="121F37"/>
                </a:solidFill>
                <a:latin typeface="Aptos"/>
              </a:defRPr>
            </a:pPr>
            <a:r>
              <a:t>PRODUCT MIX</a:t>
            </a:r>
          </a:p>
        </p:txBody>
      </p:sp>
      <p:sp>
        <p:nvSpPr>
          <p:cNvPr id="14" name="TextBox 13"/>
          <p:cNvSpPr txBox="1"/>
          <p:nvPr/>
        </p:nvSpPr>
        <p:spPr>
          <a:xfrm>
            <a:off x="4526280" y="2331720"/>
            <a:ext cx="3108960" cy="822960"/>
          </a:xfrm>
          <a:prstGeom prst="rect">
            <a:avLst/>
          </a:prstGeom>
          <a:noFill/>
        </p:spPr>
        <p:txBody>
          <a:bodyPr wrap="square">
            <a:spAutoFit/>
          </a:bodyPr>
          <a:lstStyle/>
          <a:p>
            <a:pPr>
              <a:spcAft>
                <a:spcPts val="300"/>
              </a:spcAft>
              <a:defRPr sz="1300" b="0">
                <a:solidFill>
                  <a:srgbClr val="232D3C"/>
                </a:solidFill>
                <a:latin typeface="Aptos"/>
              </a:defRPr>
            </a:pPr>
            <a:r>
              <a:t>Compare profit across gemstone types to inform assortment and merchandising choices.</a:t>
            </a:r>
          </a:p>
        </p:txBody>
      </p:sp>
      <p:sp>
        <p:nvSpPr>
          <p:cNvPr id="15" name="Rounded Rectangle 14"/>
          <p:cNvSpPr/>
          <p:nvPr/>
        </p:nvSpPr>
        <p:spPr>
          <a:xfrm>
            <a:off x="8046720" y="1828800"/>
            <a:ext cx="3474720" cy="141732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1828800"/>
            <a:ext cx="64008" cy="1417320"/>
          </a:xfrm>
          <a:prstGeom prst="rect">
            <a:avLst/>
          </a:prstGeom>
          <a:solidFill>
            <a:srgbClr val="DBA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0" y="1965960"/>
            <a:ext cx="3154679" cy="274320"/>
          </a:xfrm>
          <a:prstGeom prst="rect">
            <a:avLst/>
          </a:prstGeom>
          <a:noFill/>
        </p:spPr>
        <p:txBody>
          <a:bodyPr wrap="square">
            <a:spAutoFit/>
          </a:bodyPr>
          <a:lstStyle/>
          <a:p>
            <a:pPr>
              <a:spcAft>
                <a:spcPts val="300"/>
              </a:spcAft>
              <a:defRPr sz="1300" b="1">
                <a:solidFill>
                  <a:srgbClr val="121F37"/>
                </a:solidFill>
                <a:latin typeface="Aptos"/>
              </a:defRPr>
            </a:pPr>
            <a:r>
              <a:t>PAYMENT BEHAVIOUR</a:t>
            </a:r>
          </a:p>
        </p:txBody>
      </p:sp>
      <p:sp>
        <p:nvSpPr>
          <p:cNvPr id="18" name="TextBox 17"/>
          <p:cNvSpPr txBox="1"/>
          <p:nvPr/>
        </p:nvSpPr>
        <p:spPr>
          <a:xfrm>
            <a:off x="8229600" y="2331720"/>
            <a:ext cx="3108960" cy="822960"/>
          </a:xfrm>
          <a:prstGeom prst="rect">
            <a:avLst/>
          </a:prstGeom>
          <a:noFill/>
        </p:spPr>
        <p:txBody>
          <a:bodyPr wrap="square">
            <a:spAutoFit/>
          </a:bodyPr>
          <a:lstStyle/>
          <a:p>
            <a:pPr>
              <a:spcAft>
                <a:spcPts val="300"/>
              </a:spcAft>
              <a:defRPr sz="1300" b="0">
                <a:solidFill>
                  <a:srgbClr val="232D3C"/>
                </a:solidFill>
                <a:latin typeface="Aptos"/>
              </a:defRPr>
            </a:pPr>
            <a:r>
              <a:t>Review payment-mode distribution and average basket value to guide checkout optimization.</a:t>
            </a:r>
          </a:p>
        </p:txBody>
      </p:sp>
      <p:sp>
        <p:nvSpPr>
          <p:cNvPr id="19" name="TextBox 18"/>
          <p:cNvSpPr txBox="1"/>
          <p:nvPr/>
        </p:nvSpPr>
        <p:spPr>
          <a:xfrm>
            <a:off x="777240" y="3840480"/>
            <a:ext cx="10424160" cy="320040"/>
          </a:xfrm>
          <a:prstGeom prst="rect">
            <a:avLst/>
          </a:prstGeom>
          <a:noFill/>
        </p:spPr>
        <p:txBody>
          <a:bodyPr wrap="square">
            <a:spAutoFit/>
          </a:bodyPr>
          <a:lstStyle/>
          <a:p>
            <a:pPr>
              <a:spcAft>
                <a:spcPts val="300"/>
              </a:spcAft>
              <a:defRPr sz="1600" b="1">
                <a:solidFill>
                  <a:srgbClr val="121F37"/>
                </a:solidFill>
                <a:latin typeface="Aptos"/>
              </a:defRPr>
            </a:pPr>
            <a:r>
              <a:t>Suggested narration for an interview</a:t>
            </a:r>
          </a:p>
        </p:txBody>
      </p:sp>
      <p:sp>
        <p:nvSpPr>
          <p:cNvPr id="20" name="TextBox 19"/>
          <p:cNvSpPr txBox="1"/>
          <p:nvPr/>
        </p:nvSpPr>
        <p:spPr>
          <a:xfrm>
            <a:off x="777240" y="4297680"/>
            <a:ext cx="10515600" cy="1051560"/>
          </a:xfrm>
          <a:prstGeom prst="rect">
            <a:avLst/>
          </a:prstGeom>
          <a:noFill/>
        </p:spPr>
        <p:txBody>
          <a:bodyPr wrap="square">
            <a:spAutoFit/>
          </a:bodyPr>
          <a:lstStyle/>
          <a:p>
            <a:pPr>
              <a:spcAft>
                <a:spcPts val="300"/>
              </a:spcAft>
              <a:defRPr sz="1500" b="0">
                <a:solidFill>
                  <a:srgbClr val="232D3C"/>
                </a:solidFill>
                <a:latin typeface="Aptos"/>
              </a:defRPr>
            </a:pPr>
            <a:r>
              <a:t>“I structured 20 SQL business questions covering customer behaviour, geographic performance, profitability, purchase quantity, customer segmentation and payment mix. I then outlined data-cleaning and privacy steps in Power Query and translated the results into a Power BI report design. For portfolio sharing, I replaced identifiers and use synthetic USD metrics and international city labels.”</a:t>
            </a:r>
          </a:p>
        </p:txBody>
      </p:sp>
      <p:sp>
        <p:nvSpPr>
          <p:cNvPr id="21" name="TextBox 20"/>
          <p:cNvSpPr txBox="1"/>
          <p:nvPr/>
        </p:nvSpPr>
        <p:spPr>
          <a:xfrm>
            <a:off x="530352" y="6537960"/>
            <a:ext cx="9144000" cy="164592"/>
          </a:xfrm>
          <a:prstGeom prst="rect">
            <a:avLst/>
          </a:prstGeom>
          <a:noFill/>
        </p:spPr>
        <p:txBody>
          <a:bodyPr wrap="square">
            <a:spAutoFit/>
          </a:bodyPr>
          <a:lstStyle/>
          <a:p>
            <a:endParaRPr/>
          </a:p>
        </p:txBody>
      </p:sp>
      <p:sp>
        <p:nvSpPr>
          <p:cNvPr id="22" name="TextBox 21"/>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731520"/>
            <a:ext cx="10515600" cy="365760"/>
          </a:xfrm>
          <a:prstGeom prst="rect">
            <a:avLst/>
          </a:prstGeom>
          <a:noFill/>
        </p:spPr>
        <p:txBody>
          <a:bodyPr wrap="square">
            <a:spAutoFit/>
          </a:bodyPr>
          <a:lstStyle/>
          <a:p>
            <a:pPr>
              <a:spcAft>
                <a:spcPts val="300"/>
              </a:spcAft>
              <a:defRPr sz="1200" b="1">
                <a:solidFill>
                  <a:srgbClr val="68DACE"/>
                </a:solidFill>
                <a:latin typeface="Aptos"/>
              </a:defRPr>
            </a:pPr>
            <a:r>
              <a:t>PROJECT SUMMARY</a:t>
            </a:r>
          </a:p>
        </p:txBody>
      </p:sp>
      <p:sp>
        <p:nvSpPr>
          <p:cNvPr id="4" name="TextBox 3"/>
          <p:cNvSpPr txBox="1"/>
          <p:nvPr/>
        </p:nvSpPr>
        <p:spPr>
          <a:xfrm>
            <a:off x="731520" y="1325880"/>
            <a:ext cx="10424160" cy="1005840"/>
          </a:xfrm>
          <a:prstGeom prst="rect">
            <a:avLst/>
          </a:prstGeom>
          <a:noFill/>
        </p:spPr>
        <p:txBody>
          <a:bodyPr wrap="square">
            <a:spAutoFit/>
          </a:bodyPr>
          <a:lstStyle/>
          <a:p>
            <a:pPr>
              <a:spcAft>
                <a:spcPts val="300"/>
              </a:spcAft>
              <a:defRPr sz="3000" b="1">
                <a:solidFill>
                  <a:srgbClr val="FFFFFF"/>
                </a:solidFill>
                <a:latin typeface="Aptos"/>
              </a:defRPr>
            </a:pPr>
            <a:r>
              <a:t>From SQL logic to business storytelling</a:t>
            </a:r>
          </a:p>
        </p:txBody>
      </p:sp>
      <p:sp>
        <p:nvSpPr>
          <p:cNvPr id="5" name="TextBox 4"/>
          <p:cNvSpPr txBox="1"/>
          <p:nvPr/>
        </p:nvSpPr>
        <p:spPr>
          <a:xfrm>
            <a:off x="777240" y="2743200"/>
            <a:ext cx="9875520" cy="1280160"/>
          </a:xfrm>
          <a:prstGeom prst="rect">
            <a:avLst/>
          </a:prstGeom>
          <a:noFill/>
        </p:spPr>
        <p:txBody>
          <a:bodyPr wrap="square">
            <a:spAutoFit/>
          </a:bodyPr>
          <a:lstStyle/>
          <a:p>
            <a:pPr>
              <a:spcAft>
                <a:spcPts val="300"/>
              </a:spcAft>
              <a:defRPr sz="1800" b="0">
                <a:solidFill>
                  <a:srgbClr val="DEE7F2"/>
                </a:solidFill>
                <a:latin typeface="Aptos"/>
              </a:defRPr>
            </a:pPr>
            <a:r>
              <a:t>20 SQL questions • PostgreSQL patterns • Power Query data preparation • Power BI reporting design • USD presentation • International city labels • Gemstone product family • Confidentiality-first portfolio</a:t>
            </a:r>
          </a:p>
        </p:txBody>
      </p:sp>
      <p:sp>
        <p:nvSpPr>
          <p:cNvPr id="8" name="TextBox 7"/>
          <p:cNvSpPr txBox="1"/>
          <p:nvPr/>
        </p:nvSpPr>
        <p:spPr>
          <a:xfrm>
            <a:off x="11109960" y="6510528"/>
            <a:ext cx="502920" cy="201168"/>
          </a:xfrm>
          <a:prstGeom prst="rect">
            <a:avLst/>
          </a:prstGeom>
          <a:noFill/>
        </p:spPr>
        <p:txBody>
          <a:bodyPr wrap="square">
            <a:spAutoFit/>
          </a:bodyPr>
          <a:lstStyle/>
          <a:p>
            <a:pPr algn="r">
              <a:spcAft>
                <a:spcPts val="300"/>
              </a:spcAft>
              <a:defRPr sz="900" b="1">
                <a:solidFill>
                  <a:srgbClr val="647080"/>
                </a:solidFill>
                <a:latin typeface="Aptos"/>
              </a:defRPr>
            </a:pPr>
            <a:r>
              <a:t>32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90</TotalTime>
  <Words>3444</Words>
  <Application>Microsoft Office PowerPoint</Application>
  <PresentationFormat>Widescreen</PresentationFormat>
  <Paragraphs>551</Paragraphs>
  <Slides>30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Sourabh kumar goyal</dc:creator>
  <cp:keywords/>
  <dc:description>generated using python-pptx</dc:description>
  <cp:lastModifiedBy>Sourabh kumar goyal</cp:lastModifiedBy>
  <cp:revision>97</cp:revision>
  <dcterms:created xsi:type="dcterms:W3CDTF">2013-01-27T09:14:16Z</dcterms:created>
  <dcterms:modified xsi:type="dcterms:W3CDTF">2026-10-13T03:55:01Z</dcterms:modified>
  <cp:category/>
</cp:coreProperties>
</file>